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nton" charset="1" panose="00000500000000000000"/>
      <p:regular r:id="rId27"/>
    </p:embeddedFont>
    <p:embeddedFont>
      <p:font typeface="Prompt" charset="1" panose="00000500000000000000"/>
      <p:regular r:id="rId28"/>
    </p:embeddedFont>
    <p:embeddedFont>
      <p:font typeface="TC October" charset="1" panose="00000000000000000000"/>
      <p:regular r:id="rId29"/>
    </p:embeddedFont>
    <p:embeddedFont>
      <p:font typeface="Prompt Bold" charset="1" panose="00000800000000000000"/>
      <p:regular r:id="rId30"/>
    </p:embeddedFont>
    <p:embeddedFont>
      <p:font typeface="Prompt Light" charset="1" panose="00000400000000000000"/>
      <p:regular r:id="rId31"/>
    </p:embeddedFon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68987">
            <a:off x="-3835406" y="-144194"/>
            <a:ext cx="12955189" cy="6380431"/>
          </a:xfrm>
          <a:custGeom>
            <a:avLst/>
            <a:gdLst/>
            <a:ahLst/>
            <a:cxnLst/>
            <a:rect r="r" b="b" t="t" l="l"/>
            <a:pathLst>
              <a:path h="6380431" w="12955189">
                <a:moveTo>
                  <a:pt x="0" y="0"/>
                </a:moveTo>
                <a:lnTo>
                  <a:pt x="12955189" y="0"/>
                </a:lnTo>
                <a:lnTo>
                  <a:pt x="12955189" y="6380430"/>
                </a:lnTo>
                <a:lnTo>
                  <a:pt x="0" y="638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68987">
            <a:off x="9059899" y="5059030"/>
            <a:ext cx="12955189" cy="6380431"/>
          </a:xfrm>
          <a:custGeom>
            <a:avLst/>
            <a:gdLst/>
            <a:ahLst/>
            <a:cxnLst/>
            <a:rect r="r" b="b" t="t" l="l"/>
            <a:pathLst>
              <a:path h="6380431" w="12955189">
                <a:moveTo>
                  <a:pt x="0" y="0"/>
                </a:moveTo>
                <a:lnTo>
                  <a:pt x="12955189" y="0"/>
                </a:lnTo>
                <a:lnTo>
                  <a:pt x="12955189" y="6380431"/>
                </a:lnTo>
                <a:lnTo>
                  <a:pt x="0" y="63804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9014" y="6315413"/>
            <a:ext cx="3461576" cy="4114800"/>
          </a:xfrm>
          <a:custGeom>
            <a:avLst/>
            <a:gdLst/>
            <a:ahLst/>
            <a:cxnLst/>
            <a:rect r="r" b="b" t="t" l="l"/>
            <a:pathLst>
              <a:path h="4114800" w="3461576">
                <a:moveTo>
                  <a:pt x="3461576" y="0"/>
                </a:moveTo>
                <a:lnTo>
                  <a:pt x="0" y="0"/>
                </a:lnTo>
                <a:lnTo>
                  <a:pt x="0" y="4114800"/>
                </a:lnTo>
                <a:lnTo>
                  <a:pt x="3461576" y="4114800"/>
                </a:lnTo>
                <a:lnTo>
                  <a:pt x="34615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27643" y="3061743"/>
            <a:ext cx="9004314" cy="206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BROMATOLOGIA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28319" y="5563213"/>
            <a:ext cx="9031362" cy="67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8"/>
              </a:lnSpc>
            </a:pPr>
            <a:r>
              <a:rPr lang="en-US" sz="3991" spc="-5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LECCIONES: 1 - 12 (RESUMEN)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14826424" y="-189390"/>
            <a:ext cx="3461576" cy="4114800"/>
          </a:xfrm>
          <a:custGeom>
            <a:avLst/>
            <a:gdLst/>
            <a:ahLst/>
            <a:cxnLst/>
            <a:rect r="r" b="b" t="t" l="l"/>
            <a:pathLst>
              <a:path h="4114800" w="3461576">
                <a:moveTo>
                  <a:pt x="0" y="4114800"/>
                </a:moveTo>
                <a:lnTo>
                  <a:pt x="3461576" y="4114800"/>
                </a:lnTo>
                <a:lnTo>
                  <a:pt x="34615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2952" y="425618"/>
            <a:ext cx="12011242" cy="1571612"/>
            <a:chOff x="0" y="0"/>
            <a:chExt cx="3401302" cy="445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1302" cy="445044"/>
            </a:xfrm>
            <a:custGeom>
              <a:avLst/>
              <a:gdLst/>
              <a:ahLst/>
              <a:cxnLst/>
              <a:rect r="r" b="b" t="t" l="l"/>
              <a:pathLst>
                <a:path h="445044" w="3401302">
                  <a:moveTo>
                    <a:pt x="32872" y="0"/>
                  </a:moveTo>
                  <a:lnTo>
                    <a:pt x="3368429" y="0"/>
                  </a:lnTo>
                  <a:cubicBezTo>
                    <a:pt x="3386584" y="0"/>
                    <a:pt x="3401302" y="14717"/>
                    <a:pt x="3401302" y="32872"/>
                  </a:cubicBezTo>
                  <a:lnTo>
                    <a:pt x="3401302" y="412171"/>
                  </a:lnTo>
                  <a:cubicBezTo>
                    <a:pt x="3401302" y="420890"/>
                    <a:pt x="3397838" y="429251"/>
                    <a:pt x="3391674" y="435416"/>
                  </a:cubicBezTo>
                  <a:cubicBezTo>
                    <a:pt x="3385509" y="441580"/>
                    <a:pt x="3377148" y="445044"/>
                    <a:pt x="3368429" y="445044"/>
                  </a:cubicBezTo>
                  <a:lnTo>
                    <a:pt x="32872" y="445044"/>
                  </a:lnTo>
                  <a:cubicBezTo>
                    <a:pt x="14717" y="445044"/>
                    <a:pt x="0" y="430326"/>
                    <a:pt x="0" y="412171"/>
                  </a:cubicBezTo>
                  <a:lnTo>
                    <a:pt x="0" y="32872"/>
                  </a:lnTo>
                  <a:cubicBezTo>
                    <a:pt x="0" y="24154"/>
                    <a:pt x="3463" y="15793"/>
                    <a:pt x="9628" y="9628"/>
                  </a:cubicBezTo>
                  <a:cubicBezTo>
                    <a:pt x="15793" y="3463"/>
                    <a:pt x="24154" y="0"/>
                    <a:pt x="32872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01302" cy="483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45469" y="208719"/>
            <a:ext cx="12011242" cy="1641866"/>
            <a:chOff x="0" y="0"/>
            <a:chExt cx="3401302" cy="464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01302" cy="464938"/>
            </a:xfrm>
            <a:custGeom>
              <a:avLst/>
              <a:gdLst/>
              <a:ahLst/>
              <a:cxnLst/>
              <a:rect r="r" b="b" t="t" l="l"/>
              <a:pathLst>
                <a:path h="464938" w="3401302">
                  <a:moveTo>
                    <a:pt x="32872" y="0"/>
                  </a:moveTo>
                  <a:lnTo>
                    <a:pt x="3368429" y="0"/>
                  </a:lnTo>
                  <a:cubicBezTo>
                    <a:pt x="3386584" y="0"/>
                    <a:pt x="3401302" y="14717"/>
                    <a:pt x="3401302" y="32872"/>
                  </a:cubicBezTo>
                  <a:lnTo>
                    <a:pt x="3401302" y="432066"/>
                  </a:lnTo>
                  <a:cubicBezTo>
                    <a:pt x="3401302" y="440784"/>
                    <a:pt x="3397838" y="449145"/>
                    <a:pt x="3391674" y="455310"/>
                  </a:cubicBezTo>
                  <a:cubicBezTo>
                    <a:pt x="3385509" y="461475"/>
                    <a:pt x="3377148" y="464938"/>
                    <a:pt x="3368429" y="464938"/>
                  </a:cubicBezTo>
                  <a:lnTo>
                    <a:pt x="32872" y="464938"/>
                  </a:lnTo>
                  <a:cubicBezTo>
                    <a:pt x="14717" y="464938"/>
                    <a:pt x="0" y="450221"/>
                    <a:pt x="0" y="432066"/>
                  </a:cubicBezTo>
                  <a:lnTo>
                    <a:pt x="0" y="32872"/>
                  </a:lnTo>
                  <a:cubicBezTo>
                    <a:pt x="0" y="24154"/>
                    <a:pt x="3463" y="15793"/>
                    <a:pt x="9628" y="9628"/>
                  </a:cubicBezTo>
                  <a:cubicBezTo>
                    <a:pt x="15793" y="3463"/>
                    <a:pt x="24154" y="0"/>
                    <a:pt x="32872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401302" cy="503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59289" y="2365767"/>
            <a:ext cx="4769422" cy="750373"/>
            <a:chOff x="0" y="0"/>
            <a:chExt cx="2145594" cy="3375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594" cy="337566"/>
            </a:xfrm>
            <a:custGeom>
              <a:avLst/>
              <a:gdLst/>
              <a:ahLst/>
              <a:cxnLst/>
              <a:rect r="r" b="b" t="t" l="l"/>
              <a:pathLst>
                <a:path h="337566" w="2145594">
                  <a:moveTo>
                    <a:pt x="48697" y="0"/>
                  </a:moveTo>
                  <a:lnTo>
                    <a:pt x="2096896" y="0"/>
                  </a:lnTo>
                  <a:cubicBezTo>
                    <a:pt x="2123791" y="0"/>
                    <a:pt x="2145594" y="21802"/>
                    <a:pt x="2145594" y="48697"/>
                  </a:cubicBezTo>
                  <a:lnTo>
                    <a:pt x="2145594" y="288869"/>
                  </a:lnTo>
                  <a:cubicBezTo>
                    <a:pt x="2145594" y="301784"/>
                    <a:pt x="2140463" y="314171"/>
                    <a:pt x="2131331" y="323303"/>
                  </a:cubicBezTo>
                  <a:cubicBezTo>
                    <a:pt x="2122198" y="332436"/>
                    <a:pt x="2109812" y="337566"/>
                    <a:pt x="2096896" y="337566"/>
                  </a:cubicBezTo>
                  <a:lnTo>
                    <a:pt x="48697" y="337566"/>
                  </a:lnTo>
                  <a:cubicBezTo>
                    <a:pt x="35782" y="337566"/>
                    <a:pt x="23396" y="332436"/>
                    <a:pt x="14263" y="323303"/>
                  </a:cubicBezTo>
                  <a:cubicBezTo>
                    <a:pt x="5131" y="314171"/>
                    <a:pt x="0" y="301784"/>
                    <a:pt x="0" y="288869"/>
                  </a:cubicBezTo>
                  <a:lnTo>
                    <a:pt x="0" y="48697"/>
                  </a:lnTo>
                  <a:cubicBezTo>
                    <a:pt x="0" y="35782"/>
                    <a:pt x="5131" y="23396"/>
                    <a:pt x="14263" y="14263"/>
                  </a:cubicBezTo>
                  <a:cubicBezTo>
                    <a:pt x="23396" y="5131"/>
                    <a:pt x="35782" y="0"/>
                    <a:pt x="4869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45594" cy="375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12653" y="188913"/>
            <a:ext cx="4721015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sz="8800">
                <a:solidFill>
                  <a:srgbClr val="F6F6E9"/>
                </a:solidFill>
                <a:latin typeface="Anton"/>
                <a:ea typeface="Anton"/>
                <a:cs typeface="Anton"/>
                <a:sym typeface="Anton"/>
              </a:rPr>
              <a:t>Definición: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6287" y="518477"/>
            <a:ext cx="6616076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bromatologia/alimento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86453" y="2363128"/>
            <a:ext cx="451509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59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BROMATOLOGIA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427526"/>
            <a:ext cx="16230600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5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Ciencia que estudia el alimento en todos sus aspectos: Abarca el análisis de su composición química, propiedades físicas, valor nutricional, características organolépticas (sabor, olor, textura, color) y comportamiento durante los procesos de producción, manipulación, conservación y consumo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277275"/>
            <a:ext cx="16230600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5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Todo producto natural, semielaborado o elaborado que aporte o no sustancias nutritivas (ej. agua, sal, aditivos, especias).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86453" y="7027878"/>
            <a:ext cx="4769422" cy="750373"/>
            <a:chOff x="0" y="0"/>
            <a:chExt cx="2145594" cy="3375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45594" cy="337566"/>
            </a:xfrm>
            <a:custGeom>
              <a:avLst/>
              <a:gdLst/>
              <a:ahLst/>
              <a:cxnLst/>
              <a:rect r="r" b="b" t="t" l="l"/>
              <a:pathLst>
                <a:path h="337566" w="2145594">
                  <a:moveTo>
                    <a:pt x="48697" y="0"/>
                  </a:moveTo>
                  <a:lnTo>
                    <a:pt x="2096896" y="0"/>
                  </a:lnTo>
                  <a:cubicBezTo>
                    <a:pt x="2123791" y="0"/>
                    <a:pt x="2145594" y="21802"/>
                    <a:pt x="2145594" y="48697"/>
                  </a:cubicBezTo>
                  <a:lnTo>
                    <a:pt x="2145594" y="288869"/>
                  </a:lnTo>
                  <a:cubicBezTo>
                    <a:pt x="2145594" y="301784"/>
                    <a:pt x="2140463" y="314171"/>
                    <a:pt x="2131331" y="323303"/>
                  </a:cubicBezTo>
                  <a:cubicBezTo>
                    <a:pt x="2122198" y="332436"/>
                    <a:pt x="2109812" y="337566"/>
                    <a:pt x="2096896" y="337566"/>
                  </a:cubicBezTo>
                  <a:lnTo>
                    <a:pt x="48697" y="337566"/>
                  </a:lnTo>
                  <a:cubicBezTo>
                    <a:pt x="35782" y="337566"/>
                    <a:pt x="23396" y="332436"/>
                    <a:pt x="14263" y="323303"/>
                  </a:cubicBezTo>
                  <a:cubicBezTo>
                    <a:pt x="5131" y="314171"/>
                    <a:pt x="0" y="301784"/>
                    <a:pt x="0" y="288869"/>
                  </a:cubicBezTo>
                  <a:lnTo>
                    <a:pt x="0" y="48697"/>
                  </a:lnTo>
                  <a:cubicBezTo>
                    <a:pt x="0" y="35782"/>
                    <a:pt x="5131" y="23396"/>
                    <a:pt x="14263" y="14263"/>
                  </a:cubicBezTo>
                  <a:cubicBezTo>
                    <a:pt x="23396" y="5131"/>
                    <a:pt x="35782" y="0"/>
                    <a:pt x="4869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45594" cy="375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13616" y="7025240"/>
            <a:ext cx="451509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59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ALIMENTO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972502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6373"/>
            <a:ext cx="8320830" cy="808981"/>
            <a:chOff x="0" y="0"/>
            <a:chExt cx="2008647" cy="195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8647" cy="195288"/>
            </a:xfrm>
            <a:custGeom>
              <a:avLst/>
              <a:gdLst/>
              <a:ahLst/>
              <a:cxnLst/>
              <a:rect r="r" b="b" t="t" l="l"/>
              <a:pathLst>
                <a:path h="195288" w="2008647">
                  <a:moveTo>
                    <a:pt x="47452" y="0"/>
                  </a:moveTo>
                  <a:lnTo>
                    <a:pt x="1961195" y="0"/>
                  </a:lnTo>
                  <a:cubicBezTo>
                    <a:pt x="1973780" y="0"/>
                    <a:pt x="1985850" y="4999"/>
                    <a:pt x="1994749" y="13898"/>
                  </a:cubicBezTo>
                  <a:cubicBezTo>
                    <a:pt x="2003648" y="22797"/>
                    <a:pt x="2008647" y="34867"/>
                    <a:pt x="2008647" y="47452"/>
                  </a:cubicBezTo>
                  <a:lnTo>
                    <a:pt x="2008647" y="147836"/>
                  </a:lnTo>
                  <a:cubicBezTo>
                    <a:pt x="2008647" y="160421"/>
                    <a:pt x="2003648" y="172491"/>
                    <a:pt x="1994749" y="181390"/>
                  </a:cubicBezTo>
                  <a:cubicBezTo>
                    <a:pt x="1985850" y="190289"/>
                    <a:pt x="1973780" y="195288"/>
                    <a:pt x="1961195" y="195288"/>
                  </a:cubicBezTo>
                  <a:lnTo>
                    <a:pt x="47452" y="195288"/>
                  </a:lnTo>
                  <a:cubicBezTo>
                    <a:pt x="34867" y="195288"/>
                    <a:pt x="22797" y="190289"/>
                    <a:pt x="13898" y="181390"/>
                  </a:cubicBezTo>
                  <a:cubicBezTo>
                    <a:pt x="4999" y="172491"/>
                    <a:pt x="0" y="160421"/>
                    <a:pt x="0" y="147836"/>
                  </a:cubicBezTo>
                  <a:lnTo>
                    <a:pt x="0" y="47452"/>
                  </a:lnTo>
                  <a:cubicBezTo>
                    <a:pt x="0" y="34867"/>
                    <a:pt x="4999" y="22797"/>
                    <a:pt x="13898" y="13898"/>
                  </a:cubicBezTo>
                  <a:cubicBezTo>
                    <a:pt x="22797" y="4999"/>
                    <a:pt x="34867" y="0"/>
                    <a:pt x="47452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08647" cy="233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61937"/>
            <a:ext cx="8320830" cy="886051"/>
            <a:chOff x="0" y="0"/>
            <a:chExt cx="2008647" cy="2138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8647" cy="213893"/>
            </a:xfrm>
            <a:custGeom>
              <a:avLst/>
              <a:gdLst/>
              <a:ahLst/>
              <a:cxnLst/>
              <a:rect r="r" b="b" t="t" l="l"/>
              <a:pathLst>
                <a:path h="213893" w="2008647">
                  <a:moveTo>
                    <a:pt x="47452" y="0"/>
                  </a:moveTo>
                  <a:lnTo>
                    <a:pt x="1961195" y="0"/>
                  </a:lnTo>
                  <a:cubicBezTo>
                    <a:pt x="1973780" y="0"/>
                    <a:pt x="1985850" y="4999"/>
                    <a:pt x="1994749" y="13898"/>
                  </a:cubicBezTo>
                  <a:cubicBezTo>
                    <a:pt x="2003648" y="22797"/>
                    <a:pt x="2008647" y="34867"/>
                    <a:pt x="2008647" y="47452"/>
                  </a:cubicBezTo>
                  <a:lnTo>
                    <a:pt x="2008647" y="166441"/>
                  </a:lnTo>
                  <a:cubicBezTo>
                    <a:pt x="2008647" y="179026"/>
                    <a:pt x="2003648" y="191095"/>
                    <a:pt x="1994749" y="199994"/>
                  </a:cubicBezTo>
                  <a:cubicBezTo>
                    <a:pt x="1985850" y="208893"/>
                    <a:pt x="1973780" y="213893"/>
                    <a:pt x="1961195" y="213893"/>
                  </a:cubicBezTo>
                  <a:lnTo>
                    <a:pt x="47452" y="213893"/>
                  </a:lnTo>
                  <a:cubicBezTo>
                    <a:pt x="34867" y="213893"/>
                    <a:pt x="22797" y="208893"/>
                    <a:pt x="13898" y="199994"/>
                  </a:cubicBezTo>
                  <a:cubicBezTo>
                    <a:pt x="4999" y="191095"/>
                    <a:pt x="0" y="179026"/>
                    <a:pt x="0" y="166441"/>
                  </a:cubicBezTo>
                  <a:lnTo>
                    <a:pt x="0" y="47452"/>
                  </a:lnTo>
                  <a:cubicBezTo>
                    <a:pt x="0" y="34867"/>
                    <a:pt x="4999" y="22797"/>
                    <a:pt x="13898" y="13898"/>
                  </a:cubicBezTo>
                  <a:cubicBezTo>
                    <a:pt x="22797" y="4999"/>
                    <a:pt x="34867" y="0"/>
                    <a:pt x="47452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08647" cy="251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4903" y="2396903"/>
            <a:ext cx="16704397" cy="1456552"/>
            <a:chOff x="0" y="0"/>
            <a:chExt cx="4399512" cy="3836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99512" cy="383619"/>
            </a:xfrm>
            <a:custGeom>
              <a:avLst/>
              <a:gdLst/>
              <a:ahLst/>
              <a:cxnLst/>
              <a:rect r="r" b="b" t="t" l="l"/>
              <a:pathLst>
                <a:path h="383619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359982"/>
                  </a:lnTo>
                  <a:cubicBezTo>
                    <a:pt x="4399512" y="373036"/>
                    <a:pt x="4388929" y="383619"/>
                    <a:pt x="4375875" y="383619"/>
                  </a:cubicBezTo>
                  <a:lnTo>
                    <a:pt x="23637" y="383619"/>
                  </a:lnTo>
                  <a:cubicBezTo>
                    <a:pt x="17368" y="383619"/>
                    <a:pt x="11356" y="381128"/>
                    <a:pt x="6923" y="376696"/>
                  </a:cubicBezTo>
                  <a:cubicBezTo>
                    <a:pt x="2490" y="372263"/>
                    <a:pt x="0" y="366251"/>
                    <a:pt x="0" y="359982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99512" cy="421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3170" y="2759852"/>
            <a:ext cx="730654" cy="7306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18707" y="337750"/>
            <a:ext cx="7540816" cy="83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5"/>
              </a:lnSpc>
            </a:pPr>
            <a:r>
              <a:rPr lang="en-US" sz="4932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Clasificación segun su estado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9028" y="2801647"/>
            <a:ext cx="372121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Origen animal: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65487" y="2572730"/>
            <a:ext cx="11561123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Provienen de animales, siendo fuentes importantes de proteínas, grasas, hierro y calcio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74520" y="45276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1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54903" y="4825006"/>
            <a:ext cx="16704397" cy="1456552"/>
            <a:chOff x="0" y="0"/>
            <a:chExt cx="4399512" cy="3836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99512" cy="383619"/>
            </a:xfrm>
            <a:custGeom>
              <a:avLst/>
              <a:gdLst/>
              <a:ahLst/>
              <a:cxnLst/>
              <a:rect r="r" b="b" t="t" l="l"/>
              <a:pathLst>
                <a:path h="383619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359982"/>
                  </a:lnTo>
                  <a:cubicBezTo>
                    <a:pt x="4399512" y="373036"/>
                    <a:pt x="4388929" y="383619"/>
                    <a:pt x="4375875" y="383619"/>
                  </a:cubicBezTo>
                  <a:lnTo>
                    <a:pt x="23637" y="383619"/>
                  </a:lnTo>
                  <a:cubicBezTo>
                    <a:pt x="17368" y="383619"/>
                    <a:pt x="11356" y="381128"/>
                    <a:pt x="6923" y="376696"/>
                  </a:cubicBezTo>
                  <a:cubicBezTo>
                    <a:pt x="2490" y="372263"/>
                    <a:pt x="0" y="366251"/>
                    <a:pt x="0" y="359982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99512" cy="421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3170" y="5187954"/>
            <a:ext cx="730654" cy="73065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49028" y="5229749"/>
            <a:ext cx="372121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Origen vegetal: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65487" y="5000832"/>
            <a:ext cx="11561123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Provienen de plantas, árboles y arbustos. Son fuentes clave de fibra, vitaminas, minerales y carbohidratos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54903" y="7253108"/>
            <a:ext cx="16704397" cy="2005192"/>
            <a:chOff x="0" y="0"/>
            <a:chExt cx="4399512" cy="5281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99512" cy="528116"/>
            </a:xfrm>
            <a:custGeom>
              <a:avLst/>
              <a:gdLst/>
              <a:ahLst/>
              <a:cxnLst/>
              <a:rect r="r" b="b" t="t" l="l"/>
              <a:pathLst>
                <a:path h="528116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504480"/>
                  </a:lnTo>
                  <a:cubicBezTo>
                    <a:pt x="4399512" y="517534"/>
                    <a:pt x="4388929" y="528116"/>
                    <a:pt x="4375875" y="528116"/>
                  </a:cubicBezTo>
                  <a:lnTo>
                    <a:pt x="23637" y="528116"/>
                  </a:lnTo>
                  <a:cubicBezTo>
                    <a:pt x="17368" y="528116"/>
                    <a:pt x="11356" y="525626"/>
                    <a:pt x="6923" y="521193"/>
                  </a:cubicBezTo>
                  <a:cubicBezTo>
                    <a:pt x="2490" y="516761"/>
                    <a:pt x="0" y="510749"/>
                    <a:pt x="0" y="504480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399512" cy="566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3170" y="7890377"/>
            <a:ext cx="730654" cy="73065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44278" y="7903914"/>
            <a:ext cx="372121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Origen mineral: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65487" y="7428934"/>
            <a:ext cx="11561123" cy="160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Son sustancias inorgánicas necesarias para el buen funcionamiento del cuerpo. Ejemplos: agua y sales minerales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170" y="422259"/>
            <a:ext cx="5590333" cy="656003"/>
            <a:chOff x="0" y="0"/>
            <a:chExt cx="1664206" cy="195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206" cy="195288"/>
            </a:xfrm>
            <a:custGeom>
              <a:avLst/>
              <a:gdLst/>
              <a:ahLst/>
              <a:cxnLst/>
              <a:rect r="r" b="b" t="t" l="l"/>
              <a:pathLst>
                <a:path h="195288" w="1664206">
                  <a:moveTo>
                    <a:pt x="70629" y="0"/>
                  </a:moveTo>
                  <a:lnTo>
                    <a:pt x="1593577" y="0"/>
                  </a:lnTo>
                  <a:cubicBezTo>
                    <a:pt x="1612309" y="0"/>
                    <a:pt x="1630274" y="7441"/>
                    <a:pt x="1643519" y="20687"/>
                  </a:cubicBezTo>
                  <a:cubicBezTo>
                    <a:pt x="1656765" y="33932"/>
                    <a:pt x="1664206" y="51897"/>
                    <a:pt x="1664206" y="70629"/>
                  </a:cubicBezTo>
                  <a:lnTo>
                    <a:pt x="1664206" y="124659"/>
                  </a:lnTo>
                  <a:cubicBezTo>
                    <a:pt x="1664206" y="143391"/>
                    <a:pt x="1656765" y="161356"/>
                    <a:pt x="1643519" y="174601"/>
                  </a:cubicBezTo>
                  <a:cubicBezTo>
                    <a:pt x="1630274" y="187847"/>
                    <a:pt x="1612309" y="195288"/>
                    <a:pt x="1593577" y="195288"/>
                  </a:cubicBezTo>
                  <a:lnTo>
                    <a:pt x="70629" y="195288"/>
                  </a:lnTo>
                  <a:cubicBezTo>
                    <a:pt x="51897" y="195288"/>
                    <a:pt x="33932" y="187847"/>
                    <a:pt x="20687" y="174601"/>
                  </a:cubicBezTo>
                  <a:cubicBezTo>
                    <a:pt x="7441" y="161356"/>
                    <a:pt x="0" y="143391"/>
                    <a:pt x="0" y="124659"/>
                  </a:cubicBezTo>
                  <a:lnTo>
                    <a:pt x="0" y="70629"/>
                  </a:lnTo>
                  <a:cubicBezTo>
                    <a:pt x="0" y="51897"/>
                    <a:pt x="7441" y="33932"/>
                    <a:pt x="20687" y="20687"/>
                  </a:cubicBezTo>
                  <a:cubicBezTo>
                    <a:pt x="33932" y="7441"/>
                    <a:pt x="51897" y="0"/>
                    <a:pt x="70629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64206" cy="233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3170" y="215937"/>
            <a:ext cx="5403197" cy="718499"/>
            <a:chOff x="0" y="0"/>
            <a:chExt cx="1608497" cy="2138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8497" cy="213893"/>
            </a:xfrm>
            <a:custGeom>
              <a:avLst/>
              <a:gdLst/>
              <a:ahLst/>
              <a:cxnLst/>
              <a:rect r="r" b="b" t="t" l="l"/>
              <a:pathLst>
                <a:path h="213893" w="1608497">
                  <a:moveTo>
                    <a:pt x="73075" y="0"/>
                  </a:moveTo>
                  <a:lnTo>
                    <a:pt x="1535422" y="0"/>
                  </a:lnTo>
                  <a:cubicBezTo>
                    <a:pt x="1575780" y="0"/>
                    <a:pt x="1608497" y="32717"/>
                    <a:pt x="1608497" y="73075"/>
                  </a:cubicBezTo>
                  <a:lnTo>
                    <a:pt x="1608497" y="140818"/>
                  </a:lnTo>
                  <a:cubicBezTo>
                    <a:pt x="1608497" y="160198"/>
                    <a:pt x="1600798" y="178785"/>
                    <a:pt x="1587094" y="192489"/>
                  </a:cubicBezTo>
                  <a:cubicBezTo>
                    <a:pt x="1573390" y="206194"/>
                    <a:pt x="1554803" y="213893"/>
                    <a:pt x="1535422" y="213893"/>
                  </a:cubicBezTo>
                  <a:lnTo>
                    <a:pt x="73075" y="213893"/>
                  </a:lnTo>
                  <a:cubicBezTo>
                    <a:pt x="53694" y="213893"/>
                    <a:pt x="35107" y="206194"/>
                    <a:pt x="21403" y="192489"/>
                  </a:cubicBezTo>
                  <a:cubicBezTo>
                    <a:pt x="7699" y="178785"/>
                    <a:pt x="0" y="160198"/>
                    <a:pt x="0" y="140818"/>
                  </a:cubicBezTo>
                  <a:lnTo>
                    <a:pt x="0" y="73075"/>
                  </a:lnTo>
                  <a:cubicBezTo>
                    <a:pt x="0" y="53694"/>
                    <a:pt x="7699" y="35107"/>
                    <a:pt x="21403" y="21403"/>
                  </a:cubicBezTo>
                  <a:cubicBezTo>
                    <a:pt x="35107" y="7699"/>
                    <a:pt x="53694" y="0"/>
                    <a:pt x="73075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08497" cy="251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4903" y="1249712"/>
            <a:ext cx="16704397" cy="1072504"/>
            <a:chOff x="0" y="0"/>
            <a:chExt cx="4399512" cy="282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99512" cy="282470"/>
            </a:xfrm>
            <a:custGeom>
              <a:avLst/>
              <a:gdLst/>
              <a:ahLst/>
              <a:cxnLst/>
              <a:rect r="r" b="b" t="t" l="l"/>
              <a:pathLst>
                <a:path h="282470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258833"/>
                  </a:lnTo>
                  <a:cubicBezTo>
                    <a:pt x="4399512" y="271888"/>
                    <a:pt x="4388929" y="282470"/>
                    <a:pt x="4375875" y="282470"/>
                  </a:cubicBezTo>
                  <a:lnTo>
                    <a:pt x="23637" y="282470"/>
                  </a:lnTo>
                  <a:cubicBezTo>
                    <a:pt x="10583" y="282470"/>
                    <a:pt x="0" y="271888"/>
                    <a:pt x="0" y="258833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99512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3170" y="1439162"/>
            <a:ext cx="730654" cy="7306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97363"/>
            <a:ext cx="4891584" cy="67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Clasificación por Estado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6895" y="1490482"/>
            <a:ext cx="372121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Normal o genuino: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65440" y="1535250"/>
            <a:ext cx="115611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Cumple normativas, no tiene sustancias no autorizadas y es apto.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54903" y="2493667"/>
            <a:ext cx="16704397" cy="1072504"/>
            <a:chOff x="0" y="0"/>
            <a:chExt cx="4399512" cy="28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99512" cy="282470"/>
            </a:xfrm>
            <a:custGeom>
              <a:avLst/>
              <a:gdLst/>
              <a:ahLst/>
              <a:cxnLst/>
              <a:rect r="r" b="b" t="t" l="l"/>
              <a:pathLst>
                <a:path h="282470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258833"/>
                  </a:lnTo>
                  <a:cubicBezTo>
                    <a:pt x="4399512" y="271888"/>
                    <a:pt x="4388929" y="282470"/>
                    <a:pt x="4375875" y="282470"/>
                  </a:cubicBezTo>
                  <a:lnTo>
                    <a:pt x="23637" y="282470"/>
                  </a:lnTo>
                  <a:cubicBezTo>
                    <a:pt x="10583" y="282470"/>
                    <a:pt x="0" y="271888"/>
                    <a:pt x="0" y="258833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399512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3170" y="2664591"/>
            <a:ext cx="730654" cy="73065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76895" y="2732421"/>
            <a:ext cx="194744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Alterado: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48164" y="2513029"/>
            <a:ext cx="1327839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Deterioro natural por tiempo o mala conservación. No siempre es peligroso pero no es apto.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54903" y="3737621"/>
            <a:ext cx="16704397" cy="1072504"/>
            <a:chOff x="0" y="0"/>
            <a:chExt cx="4399512" cy="2824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99512" cy="282470"/>
            </a:xfrm>
            <a:custGeom>
              <a:avLst/>
              <a:gdLst/>
              <a:ahLst/>
              <a:cxnLst/>
              <a:rect r="r" b="b" t="t" l="l"/>
              <a:pathLst>
                <a:path h="282470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258833"/>
                  </a:lnTo>
                  <a:cubicBezTo>
                    <a:pt x="4399512" y="271888"/>
                    <a:pt x="4388929" y="282470"/>
                    <a:pt x="4375875" y="282470"/>
                  </a:cubicBezTo>
                  <a:lnTo>
                    <a:pt x="23637" y="282470"/>
                  </a:lnTo>
                  <a:cubicBezTo>
                    <a:pt x="10583" y="282470"/>
                    <a:pt x="0" y="271888"/>
                    <a:pt x="0" y="258833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399512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3170" y="3909071"/>
            <a:ext cx="730654" cy="73065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76895" y="3975746"/>
            <a:ext cx="251298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Adulterado: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13700" y="3757508"/>
            <a:ext cx="127128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Modificación intencionada y fraudulenta (se añaden o quitan ingredientes para reducir costos/engañar)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54903" y="4981575"/>
            <a:ext cx="16704397" cy="1072504"/>
            <a:chOff x="0" y="0"/>
            <a:chExt cx="4399512" cy="282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99512" cy="282470"/>
            </a:xfrm>
            <a:custGeom>
              <a:avLst/>
              <a:gdLst/>
              <a:ahLst/>
              <a:cxnLst/>
              <a:rect r="r" b="b" t="t" l="l"/>
              <a:pathLst>
                <a:path h="282470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258833"/>
                  </a:lnTo>
                  <a:cubicBezTo>
                    <a:pt x="4399512" y="271888"/>
                    <a:pt x="4388929" y="282470"/>
                    <a:pt x="4375875" y="282470"/>
                  </a:cubicBezTo>
                  <a:lnTo>
                    <a:pt x="23637" y="282470"/>
                  </a:lnTo>
                  <a:cubicBezTo>
                    <a:pt x="10583" y="282470"/>
                    <a:pt x="0" y="271888"/>
                    <a:pt x="0" y="258833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399512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538047" y="5010987"/>
            <a:ext cx="1248851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Contiene agentes vivos (bacterias, virus), químicos, físicos o radiactivos que causan enfermedades.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3170" y="5162550"/>
            <a:ext cx="730654" cy="730654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76895" y="5230380"/>
            <a:ext cx="28607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Contaminado: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54903" y="6225529"/>
            <a:ext cx="16704397" cy="1072504"/>
            <a:chOff x="0" y="0"/>
            <a:chExt cx="4399512" cy="28247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99512" cy="282470"/>
            </a:xfrm>
            <a:custGeom>
              <a:avLst/>
              <a:gdLst/>
              <a:ahLst/>
              <a:cxnLst/>
              <a:rect r="r" b="b" t="t" l="l"/>
              <a:pathLst>
                <a:path h="282470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258833"/>
                  </a:lnTo>
                  <a:cubicBezTo>
                    <a:pt x="4399512" y="271888"/>
                    <a:pt x="4388929" y="282470"/>
                    <a:pt x="4375875" y="282470"/>
                  </a:cubicBezTo>
                  <a:lnTo>
                    <a:pt x="23637" y="282470"/>
                  </a:lnTo>
                  <a:cubicBezTo>
                    <a:pt x="10583" y="282470"/>
                    <a:pt x="0" y="271888"/>
                    <a:pt x="0" y="258833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399512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3170" y="6377929"/>
            <a:ext cx="730654" cy="730654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77269" y="6445759"/>
            <a:ext cx="251260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Falsificado: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14577" y="6463654"/>
            <a:ext cx="935454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Fraude de identidad, marca, origen o etiquetado.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554903" y="7469483"/>
            <a:ext cx="16704397" cy="1072504"/>
            <a:chOff x="0" y="0"/>
            <a:chExt cx="4399512" cy="2824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99512" cy="282470"/>
            </a:xfrm>
            <a:custGeom>
              <a:avLst/>
              <a:gdLst/>
              <a:ahLst/>
              <a:cxnLst/>
              <a:rect r="r" b="b" t="t" l="l"/>
              <a:pathLst>
                <a:path h="282470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258833"/>
                  </a:lnTo>
                  <a:cubicBezTo>
                    <a:pt x="4399512" y="271888"/>
                    <a:pt x="4388929" y="282470"/>
                    <a:pt x="4375875" y="282470"/>
                  </a:cubicBezTo>
                  <a:lnTo>
                    <a:pt x="23637" y="282470"/>
                  </a:lnTo>
                  <a:cubicBezTo>
                    <a:pt x="10583" y="282470"/>
                    <a:pt x="0" y="271888"/>
                    <a:pt x="0" y="258833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399512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54903" y="8713438"/>
            <a:ext cx="16704397" cy="1072504"/>
            <a:chOff x="0" y="0"/>
            <a:chExt cx="4399512" cy="2824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99512" cy="282470"/>
            </a:xfrm>
            <a:custGeom>
              <a:avLst/>
              <a:gdLst/>
              <a:ahLst/>
              <a:cxnLst/>
              <a:rect r="r" b="b" t="t" l="l"/>
              <a:pathLst>
                <a:path h="282470" w="4399512">
                  <a:moveTo>
                    <a:pt x="23637" y="0"/>
                  </a:moveTo>
                  <a:lnTo>
                    <a:pt x="4375875" y="0"/>
                  </a:lnTo>
                  <a:cubicBezTo>
                    <a:pt x="4382144" y="0"/>
                    <a:pt x="4388156" y="2490"/>
                    <a:pt x="4392589" y="6923"/>
                  </a:cubicBezTo>
                  <a:cubicBezTo>
                    <a:pt x="4397022" y="11356"/>
                    <a:pt x="4399512" y="17368"/>
                    <a:pt x="4399512" y="23637"/>
                  </a:cubicBezTo>
                  <a:lnTo>
                    <a:pt x="4399512" y="258833"/>
                  </a:lnTo>
                  <a:cubicBezTo>
                    <a:pt x="4399512" y="271888"/>
                    <a:pt x="4388929" y="282470"/>
                    <a:pt x="4375875" y="282470"/>
                  </a:cubicBezTo>
                  <a:lnTo>
                    <a:pt x="23637" y="282470"/>
                  </a:lnTo>
                  <a:cubicBezTo>
                    <a:pt x="10583" y="282470"/>
                    <a:pt x="0" y="271888"/>
                    <a:pt x="0" y="258833"/>
                  </a:cubicBezTo>
                  <a:lnTo>
                    <a:pt x="0" y="23637"/>
                  </a:lnTo>
                  <a:cubicBezTo>
                    <a:pt x="0" y="17368"/>
                    <a:pt x="2490" y="11356"/>
                    <a:pt x="6923" y="6923"/>
                  </a:cubicBezTo>
                  <a:cubicBezTo>
                    <a:pt x="11356" y="2490"/>
                    <a:pt x="17368" y="0"/>
                    <a:pt x="23637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399512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3170" y="7669508"/>
            <a:ext cx="730654" cy="730654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3170" y="8875363"/>
            <a:ext cx="730654" cy="730654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677269" y="7737338"/>
            <a:ext cx="233730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Fortificado: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138402" y="7717133"/>
            <a:ext cx="1198895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Se le agregan nutrientes que no contenía de forma natural.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76895" y="8970613"/>
            <a:ext cx="263680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Enriquecido: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229831" y="8722963"/>
            <a:ext cx="1279673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Se le devuelven o restauran nutrientes perdidos durante el procesamiento industrial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074520" y="45276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954" y="422259"/>
            <a:ext cx="8066151" cy="1057548"/>
            <a:chOff x="0" y="0"/>
            <a:chExt cx="2401241" cy="314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1241" cy="314825"/>
            </a:xfrm>
            <a:custGeom>
              <a:avLst/>
              <a:gdLst/>
              <a:ahLst/>
              <a:cxnLst/>
              <a:rect r="r" b="b" t="t" l="l"/>
              <a:pathLst>
                <a:path h="314825" w="2401241">
                  <a:moveTo>
                    <a:pt x="48950" y="0"/>
                  </a:moveTo>
                  <a:lnTo>
                    <a:pt x="2352291" y="0"/>
                  </a:lnTo>
                  <a:cubicBezTo>
                    <a:pt x="2365274" y="0"/>
                    <a:pt x="2377724" y="5157"/>
                    <a:pt x="2386904" y="14337"/>
                  </a:cubicBezTo>
                  <a:cubicBezTo>
                    <a:pt x="2396084" y="23517"/>
                    <a:pt x="2401241" y="35968"/>
                    <a:pt x="2401241" y="48950"/>
                  </a:cubicBezTo>
                  <a:lnTo>
                    <a:pt x="2401241" y="265875"/>
                  </a:lnTo>
                  <a:cubicBezTo>
                    <a:pt x="2401241" y="292909"/>
                    <a:pt x="2379326" y="314825"/>
                    <a:pt x="2352291" y="314825"/>
                  </a:cubicBezTo>
                  <a:lnTo>
                    <a:pt x="48950" y="314825"/>
                  </a:lnTo>
                  <a:cubicBezTo>
                    <a:pt x="21916" y="314825"/>
                    <a:pt x="0" y="292909"/>
                    <a:pt x="0" y="265875"/>
                  </a:cubicBezTo>
                  <a:lnTo>
                    <a:pt x="0" y="48950"/>
                  </a:lnTo>
                  <a:cubicBezTo>
                    <a:pt x="0" y="21916"/>
                    <a:pt x="21916" y="0"/>
                    <a:pt x="4895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1241" cy="35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954" y="215937"/>
            <a:ext cx="7777239" cy="1057345"/>
            <a:chOff x="0" y="0"/>
            <a:chExt cx="2315234" cy="314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5234" cy="314765"/>
            </a:xfrm>
            <a:custGeom>
              <a:avLst/>
              <a:gdLst/>
              <a:ahLst/>
              <a:cxnLst/>
              <a:rect r="r" b="b" t="t" l="l"/>
              <a:pathLst>
                <a:path h="314765" w="2315234">
                  <a:moveTo>
                    <a:pt x="50768" y="0"/>
                  </a:moveTo>
                  <a:lnTo>
                    <a:pt x="2264465" y="0"/>
                  </a:lnTo>
                  <a:cubicBezTo>
                    <a:pt x="2277930" y="0"/>
                    <a:pt x="2290843" y="5349"/>
                    <a:pt x="2300364" y="14870"/>
                  </a:cubicBezTo>
                  <a:cubicBezTo>
                    <a:pt x="2309885" y="24391"/>
                    <a:pt x="2315234" y="37304"/>
                    <a:pt x="2315234" y="50768"/>
                  </a:cubicBezTo>
                  <a:lnTo>
                    <a:pt x="2315234" y="263996"/>
                  </a:lnTo>
                  <a:cubicBezTo>
                    <a:pt x="2315234" y="277461"/>
                    <a:pt x="2309885" y="290374"/>
                    <a:pt x="2300364" y="299895"/>
                  </a:cubicBezTo>
                  <a:cubicBezTo>
                    <a:pt x="2290843" y="309416"/>
                    <a:pt x="2277930" y="314765"/>
                    <a:pt x="2264465" y="314765"/>
                  </a:cubicBezTo>
                  <a:lnTo>
                    <a:pt x="50768" y="314765"/>
                  </a:lnTo>
                  <a:cubicBezTo>
                    <a:pt x="37304" y="314765"/>
                    <a:pt x="24391" y="309416"/>
                    <a:pt x="14870" y="299895"/>
                  </a:cubicBezTo>
                  <a:cubicBezTo>
                    <a:pt x="5349" y="290374"/>
                    <a:pt x="0" y="277461"/>
                    <a:pt x="0" y="263996"/>
                  </a:cubicBezTo>
                  <a:lnTo>
                    <a:pt x="0" y="50768"/>
                  </a:lnTo>
                  <a:cubicBezTo>
                    <a:pt x="0" y="37304"/>
                    <a:pt x="5349" y="24391"/>
                    <a:pt x="14870" y="14870"/>
                  </a:cubicBezTo>
                  <a:cubicBezTo>
                    <a:pt x="24391" y="5349"/>
                    <a:pt x="37304" y="0"/>
                    <a:pt x="50768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15234" cy="352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2954" y="1666784"/>
            <a:ext cx="16876346" cy="1173232"/>
            <a:chOff x="0" y="0"/>
            <a:chExt cx="4444799" cy="3089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4799" cy="308999"/>
            </a:xfrm>
            <a:custGeom>
              <a:avLst/>
              <a:gdLst/>
              <a:ahLst/>
              <a:cxnLst/>
              <a:rect r="r" b="b" t="t" l="l"/>
              <a:pathLst>
                <a:path h="308999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285603"/>
                  </a:lnTo>
                  <a:cubicBezTo>
                    <a:pt x="4444799" y="298525"/>
                    <a:pt x="4434324" y="308999"/>
                    <a:pt x="4421403" y="308999"/>
                  </a:cubicBezTo>
                  <a:lnTo>
                    <a:pt x="23396" y="308999"/>
                  </a:lnTo>
                  <a:cubicBezTo>
                    <a:pt x="17191" y="308999"/>
                    <a:pt x="11240" y="306534"/>
                    <a:pt x="6853" y="302147"/>
                  </a:cubicBezTo>
                  <a:cubicBezTo>
                    <a:pt x="2465" y="297759"/>
                    <a:pt x="0" y="291808"/>
                    <a:pt x="0" y="285603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444799" cy="347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3373" y="1920537"/>
            <a:ext cx="730654" cy="7306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80607" y="135327"/>
            <a:ext cx="7381931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Gammas Alimentarias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9768" y="1971856"/>
            <a:ext cx="185770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1ª Gama: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03818" y="1736511"/>
            <a:ext cx="1350644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Produc</a:t>
            </a: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tos frescos sin procesos de conservación (frutas, carnes, pescados, huevos) o conservas tradicionales (salazón, deshidratado).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82954" y="3040041"/>
            <a:ext cx="16876346" cy="1173232"/>
            <a:chOff x="0" y="0"/>
            <a:chExt cx="4444799" cy="3089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4799" cy="308999"/>
            </a:xfrm>
            <a:custGeom>
              <a:avLst/>
              <a:gdLst/>
              <a:ahLst/>
              <a:cxnLst/>
              <a:rect r="r" b="b" t="t" l="l"/>
              <a:pathLst>
                <a:path h="308999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285603"/>
                  </a:lnTo>
                  <a:cubicBezTo>
                    <a:pt x="4444799" y="298525"/>
                    <a:pt x="4434324" y="308999"/>
                    <a:pt x="4421403" y="308999"/>
                  </a:cubicBezTo>
                  <a:lnTo>
                    <a:pt x="23396" y="308999"/>
                  </a:lnTo>
                  <a:cubicBezTo>
                    <a:pt x="17191" y="308999"/>
                    <a:pt x="11240" y="306534"/>
                    <a:pt x="6853" y="302147"/>
                  </a:cubicBezTo>
                  <a:cubicBezTo>
                    <a:pt x="2465" y="297759"/>
                    <a:pt x="0" y="291808"/>
                    <a:pt x="0" y="285603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444799" cy="347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2954" y="4413298"/>
            <a:ext cx="16876346" cy="1173232"/>
            <a:chOff x="0" y="0"/>
            <a:chExt cx="4444799" cy="3089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4799" cy="308999"/>
            </a:xfrm>
            <a:custGeom>
              <a:avLst/>
              <a:gdLst/>
              <a:ahLst/>
              <a:cxnLst/>
              <a:rect r="r" b="b" t="t" l="l"/>
              <a:pathLst>
                <a:path h="308999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285603"/>
                  </a:lnTo>
                  <a:cubicBezTo>
                    <a:pt x="4444799" y="298525"/>
                    <a:pt x="4434324" y="308999"/>
                    <a:pt x="4421403" y="308999"/>
                  </a:cubicBezTo>
                  <a:lnTo>
                    <a:pt x="23396" y="308999"/>
                  </a:lnTo>
                  <a:cubicBezTo>
                    <a:pt x="17191" y="308999"/>
                    <a:pt x="11240" y="306534"/>
                    <a:pt x="6853" y="302147"/>
                  </a:cubicBezTo>
                  <a:cubicBezTo>
                    <a:pt x="2465" y="297759"/>
                    <a:pt x="0" y="291808"/>
                    <a:pt x="0" y="285603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444799" cy="347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82954" y="5786555"/>
            <a:ext cx="16876346" cy="1173232"/>
            <a:chOff x="0" y="0"/>
            <a:chExt cx="4444799" cy="308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44799" cy="308999"/>
            </a:xfrm>
            <a:custGeom>
              <a:avLst/>
              <a:gdLst/>
              <a:ahLst/>
              <a:cxnLst/>
              <a:rect r="r" b="b" t="t" l="l"/>
              <a:pathLst>
                <a:path h="308999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285603"/>
                  </a:lnTo>
                  <a:cubicBezTo>
                    <a:pt x="4444799" y="298525"/>
                    <a:pt x="4434324" y="308999"/>
                    <a:pt x="4421403" y="308999"/>
                  </a:cubicBezTo>
                  <a:lnTo>
                    <a:pt x="23396" y="308999"/>
                  </a:lnTo>
                  <a:cubicBezTo>
                    <a:pt x="17191" y="308999"/>
                    <a:pt x="11240" y="306534"/>
                    <a:pt x="6853" y="302147"/>
                  </a:cubicBezTo>
                  <a:cubicBezTo>
                    <a:pt x="2465" y="297759"/>
                    <a:pt x="0" y="291808"/>
                    <a:pt x="0" y="285603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444799" cy="347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2954" y="7159812"/>
            <a:ext cx="16876346" cy="1173232"/>
            <a:chOff x="0" y="0"/>
            <a:chExt cx="4444799" cy="308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44799" cy="308999"/>
            </a:xfrm>
            <a:custGeom>
              <a:avLst/>
              <a:gdLst/>
              <a:ahLst/>
              <a:cxnLst/>
              <a:rect r="r" b="b" t="t" l="l"/>
              <a:pathLst>
                <a:path h="308999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285603"/>
                  </a:lnTo>
                  <a:cubicBezTo>
                    <a:pt x="4444799" y="298525"/>
                    <a:pt x="4434324" y="308999"/>
                    <a:pt x="4421403" y="308999"/>
                  </a:cubicBezTo>
                  <a:lnTo>
                    <a:pt x="23396" y="308999"/>
                  </a:lnTo>
                  <a:cubicBezTo>
                    <a:pt x="17191" y="308999"/>
                    <a:pt x="11240" y="306534"/>
                    <a:pt x="6853" y="302147"/>
                  </a:cubicBezTo>
                  <a:cubicBezTo>
                    <a:pt x="2465" y="297759"/>
                    <a:pt x="0" y="291808"/>
                    <a:pt x="0" y="285603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444799" cy="347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82954" y="8533069"/>
            <a:ext cx="16876346" cy="1173232"/>
            <a:chOff x="0" y="0"/>
            <a:chExt cx="4444799" cy="3089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44799" cy="308999"/>
            </a:xfrm>
            <a:custGeom>
              <a:avLst/>
              <a:gdLst/>
              <a:ahLst/>
              <a:cxnLst/>
              <a:rect r="r" b="b" t="t" l="l"/>
              <a:pathLst>
                <a:path h="308999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285603"/>
                  </a:lnTo>
                  <a:cubicBezTo>
                    <a:pt x="4444799" y="298525"/>
                    <a:pt x="4434324" y="308999"/>
                    <a:pt x="4421403" y="308999"/>
                  </a:cubicBezTo>
                  <a:lnTo>
                    <a:pt x="23396" y="308999"/>
                  </a:lnTo>
                  <a:cubicBezTo>
                    <a:pt x="17191" y="308999"/>
                    <a:pt x="11240" y="306534"/>
                    <a:pt x="6853" y="302147"/>
                  </a:cubicBezTo>
                  <a:cubicBezTo>
                    <a:pt x="2465" y="297759"/>
                    <a:pt x="0" y="291808"/>
                    <a:pt x="0" y="285603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444799" cy="347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63373" y="3259116"/>
            <a:ext cx="730654" cy="73065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541027" y="3312650"/>
            <a:ext cx="201519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2ª Gama: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56218" y="3109768"/>
            <a:ext cx="1350644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 C</a:t>
            </a: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onservas y semiconservas envasadas sometidas a tratamiento térmico. No requieren refrigeración.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63373" y="4632373"/>
            <a:ext cx="730654" cy="730654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541027" y="4683693"/>
            <a:ext cx="201519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3ª Gama: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556218" y="4421429"/>
            <a:ext cx="13470345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Alim</a:t>
            </a:r>
            <a:r>
              <a:rPr lang="en-US" sz="32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entos congelados o ultracongelados en crudo. Se mantieneintactas de 6 meses a un año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63373" y="6005630"/>
            <a:ext cx="730654" cy="730654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63373" y="7378887"/>
            <a:ext cx="730654" cy="73065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63373" y="8752144"/>
            <a:ext cx="730654" cy="730654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541027" y="6062780"/>
            <a:ext cx="201519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4ª Gama: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41027" y="7441868"/>
            <a:ext cx="201519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5ª Gama: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41027" y="8820955"/>
            <a:ext cx="201519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6ª Gama: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403818" y="5859898"/>
            <a:ext cx="1350644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 C</a:t>
            </a: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onservas y semiconservas envasadas sometidas a tratamiento térmico. No requieren refrigeración. de una semana a 10 días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556218" y="8556767"/>
            <a:ext cx="13354043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Alime</a:t>
            </a:r>
            <a:r>
              <a:rPr lang="en-US" sz="31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ntos deshidratados o liofilizados (ej. soya texturizada). pueden durar entre 15 y 25 años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556218" y="7216962"/>
            <a:ext cx="1350644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Plat</a:t>
            </a: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os cocinados, preparados y envasados (listos para consumir tras calentar en microondas).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064995" y="45276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2453" y="499926"/>
            <a:ext cx="12455436" cy="1057548"/>
            <a:chOff x="0" y="0"/>
            <a:chExt cx="3707903" cy="314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7903" cy="314825"/>
            </a:xfrm>
            <a:custGeom>
              <a:avLst/>
              <a:gdLst/>
              <a:ahLst/>
              <a:cxnLst/>
              <a:rect r="r" b="b" t="t" l="l"/>
              <a:pathLst>
                <a:path h="314825" w="3707903">
                  <a:moveTo>
                    <a:pt x="31700" y="0"/>
                  </a:moveTo>
                  <a:lnTo>
                    <a:pt x="3676203" y="0"/>
                  </a:lnTo>
                  <a:cubicBezTo>
                    <a:pt x="3693711" y="0"/>
                    <a:pt x="3707903" y="14193"/>
                    <a:pt x="3707903" y="31700"/>
                  </a:cubicBezTo>
                  <a:lnTo>
                    <a:pt x="3707903" y="283125"/>
                  </a:lnTo>
                  <a:cubicBezTo>
                    <a:pt x="3707903" y="291532"/>
                    <a:pt x="3704563" y="299595"/>
                    <a:pt x="3698618" y="305540"/>
                  </a:cubicBezTo>
                  <a:cubicBezTo>
                    <a:pt x="3692673" y="311485"/>
                    <a:pt x="3684610" y="314825"/>
                    <a:pt x="3676203" y="314825"/>
                  </a:cubicBezTo>
                  <a:lnTo>
                    <a:pt x="31700" y="314825"/>
                  </a:lnTo>
                  <a:cubicBezTo>
                    <a:pt x="23293" y="314825"/>
                    <a:pt x="15230" y="311485"/>
                    <a:pt x="9285" y="305540"/>
                  </a:cubicBezTo>
                  <a:cubicBezTo>
                    <a:pt x="3340" y="299595"/>
                    <a:pt x="0" y="291532"/>
                    <a:pt x="0" y="283125"/>
                  </a:cubicBezTo>
                  <a:lnTo>
                    <a:pt x="0" y="31700"/>
                  </a:lnTo>
                  <a:cubicBezTo>
                    <a:pt x="0" y="23293"/>
                    <a:pt x="3340" y="15230"/>
                    <a:pt x="9285" y="9285"/>
                  </a:cubicBezTo>
                  <a:cubicBezTo>
                    <a:pt x="15230" y="3340"/>
                    <a:pt x="23293" y="0"/>
                    <a:pt x="317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07903" cy="35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42453" y="215937"/>
            <a:ext cx="12282585" cy="1057345"/>
            <a:chOff x="0" y="0"/>
            <a:chExt cx="3656447" cy="314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6447" cy="314765"/>
            </a:xfrm>
            <a:custGeom>
              <a:avLst/>
              <a:gdLst/>
              <a:ahLst/>
              <a:cxnLst/>
              <a:rect r="r" b="b" t="t" l="l"/>
              <a:pathLst>
                <a:path h="314765" w="3656447">
                  <a:moveTo>
                    <a:pt x="32146" y="0"/>
                  </a:moveTo>
                  <a:lnTo>
                    <a:pt x="3624300" y="0"/>
                  </a:lnTo>
                  <a:cubicBezTo>
                    <a:pt x="3632826" y="0"/>
                    <a:pt x="3641003" y="3387"/>
                    <a:pt x="3647031" y="9415"/>
                  </a:cubicBezTo>
                  <a:cubicBezTo>
                    <a:pt x="3653060" y="15444"/>
                    <a:pt x="3656447" y="23620"/>
                    <a:pt x="3656447" y="32146"/>
                  </a:cubicBezTo>
                  <a:lnTo>
                    <a:pt x="3656447" y="282619"/>
                  </a:lnTo>
                  <a:cubicBezTo>
                    <a:pt x="3656447" y="291144"/>
                    <a:pt x="3653060" y="299321"/>
                    <a:pt x="3647031" y="305349"/>
                  </a:cubicBezTo>
                  <a:cubicBezTo>
                    <a:pt x="3641003" y="311378"/>
                    <a:pt x="3632826" y="314765"/>
                    <a:pt x="3624300" y="314765"/>
                  </a:cubicBezTo>
                  <a:lnTo>
                    <a:pt x="32146" y="314765"/>
                  </a:lnTo>
                  <a:cubicBezTo>
                    <a:pt x="23620" y="314765"/>
                    <a:pt x="15444" y="311378"/>
                    <a:pt x="9415" y="305349"/>
                  </a:cubicBezTo>
                  <a:cubicBezTo>
                    <a:pt x="3387" y="299321"/>
                    <a:pt x="0" y="291144"/>
                    <a:pt x="0" y="282619"/>
                  </a:cubicBezTo>
                  <a:lnTo>
                    <a:pt x="0" y="32146"/>
                  </a:lnTo>
                  <a:cubicBezTo>
                    <a:pt x="0" y="23620"/>
                    <a:pt x="3387" y="15444"/>
                    <a:pt x="9415" y="9415"/>
                  </a:cubicBezTo>
                  <a:cubicBezTo>
                    <a:pt x="15444" y="3387"/>
                    <a:pt x="23620" y="0"/>
                    <a:pt x="32146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56447" cy="352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99833" y="2067863"/>
            <a:ext cx="11540676" cy="7455404"/>
            <a:chOff x="0" y="0"/>
            <a:chExt cx="3039520" cy="19635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9520" cy="1963563"/>
            </a:xfrm>
            <a:custGeom>
              <a:avLst/>
              <a:gdLst/>
              <a:ahLst/>
              <a:cxnLst/>
              <a:rect r="r" b="b" t="t" l="l"/>
              <a:pathLst>
                <a:path h="1963563" w="3039520">
                  <a:moveTo>
                    <a:pt x="34213" y="0"/>
                  </a:moveTo>
                  <a:lnTo>
                    <a:pt x="3005307" y="0"/>
                  </a:lnTo>
                  <a:cubicBezTo>
                    <a:pt x="3024202" y="0"/>
                    <a:pt x="3039520" y="15318"/>
                    <a:pt x="3039520" y="34213"/>
                  </a:cubicBezTo>
                  <a:lnTo>
                    <a:pt x="3039520" y="1929351"/>
                  </a:lnTo>
                  <a:cubicBezTo>
                    <a:pt x="3039520" y="1948246"/>
                    <a:pt x="3024202" y="1963563"/>
                    <a:pt x="3005307" y="1963563"/>
                  </a:cubicBezTo>
                  <a:lnTo>
                    <a:pt x="34213" y="1963563"/>
                  </a:lnTo>
                  <a:cubicBezTo>
                    <a:pt x="15318" y="1963563"/>
                    <a:pt x="0" y="1948246"/>
                    <a:pt x="0" y="1929351"/>
                  </a:cubicBezTo>
                  <a:lnTo>
                    <a:pt x="0" y="34213"/>
                  </a:lnTo>
                  <a:cubicBezTo>
                    <a:pt x="0" y="15318"/>
                    <a:pt x="15318" y="0"/>
                    <a:pt x="34213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39520" cy="2001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060557" y="2342018"/>
            <a:ext cx="10286744" cy="6907095"/>
          </a:xfrm>
          <a:custGeom>
            <a:avLst/>
            <a:gdLst/>
            <a:ahLst/>
            <a:cxnLst/>
            <a:rect r="r" b="b" t="t" l="l"/>
            <a:pathLst>
              <a:path h="6907095" w="10286744">
                <a:moveTo>
                  <a:pt x="0" y="0"/>
                </a:moveTo>
                <a:lnTo>
                  <a:pt x="10286744" y="0"/>
                </a:lnTo>
                <a:lnTo>
                  <a:pt x="10286744" y="6907095"/>
                </a:lnTo>
                <a:lnTo>
                  <a:pt x="0" y="6907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90111" y="178542"/>
            <a:ext cx="12707777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Gammas Alimentarias - Ilustracion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8544" y="447112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34885" y="425618"/>
            <a:ext cx="9251260" cy="1316455"/>
            <a:chOff x="0" y="0"/>
            <a:chExt cx="2619740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9740" cy="372789"/>
            </a:xfrm>
            <a:custGeom>
              <a:avLst/>
              <a:gdLst/>
              <a:ahLst/>
              <a:cxnLst/>
              <a:rect r="r" b="b" t="t" l="l"/>
              <a:pathLst>
                <a:path h="372789" w="2619740">
                  <a:moveTo>
                    <a:pt x="42679" y="0"/>
                  </a:moveTo>
                  <a:lnTo>
                    <a:pt x="2577060" y="0"/>
                  </a:lnTo>
                  <a:cubicBezTo>
                    <a:pt x="2600631" y="0"/>
                    <a:pt x="2619740" y="19108"/>
                    <a:pt x="2619740" y="42679"/>
                  </a:cubicBezTo>
                  <a:lnTo>
                    <a:pt x="2619740" y="330110"/>
                  </a:lnTo>
                  <a:cubicBezTo>
                    <a:pt x="2619740" y="353681"/>
                    <a:pt x="2600631" y="372789"/>
                    <a:pt x="2577060" y="372789"/>
                  </a:cubicBezTo>
                  <a:lnTo>
                    <a:pt x="42679" y="372789"/>
                  </a:lnTo>
                  <a:cubicBezTo>
                    <a:pt x="31360" y="372789"/>
                    <a:pt x="20504" y="368293"/>
                    <a:pt x="12500" y="360289"/>
                  </a:cubicBezTo>
                  <a:cubicBezTo>
                    <a:pt x="4497" y="352285"/>
                    <a:pt x="0" y="341429"/>
                    <a:pt x="0" y="330110"/>
                  </a:cubicBezTo>
                  <a:lnTo>
                    <a:pt x="0" y="42679"/>
                  </a:lnTo>
                  <a:cubicBezTo>
                    <a:pt x="0" y="19108"/>
                    <a:pt x="19108" y="0"/>
                    <a:pt x="42679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19740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20031" y="249599"/>
            <a:ext cx="9092795" cy="1342854"/>
            <a:chOff x="0" y="0"/>
            <a:chExt cx="2574866" cy="3802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4866" cy="380265"/>
            </a:xfrm>
            <a:custGeom>
              <a:avLst/>
              <a:gdLst/>
              <a:ahLst/>
              <a:cxnLst/>
              <a:rect r="r" b="b" t="t" l="l"/>
              <a:pathLst>
                <a:path h="380265" w="2574866">
                  <a:moveTo>
                    <a:pt x="43423" y="0"/>
                  </a:moveTo>
                  <a:lnTo>
                    <a:pt x="2531443" y="0"/>
                  </a:lnTo>
                  <a:cubicBezTo>
                    <a:pt x="2542960" y="0"/>
                    <a:pt x="2554004" y="4575"/>
                    <a:pt x="2562148" y="12718"/>
                  </a:cubicBezTo>
                  <a:cubicBezTo>
                    <a:pt x="2570291" y="20862"/>
                    <a:pt x="2574866" y="31907"/>
                    <a:pt x="2574866" y="43423"/>
                  </a:cubicBezTo>
                  <a:lnTo>
                    <a:pt x="2574866" y="336842"/>
                  </a:lnTo>
                  <a:cubicBezTo>
                    <a:pt x="2574866" y="348358"/>
                    <a:pt x="2570291" y="359403"/>
                    <a:pt x="2562148" y="367546"/>
                  </a:cubicBezTo>
                  <a:cubicBezTo>
                    <a:pt x="2554004" y="375690"/>
                    <a:pt x="2542960" y="380265"/>
                    <a:pt x="2531443" y="380265"/>
                  </a:cubicBezTo>
                  <a:lnTo>
                    <a:pt x="43423" y="380265"/>
                  </a:lnTo>
                  <a:cubicBezTo>
                    <a:pt x="31907" y="380265"/>
                    <a:pt x="20862" y="375690"/>
                    <a:pt x="12718" y="367546"/>
                  </a:cubicBezTo>
                  <a:cubicBezTo>
                    <a:pt x="4575" y="359403"/>
                    <a:pt x="0" y="348358"/>
                    <a:pt x="0" y="336842"/>
                  </a:cubicBezTo>
                  <a:lnTo>
                    <a:pt x="0" y="43423"/>
                  </a:lnTo>
                  <a:cubicBezTo>
                    <a:pt x="0" y="31907"/>
                    <a:pt x="4575" y="20862"/>
                    <a:pt x="12718" y="12718"/>
                  </a:cubicBezTo>
                  <a:cubicBezTo>
                    <a:pt x="20862" y="4575"/>
                    <a:pt x="31907" y="0"/>
                    <a:pt x="43423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74866" cy="418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384851"/>
            <a:ext cx="2574836" cy="709615"/>
            <a:chOff x="0" y="0"/>
            <a:chExt cx="1158327" cy="3192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8327" cy="319231"/>
            </a:xfrm>
            <a:custGeom>
              <a:avLst/>
              <a:gdLst/>
              <a:ahLst/>
              <a:cxnLst/>
              <a:rect r="r" b="b" t="t" l="l"/>
              <a:pathLst>
                <a:path h="319231" w="1158327">
                  <a:moveTo>
                    <a:pt x="90203" y="0"/>
                  </a:moveTo>
                  <a:lnTo>
                    <a:pt x="1068124" y="0"/>
                  </a:lnTo>
                  <a:cubicBezTo>
                    <a:pt x="1117942" y="0"/>
                    <a:pt x="1158327" y="40385"/>
                    <a:pt x="1158327" y="90203"/>
                  </a:cubicBezTo>
                  <a:lnTo>
                    <a:pt x="1158327" y="229028"/>
                  </a:lnTo>
                  <a:cubicBezTo>
                    <a:pt x="1158327" y="278845"/>
                    <a:pt x="1117942" y="319231"/>
                    <a:pt x="1068124" y="319231"/>
                  </a:cubicBezTo>
                  <a:lnTo>
                    <a:pt x="90203" y="319231"/>
                  </a:lnTo>
                  <a:cubicBezTo>
                    <a:pt x="40385" y="319231"/>
                    <a:pt x="0" y="278845"/>
                    <a:pt x="0" y="229028"/>
                  </a:cubicBezTo>
                  <a:lnTo>
                    <a:pt x="0" y="90203"/>
                  </a:lnTo>
                  <a:cubicBezTo>
                    <a:pt x="0" y="40385"/>
                    <a:pt x="40385" y="0"/>
                    <a:pt x="90203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58327" cy="357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7079414"/>
            <a:ext cx="3145264" cy="1806766"/>
            <a:chOff x="0" y="0"/>
            <a:chExt cx="141494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4943" cy="812800"/>
            </a:xfrm>
            <a:custGeom>
              <a:avLst/>
              <a:gdLst/>
              <a:ahLst/>
              <a:cxnLst/>
              <a:rect r="r" b="b" t="t" l="l"/>
              <a:pathLst>
                <a:path h="812800" w="1414943">
                  <a:moveTo>
                    <a:pt x="73844" y="0"/>
                  </a:moveTo>
                  <a:lnTo>
                    <a:pt x="1341099" y="0"/>
                  </a:lnTo>
                  <a:cubicBezTo>
                    <a:pt x="1360684" y="0"/>
                    <a:pt x="1379466" y="7780"/>
                    <a:pt x="1393315" y="21628"/>
                  </a:cubicBezTo>
                  <a:cubicBezTo>
                    <a:pt x="1407163" y="35477"/>
                    <a:pt x="1414943" y="54259"/>
                    <a:pt x="1414943" y="73844"/>
                  </a:cubicBezTo>
                  <a:lnTo>
                    <a:pt x="1414943" y="738956"/>
                  </a:lnTo>
                  <a:cubicBezTo>
                    <a:pt x="1414943" y="779739"/>
                    <a:pt x="1381882" y="812800"/>
                    <a:pt x="1341099" y="812800"/>
                  </a:cubicBezTo>
                  <a:lnTo>
                    <a:pt x="73844" y="812800"/>
                  </a:lnTo>
                  <a:cubicBezTo>
                    <a:pt x="33061" y="812800"/>
                    <a:pt x="0" y="779739"/>
                    <a:pt x="0" y="738956"/>
                  </a:cubicBezTo>
                  <a:lnTo>
                    <a:pt x="0" y="73844"/>
                  </a:lnTo>
                  <a:cubicBezTo>
                    <a:pt x="0" y="33061"/>
                    <a:pt x="33061" y="0"/>
                    <a:pt x="73844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1494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214179">
            <a:off x="4426644" y="7600610"/>
            <a:ext cx="2435244" cy="1111080"/>
          </a:xfrm>
          <a:custGeom>
            <a:avLst/>
            <a:gdLst/>
            <a:ahLst/>
            <a:cxnLst/>
            <a:rect r="r" b="b" t="t" l="l"/>
            <a:pathLst>
              <a:path h="1111080" w="2435244">
                <a:moveTo>
                  <a:pt x="0" y="0"/>
                </a:moveTo>
                <a:lnTo>
                  <a:pt x="2435245" y="0"/>
                </a:lnTo>
                <a:lnTo>
                  <a:pt x="2435245" y="1111080"/>
                </a:lnTo>
                <a:lnTo>
                  <a:pt x="0" y="11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14179">
            <a:off x="11142294" y="7600610"/>
            <a:ext cx="2435244" cy="1111080"/>
          </a:xfrm>
          <a:custGeom>
            <a:avLst/>
            <a:gdLst/>
            <a:ahLst/>
            <a:cxnLst/>
            <a:rect r="r" b="b" t="t" l="l"/>
            <a:pathLst>
              <a:path h="1111080" w="2435244">
                <a:moveTo>
                  <a:pt x="0" y="0"/>
                </a:moveTo>
                <a:lnTo>
                  <a:pt x="2435245" y="0"/>
                </a:lnTo>
                <a:lnTo>
                  <a:pt x="2435245" y="1111080"/>
                </a:lnTo>
                <a:lnTo>
                  <a:pt x="0" y="11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9161004"/>
            <a:ext cx="3145264" cy="624244"/>
            <a:chOff x="0" y="0"/>
            <a:chExt cx="1414943" cy="2808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4943" cy="280825"/>
            </a:xfrm>
            <a:custGeom>
              <a:avLst/>
              <a:gdLst/>
              <a:ahLst/>
              <a:cxnLst/>
              <a:rect r="r" b="b" t="t" l="l"/>
              <a:pathLst>
                <a:path h="280825" w="1414943">
                  <a:moveTo>
                    <a:pt x="73844" y="0"/>
                  </a:moveTo>
                  <a:lnTo>
                    <a:pt x="1341099" y="0"/>
                  </a:lnTo>
                  <a:cubicBezTo>
                    <a:pt x="1360684" y="0"/>
                    <a:pt x="1379466" y="7780"/>
                    <a:pt x="1393315" y="21628"/>
                  </a:cubicBezTo>
                  <a:cubicBezTo>
                    <a:pt x="1407163" y="35477"/>
                    <a:pt x="1414943" y="54259"/>
                    <a:pt x="1414943" y="73844"/>
                  </a:cubicBezTo>
                  <a:lnTo>
                    <a:pt x="1414943" y="206982"/>
                  </a:lnTo>
                  <a:cubicBezTo>
                    <a:pt x="1414943" y="247765"/>
                    <a:pt x="1381882" y="280825"/>
                    <a:pt x="1341099" y="280825"/>
                  </a:cubicBezTo>
                  <a:lnTo>
                    <a:pt x="73844" y="280825"/>
                  </a:lnTo>
                  <a:cubicBezTo>
                    <a:pt x="33061" y="280825"/>
                    <a:pt x="0" y="247765"/>
                    <a:pt x="0" y="206982"/>
                  </a:cubicBezTo>
                  <a:lnTo>
                    <a:pt x="0" y="73844"/>
                  </a:lnTo>
                  <a:cubicBezTo>
                    <a:pt x="0" y="33061"/>
                    <a:pt x="33061" y="0"/>
                    <a:pt x="73844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414943" cy="33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Primeros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934885" y="94248"/>
            <a:ext cx="841823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Calidad e Inocuidad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0334" y="2370088"/>
            <a:ext cx="2111569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b="true" sz="3899" spc="-58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Calidad: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03536" y="2125613"/>
            <a:ext cx="13655764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5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Propiedades inherentes (sabor, textura, nutrición) que satisfacen las expectativas del consumidor y normativas.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88750" y="3753753"/>
            <a:ext cx="13085336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5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Garantía de que un alimento no causará daño/enfermedad al consumidor cuando sea preparado o ingerido.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4012991"/>
            <a:ext cx="2860050" cy="711678"/>
            <a:chOff x="0" y="0"/>
            <a:chExt cx="1286635" cy="3201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6635" cy="320158"/>
            </a:xfrm>
            <a:custGeom>
              <a:avLst/>
              <a:gdLst/>
              <a:ahLst/>
              <a:cxnLst/>
              <a:rect r="r" b="b" t="t" l="l"/>
              <a:pathLst>
                <a:path h="320158" w="1286635">
                  <a:moveTo>
                    <a:pt x="81208" y="0"/>
                  </a:moveTo>
                  <a:lnTo>
                    <a:pt x="1205427" y="0"/>
                  </a:lnTo>
                  <a:cubicBezTo>
                    <a:pt x="1226965" y="0"/>
                    <a:pt x="1247621" y="8556"/>
                    <a:pt x="1262850" y="23785"/>
                  </a:cubicBezTo>
                  <a:cubicBezTo>
                    <a:pt x="1278079" y="39015"/>
                    <a:pt x="1286635" y="59670"/>
                    <a:pt x="1286635" y="81208"/>
                  </a:cubicBezTo>
                  <a:lnTo>
                    <a:pt x="1286635" y="238951"/>
                  </a:lnTo>
                  <a:cubicBezTo>
                    <a:pt x="1286635" y="260489"/>
                    <a:pt x="1278079" y="281144"/>
                    <a:pt x="1262850" y="296373"/>
                  </a:cubicBezTo>
                  <a:cubicBezTo>
                    <a:pt x="1247621" y="311603"/>
                    <a:pt x="1226965" y="320158"/>
                    <a:pt x="1205427" y="320158"/>
                  </a:cubicBezTo>
                  <a:lnTo>
                    <a:pt x="81208" y="320158"/>
                  </a:lnTo>
                  <a:cubicBezTo>
                    <a:pt x="59670" y="320158"/>
                    <a:pt x="39015" y="311603"/>
                    <a:pt x="23785" y="296373"/>
                  </a:cubicBezTo>
                  <a:cubicBezTo>
                    <a:pt x="8556" y="281144"/>
                    <a:pt x="0" y="260489"/>
                    <a:pt x="0" y="238951"/>
                  </a:cubicBezTo>
                  <a:lnTo>
                    <a:pt x="0" y="81208"/>
                  </a:lnTo>
                  <a:cubicBezTo>
                    <a:pt x="0" y="59670"/>
                    <a:pt x="8556" y="39015"/>
                    <a:pt x="23785" y="23785"/>
                  </a:cubicBezTo>
                  <a:cubicBezTo>
                    <a:pt x="39015" y="8556"/>
                    <a:pt x="59670" y="0"/>
                    <a:pt x="81208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86635" cy="358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60334" y="4017278"/>
            <a:ext cx="234320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-52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Inocuidad: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425662" y="5504631"/>
            <a:ext cx="12030895" cy="1060433"/>
            <a:chOff x="0" y="0"/>
            <a:chExt cx="4229393" cy="3727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29393" cy="372789"/>
            </a:xfrm>
            <a:custGeom>
              <a:avLst/>
              <a:gdLst/>
              <a:ahLst/>
              <a:cxnLst/>
              <a:rect r="r" b="b" t="t" l="l"/>
              <a:pathLst>
                <a:path h="372789" w="4229393">
                  <a:moveTo>
                    <a:pt x="32819" y="0"/>
                  </a:moveTo>
                  <a:lnTo>
                    <a:pt x="4196574" y="0"/>
                  </a:lnTo>
                  <a:cubicBezTo>
                    <a:pt x="4214700" y="0"/>
                    <a:pt x="4229393" y="14693"/>
                    <a:pt x="4229393" y="32819"/>
                  </a:cubicBezTo>
                  <a:lnTo>
                    <a:pt x="4229393" y="339971"/>
                  </a:lnTo>
                  <a:cubicBezTo>
                    <a:pt x="4229393" y="358096"/>
                    <a:pt x="4214700" y="372789"/>
                    <a:pt x="4196574" y="372789"/>
                  </a:cubicBezTo>
                  <a:lnTo>
                    <a:pt x="32819" y="372789"/>
                  </a:lnTo>
                  <a:cubicBezTo>
                    <a:pt x="24115" y="372789"/>
                    <a:pt x="15767" y="369332"/>
                    <a:pt x="9612" y="363177"/>
                  </a:cubicBezTo>
                  <a:cubicBezTo>
                    <a:pt x="3458" y="357022"/>
                    <a:pt x="0" y="348675"/>
                    <a:pt x="0" y="339971"/>
                  </a:cubicBezTo>
                  <a:lnTo>
                    <a:pt x="0" y="32819"/>
                  </a:lnTo>
                  <a:cubicBezTo>
                    <a:pt x="0" y="14693"/>
                    <a:pt x="14693" y="0"/>
                    <a:pt x="32819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229393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276300" y="5362843"/>
            <a:ext cx="11824818" cy="1081698"/>
            <a:chOff x="0" y="0"/>
            <a:chExt cx="4156948" cy="3802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56948" cy="380265"/>
            </a:xfrm>
            <a:custGeom>
              <a:avLst/>
              <a:gdLst/>
              <a:ahLst/>
              <a:cxnLst/>
              <a:rect r="r" b="b" t="t" l="l"/>
              <a:pathLst>
                <a:path h="380265" w="4156948">
                  <a:moveTo>
                    <a:pt x="33391" y="0"/>
                  </a:moveTo>
                  <a:lnTo>
                    <a:pt x="4123557" y="0"/>
                  </a:lnTo>
                  <a:cubicBezTo>
                    <a:pt x="4132413" y="0"/>
                    <a:pt x="4140906" y="3518"/>
                    <a:pt x="4147168" y="9780"/>
                  </a:cubicBezTo>
                  <a:cubicBezTo>
                    <a:pt x="4153430" y="16042"/>
                    <a:pt x="4156948" y="24535"/>
                    <a:pt x="4156948" y="33391"/>
                  </a:cubicBezTo>
                  <a:lnTo>
                    <a:pt x="4156948" y="346874"/>
                  </a:lnTo>
                  <a:cubicBezTo>
                    <a:pt x="4156948" y="365315"/>
                    <a:pt x="4141998" y="380265"/>
                    <a:pt x="4123557" y="380265"/>
                  </a:cubicBezTo>
                  <a:lnTo>
                    <a:pt x="33391" y="380265"/>
                  </a:lnTo>
                  <a:cubicBezTo>
                    <a:pt x="14949" y="380265"/>
                    <a:pt x="0" y="365315"/>
                    <a:pt x="0" y="346874"/>
                  </a:cubicBezTo>
                  <a:lnTo>
                    <a:pt x="0" y="33391"/>
                  </a:lnTo>
                  <a:cubicBezTo>
                    <a:pt x="0" y="14949"/>
                    <a:pt x="14949" y="0"/>
                    <a:pt x="33391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156948" cy="418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503761" y="5506817"/>
            <a:ext cx="1136989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Responsables de la Inocuidad en la Cadena Alimentaria: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114036" y="7079414"/>
            <a:ext cx="3145264" cy="1806766"/>
            <a:chOff x="0" y="0"/>
            <a:chExt cx="1414943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14943" cy="812800"/>
            </a:xfrm>
            <a:custGeom>
              <a:avLst/>
              <a:gdLst/>
              <a:ahLst/>
              <a:cxnLst/>
              <a:rect r="r" b="b" t="t" l="l"/>
              <a:pathLst>
                <a:path h="812800" w="1414943">
                  <a:moveTo>
                    <a:pt x="73844" y="0"/>
                  </a:moveTo>
                  <a:lnTo>
                    <a:pt x="1341099" y="0"/>
                  </a:lnTo>
                  <a:cubicBezTo>
                    <a:pt x="1360684" y="0"/>
                    <a:pt x="1379466" y="7780"/>
                    <a:pt x="1393315" y="21628"/>
                  </a:cubicBezTo>
                  <a:cubicBezTo>
                    <a:pt x="1407163" y="35477"/>
                    <a:pt x="1414943" y="54259"/>
                    <a:pt x="1414943" y="73844"/>
                  </a:cubicBezTo>
                  <a:lnTo>
                    <a:pt x="1414943" y="738956"/>
                  </a:lnTo>
                  <a:cubicBezTo>
                    <a:pt x="1414943" y="779739"/>
                    <a:pt x="1381882" y="812800"/>
                    <a:pt x="1341099" y="812800"/>
                  </a:cubicBezTo>
                  <a:lnTo>
                    <a:pt x="73844" y="812800"/>
                  </a:lnTo>
                  <a:cubicBezTo>
                    <a:pt x="33061" y="812800"/>
                    <a:pt x="0" y="779739"/>
                    <a:pt x="0" y="738956"/>
                  </a:cubicBezTo>
                  <a:lnTo>
                    <a:pt x="0" y="73844"/>
                  </a:lnTo>
                  <a:cubicBezTo>
                    <a:pt x="0" y="33061"/>
                    <a:pt x="33061" y="0"/>
                    <a:pt x="73844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41494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114036" y="9161004"/>
            <a:ext cx="3145264" cy="624244"/>
            <a:chOff x="0" y="0"/>
            <a:chExt cx="1414943" cy="2808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4943" cy="280825"/>
            </a:xfrm>
            <a:custGeom>
              <a:avLst/>
              <a:gdLst/>
              <a:ahLst/>
              <a:cxnLst/>
              <a:rect r="r" b="b" t="t" l="l"/>
              <a:pathLst>
                <a:path h="280825" w="1414943">
                  <a:moveTo>
                    <a:pt x="73844" y="0"/>
                  </a:moveTo>
                  <a:lnTo>
                    <a:pt x="1341099" y="0"/>
                  </a:lnTo>
                  <a:cubicBezTo>
                    <a:pt x="1360684" y="0"/>
                    <a:pt x="1379466" y="7780"/>
                    <a:pt x="1393315" y="21628"/>
                  </a:cubicBezTo>
                  <a:cubicBezTo>
                    <a:pt x="1407163" y="35477"/>
                    <a:pt x="1414943" y="54259"/>
                    <a:pt x="1414943" y="73844"/>
                  </a:cubicBezTo>
                  <a:lnTo>
                    <a:pt x="1414943" y="206982"/>
                  </a:lnTo>
                  <a:cubicBezTo>
                    <a:pt x="1414943" y="247765"/>
                    <a:pt x="1381882" y="280825"/>
                    <a:pt x="1341099" y="280825"/>
                  </a:cubicBezTo>
                  <a:lnTo>
                    <a:pt x="73844" y="280825"/>
                  </a:lnTo>
                  <a:cubicBezTo>
                    <a:pt x="33061" y="280825"/>
                    <a:pt x="0" y="247765"/>
                    <a:pt x="0" y="206982"/>
                  </a:cubicBezTo>
                  <a:lnTo>
                    <a:pt x="0" y="73844"/>
                  </a:lnTo>
                  <a:cubicBezTo>
                    <a:pt x="0" y="33061"/>
                    <a:pt x="33061" y="0"/>
                    <a:pt x="73844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414943" cy="33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Terceros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60533" y="7079414"/>
            <a:ext cx="3145264" cy="1806766"/>
            <a:chOff x="0" y="0"/>
            <a:chExt cx="1414943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14943" cy="812800"/>
            </a:xfrm>
            <a:custGeom>
              <a:avLst/>
              <a:gdLst/>
              <a:ahLst/>
              <a:cxnLst/>
              <a:rect r="r" b="b" t="t" l="l"/>
              <a:pathLst>
                <a:path h="812800" w="1414943">
                  <a:moveTo>
                    <a:pt x="73844" y="0"/>
                  </a:moveTo>
                  <a:lnTo>
                    <a:pt x="1341099" y="0"/>
                  </a:lnTo>
                  <a:cubicBezTo>
                    <a:pt x="1360684" y="0"/>
                    <a:pt x="1379466" y="7780"/>
                    <a:pt x="1393315" y="21628"/>
                  </a:cubicBezTo>
                  <a:cubicBezTo>
                    <a:pt x="1407163" y="35477"/>
                    <a:pt x="1414943" y="54259"/>
                    <a:pt x="1414943" y="73844"/>
                  </a:cubicBezTo>
                  <a:lnTo>
                    <a:pt x="1414943" y="738956"/>
                  </a:lnTo>
                  <a:cubicBezTo>
                    <a:pt x="1414943" y="779739"/>
                    <a:pt x="1381882" y="812800"/>
                    <a:pt x="1341099" y="812800"/>
                  </a:cubicBezTo>
                  <a:lnTo>
                    <a:pt x="73844" y="812800"/>
                  </a:lnTo>
                  <a:cubicBezTo>
                    <a:pt x="33061" y="812800"/>
                    <a:pt x="0" y="779739"/>
                    <a:pt x="0" y="738956"/>
                  </a:cubicBezTo>
                  <a:lnTo>
                    <a:pt x="0" y="73844"/>
                  </a:lnTo>
                  <a:cubicBezTo>
                    <a:pt x="0" y="33061"/>
                    <a:pt x="33061" y="0"/>
                    <a:pt x="73844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41494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460533" y="9161004"/>
            <a:ext cx="3145264" cy="624244"/>
            <a:chOff x="0" y="0"/>
            <a:chExt cx="1414943" cy="2808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14943" cy="280825"/>
            </a:xfrm>
            <a:custGeom>
              <a:avLst/>
              <a:gdLst/>
              <a:ahLst/>
              <a:cxnLst/>
              <a:rect r="r" b="b" t="t" l="l"/>
              <a:pathLst>
                <a:path h="280825" w="1414943">
                  <a:moveTo>
                    <a:pt x="73844" y="0"/>
                  </a:moveTo>
                  <a:lnTo>
                    <a:pt x="1341099" y="0"/>
                  </a:lnTo>
                  <a:cubicBezTo>
                    <a:pt x="1360684" y="0"/>
                    <a:pt x="1379466" y="7780"/>
                    <a:pt x="1393315" y="21628"/>
                  </a:cubicBezTo>
                  <a:cubicBezTo>
                    <a:pt x="1407163" y="35477"/>
                    <a:pt x="1414943" y="54259"/>
                    <a:pt x="1414943" y="73844"/>
                  </a:cubicBezTo>
                  <a:lnTo>
                    <a:pt x="1414943" y="206982"/>
                  </a:lnTo>
                  <a:cubicBezTo>
                    <a:pt x="1414943" y="247765"/>
                    <a:pt x="1381882" y="280825"/>
                    <a:pt x="1341099" y="280825"/>
                  </a:cubicBezTo>
                  <a:lnTo>
                    <a:pt x="73844" y="280825"/>
                  </a:lnTo>
                  <a:cubicBezTo>
                    <a:pt x="33061" y="280825"/>
                    <a:pt x="0" y="247765"/>
                    <a:pt x="0" y="206982"/>
                  </a:cubicBezTo>
                  <a:lnTo>
                    <a:pt x="0" y="73844"/>
                  </a:lnTo>
                  <a:cubicBezTo>
                    <a:pt x="0" y="33061"/>
                    <a:pt x="33061" y="0"/>
                    <a:pt x="73844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414943" cy="33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Segundos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29923" y="7090622"/>
            <a:ext cx="3144041" cy="1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spc="-37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Fabricantes, manipuladores, distribuidores y comerciantes.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461756" y="7090622"/>
            <a:ext cx="3144041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spc="-38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Autoridades competentes (control y vigilancia).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186144" y="7731972"/>
            <a:ext cx="301155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Consumidores.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064995" y="45276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9270" y="425618"/>
            <a:ext cx="8949525" cy="1316455"/>
            <a:chOff x="0" y="0"/>
            <a:chExt cx="2534295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34295" cy="372789"/>
            </a:xfrm>
            <a:custGeom>
              <a:avLst/>
              <a:gdLst/>
              <a:ahLst/>
              <a:cxnLst/>
              <a:rect r="r" b="b" t="t" l="l"/>
              <a:pathLst>
                <a:path h="372789" w="2534295">
                  <a:moveTo>
                    <a:pt x="44118" y="0"/>
                  </a:moveTo>
                  <a:lnTo>
                    <a:pt x="2490177" y="0"/>
                  </a:lnTo>
                  <a:cubicBezTo>
                    <a:pt x="2514543" y="0"/>
                    <a:pt x="2534295" y="19752"/>
                    <a:pt x="2534295" y="44118"/>
                  </a:cubicBezTo>
                  <a:lnTo>
                    <a:pt x="2534295" y="328671"/>
                  </a:lnTo>
                  <a:cubicBezTo>
                    <a:pt x="2534295" y="353037"/>
                    <a:pt x="2514543" y="372789"/>
                    <a:pt x="2490177" y="372789"/>
                  </a:cubicBezTo>
                  <a:lnTo>
                    <a:pt x="44118" y="372789"/>
                  </a:lnTo>
                  <a:cubicBezTo>
                    <a:pt x="19752" y="372789"/>
                    <a:pt x="0" y="353037"/>
                    <a:pt x="0" y="328671"/>
                  </a:cubicBezTo>
                  <a:lnTo>
                    <a:pt x="0" y="44118"/>
                  </a:lnTo>
                  <a:cubicBezTo>
                    <a:pt x="0" y="19752"/>
                    <a:pt x="19752" y="0"/>
                    <a:pt x="44118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295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8743715" cy="1087855"/>
            <a:chOff x="0" y="0"/>
            <a:chExt cx="2476015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6015" cy="308055"/>
            </a:xfrm>
            <a:custGeom>
              <a:avLst/>
              <a:gdLst/>
              <a:ahLst/>
              <a:cxnLst/>
              <a:rect r="r" b="b" t="t" l="l"/>
              <a:pathLst>
                <a:path h="308055" w="2476015">
                  <a:moveTo>
                    <a:pt x="45157" y="0"/>
                  </a:moveTo>
                  <a:lnTo>
                    <a:pt x="2430858" y="0"/>
                  </a:lnTo>
                  <a:cubicBezTo>
                    <a:pt x="2455797" y="0"/>
                    <a:pt x="2476015" y="20217"/>
                    <a:pt x="2476015" y="45157"/>
                  </a:cubicBezTo>
                  <a:lnTo>
                    <a:pt x="2476015" y="262898"/>
                  </a:lnTo>
                  <a:cubicBezTo>
                    <a:pt x="2476015" y="274875"/>
                    <a:pt x="2471257" y="286360"/>
                    <a:pt x="2462789" y="294829"/>
                  </a:cubicBezTo>
                  <a:cubicBezTo>
                    <a:pt x="2454320" y="303297"/>
                    <a:pt x="2442834" y="308055"/>
                    <a:pt x="2430858" y="308055"/>
                  </a:cubicBezTo>
                  <a:lnTo>
                    <a:pt x="45157" y="308055"/>
                  </a:lnTo>
                  <a:cubicBezTo>
                    <a:pt x="20217" y="308055"/>
                    <a:pt x="0" y="287838"/>
                    <a:pt x="0" y="262898"/>
                  </a:cubicBezTo>
                  <a:lnTo>
                    <a:pt x="0" y="45157"/>
                  </a:lnTo>
                  <a:cubicBezTo>
                    <a:pt x="0" y="33180"/>
                    <a:pt x="4758" y="21695"/>
                    <a:pt x="13226" y="13226"/>
                  </a:cubicBezTo>
                  <a:cubicBezTo>
                    <a:pt x="21695" y="4758"/>
                    <a:pt x="33180" y="0"/>
                    <a:pt x="4515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76015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094" y="4192965"/>
            <a:ext cx="3529289" cy="2043094"/>
            <a:chOff x="0" y="0"/>
            <a:chExt cx="1587702" cy="919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2094" y="2200409"/>
            <a:ext cx="9841764" cy="489423"/>
            <a:chOff x="0" y="0"/>
            <a:chExt cx="4427460" cy="2201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27460" cy="220174"/>
            </a:xfrm>
            <a:custGeom>
              <a:avLst/>
              <a:gdLst/>
              <a:ahLst/>
              <a:cxnLst/>
              <a:rect r="r" b="b" t="t" l="l"/>
              <a:pathLst>
                <a:path h="220174" w="4427460">
                  <a:moveTo>
                    <a:pt x="23599" y="0"/>
                  </a:moveTo>
                  <a:lnTo>
                    <a:pt x="4403861" y="0"/>
                  </a:lnTo>
                  <a:cubicBezTo>
                    <a:pt x="4416895" y="0"/>
                    <a:pt x="4427460" y="10566"/>
                    <a:pt x="4427460" y="23599"/>
                  </a:cubicBezTo>
                  <a:lnTo>
                    <a:pt x="4427460" y="196575"/>
                  </a:lnTo>
                  <a:cubicBezTo>
                    <a:pt x="4427460" y="209608"/>
                    <a:pt x="4416895" y="220174"/>
                    <a:pt x="4403861" y="220174"/>
                  </a:cubicBezTo>
                  <a:lnTo>
                    <a:pt x="23599" y="220174"/>
                  </a:lnTo>
                  <a:cubicBezTo>
                    <a:pt x="10566" y="220174"/>
                    <a:pt x="0" y="209608"/>
                    <a:pt x="0" y="196575"/>
                  </a:cubicBezTo>
                  <a:lnTo>
                    <a:pt x="0" y="23599"/>
                  </a:lnTo>
                  <a:cubicBezTo>
                    <a:pt x="0" y="10566"/>
                    <a:pt x="10566" y="0"/>
                    <a:pt x="23599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27460" cy="258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54560" y="376773"/>
            <a:ext cx="7660197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Inocuidad de alimentos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397" y="2121507"/>
            <a:ext cx="9705159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-52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5 Claves para la Inocuidad de los Alimentos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311053" y="4221343"/>
            <a:ext cx="3529289" cy="2043094"/>
            <a:chOff x="0" y="0"/>
            <a:chExt cx="1587702" cy="9191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30011" y="4221343"/>
            <a:ext cx="3529289" cy="2014716"/>
            <a:chOff x="0" y="0"/>
            <a:chExt cx="1587702" cy="9063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7702" cy="906349"/>
            </a:xfrm>
            <a:custGeom>
              <a:avLst/>
              <a:gdLst/>
              <a:ahLst/>
              <a:cxnLst/>
              <a:rect r="r" b="b" t="t" l="l"/>
              <a:pathLst>
                <a:path h="906349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41333"/>
                  </a:lnTo>
                  <a:cubicBezTo>
                    <a:pt x="1587702" y="858577"/>
                    <a:pt x="1580852" y="875114"/>
                    <a:pt x="1568659" y="887306"/>
                  </a:cubicBezTo>
                  <a:cubicBezTo>
                    <a:pt x="1556466" y="899499"/>
                    <a:pt x="1539929" y="906349"/>
                    <a:pt x="1522686" y="906349"/>
                  </a:cubicBezTo>
                  <a:lnTo>
                    <a:pt x="65016" y="906349"/>
                  </a:lnTo>
                  <a:cubicBezTo>
                    <a:pt x="47772" y="906349"/>
                    <a:pt x="31235" y="899499"/>
                    <a:pt x="19043" y="887306"/>
                  </a:cubicBezTo>
                  <a:cubicBezTo>
                    <a:pt x="6850" y="875114"/>
                    <a:pt x="0" y="858577"/>
                    <a:pt x="0" y="841333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87702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048332" y="7703482"/>
            <a:ext cx="3529289" cy="2014716"/>
            <a:chOff x="0" y="0"/>
            <a:chExt cx="1587702" cy="9063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7702" cy="906349"/>
            </a:xfrm>
            <a:custGeom>
              <a:avLst/>
              <a:gdLst/>
              <a:ahLst/>
              <a:cxnLst/>
              <a:rect r="r" b="b" t="t" l="l"/>
              <a:pathLst>
                <a:path h="906349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41333"/>
                  </a:lnTo>
                  <a:cubicBezTo>
                    <a:pt x="1587702" y="858577"/>
                    <a:pt x="1580852" y="875114"/>
                    <a:pt x="1568659" y="887306"/>
                  </a:cubicBezTo>
                  <a:cubicBezTo>
                    <a:pt x="1556466" y="899499"/>
                    <a:pt x="1539929" y="906349"/>
                    <a:pt x="1522686" y="906349"/>
                  </a:cubicBezTo>
                  <a:lnTo>
                    <a:pt x="65016" y="906349"/>
                  </a:lnTo>
                  <a:cubicBezTo>
                    <a:pt x="47772" y="906349"/>
                    <a:pt x="31235" y="899499"/>
                    <a:pt x="19043" y="887306"/>
                  </a:cubicBezTo>
                  <a:cubicBezTo>
                    <a:pt x="6850" y="875114"/>
                    <a:pt x="0" y="858577"/>
                    <a:pt x="0" y="841333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87702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56882" y="4582795"/>
            <a:ext cx="3399714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-4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Mantener la higiene sanitaria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75840" y="4424912"/>
            <a:ext cx="3399714" cy="160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-4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Evitar la contaminación cruzada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94799" y="4667996"/>
            <a:ext cx="3399714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-4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Cocción adecuada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13120" y="8150135"/>
            <a:ext cx="3399714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-4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Temperatura de seguridad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775554" y="7675104"/>
            <a:ext cx="3529289" cy="2043094"/>
            <a:chOff x="0" y="0"/>
            <a:chExt cx="1587702" cy="9191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40342" y="8135946"/>
            <a:ext cx="3399714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-4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Use agua y materias primas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7580" y="73120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3</a:t>
            </a:r>
          </a:p>
        </p:txBody>
      </p:sp>
      <p:sp>
        <p:nvSpPr>
          <p:cNvPr name="AutoShape 34" id="34"/>
          <p:cNvSpPr/>
          <p:nvPr/>
        </p:nvSpPr>
        <p:spPr>
          <a:xfrm flipV="true">
            <a:off x="10807948" y="5175613"/>
            <a:ext cx="2922063" cy="579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4700447" y="5143500"/>
            <a:ext cx="2675015" cy="610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5812977" y="5257079"/>
            <a:ext cx="0" cy="24464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2540198" y="5204585"/>
            <a:ext cx="0" cy="247051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9270" y="425618"/>
            <a:ext cx="9196573" cy="1316455"/>
            <a:chOff x="0" y="0"/>
            <a:chExt cx="2604254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4254" cy="372789"/>
            </a:xfrm>
            <a:custGeom>
              <a:avLst/>
              <a:gdLst/>
              <a:ahLst/>
              <a:cxnLst/>
              <a:rect r="r" b="b" t="t" l="l"/>
              <a:pathLst>
                <a:path h="372789" w="2604254">
                  <a:moveTo>
                    <a:pt x="42933" y="0"/>
                  </a:moveTo>
                  <a:lnTo>
                    <a:pt x="2561320" y="0"/>
                  </a:lnTo>
                  <a:cubicBezTo>
                    <a:pt x="2585032" y="0"/>
                    <a:pt x="2604254" y="19222"/>
                    <a:pt x="2604254" y="42933"/>
                  </a:cubicBezTo>
                  <a:lnTo>
                    <a:pt x="2604254" y="329856"/>
                  </a:lnTo>
                  <a:cubicBezTo>
                    <a:pt x="2604254" y="353567"/>
                    <a:pt x="2585032" y="372789"/>
                    <a:pt x="2561320" y="372789"/>
                  </a:cubicBezTo>
                  <a:lnTo>
                    <a:pt x="42933" y="372789"/>
                  </a:lnTo>
                  <a:cubicBezTo>
                    <a:pt x="31547" y="372789"/>
                    <a:pt x="20626" y="368266"/>
                    <a:pt x="12575" y="360214"/>
                  </a:cubicBezTo>
                  <a:cubicBezTo>
                    <a:pt x="4523" y="352163"/>
                    <a:pt x="0" y="341243"/>
                    <a:pt x="0" y="329856"/>
                  </a:cubicBezTo>
                  <a:lnTo>
                    <a:pt x="0" y="42933"/>
                  </a:lnTo>
                  <a:cubicBezTo>
                    <a:pt x="0" y="19222"/>
                    <a:pt x="19222" y="0"/>
                    <a:pt x="42933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4254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9045994" cy="1087855"/>
            <a:chOff x="0" y="0"/>
            <a:chExt cx="2561613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1613" cy="308055"/>
            </a:xfrm>
            <a:custGeom>
              <a:avLst/>
              <a:gdLst/>
              <a:ahLst/>
              <a:cxnLst/>
              <a:rect r="r" b="b" t="t" l="l"/>
              <a:pathLst>
                <a:path h="308055" w="2561613">
                  <a:moveTo>
                    <a:pt x="43648" y="0"/>
                  </a:moveTo>
                  <a:lnTo>
                    <a:pt x="2517965" y="0"/>
                  </a:lnTo>
                  <a:cubicBezTo>
                    <a:pt x="2529542" y="0"/>
                    <a:pt x="2540644" y="4599"/>
                    <a:pt x="2548829" y="12784"/>
                  </a:cubicBezTo>
                  <a:cubicBezTo>
                    <a:pt x="2557015" y="20970"/>
                    <a:pt x="2561613" y="32072"/>
                    <a:pt x="2561613" y="43648"/>
                  </a:cubicBezTo>
                  <a:lnTo>
                    <a:pt x="2561613" y="264407"/>
                  </a:lnTo>
                  <a:cubicBezTo>
                    <a:pt x="2561613" y="275983"/>
                    <a:pt x="2557015" y="287085"/>
                    <a:pt x="2548829" y="295271"/>
                  </a:cubicBezTo>
                  <a:cubicBezTo>
                    <a:pt x="2540644" y="303456"/>
                    <a:pt x="2529542" y="308055"/>
                    <a:pt x="2517965" y="308055"/>
                  </a:cubicBezTo>
                  <a:lnTo>
                    <a:pt x="43648" y="308055"/>
                  </a:lnTo>
                  <a:cubicBezTo>
                    <a:pt x="32072" y="308055"/>
                    <a:pt x="20970" y="303456"/>
                    <a:pt x="12784" y="295271"/>
                  </a:cubicBezTo>
                  <a:cubicBezTo>
                    <a:pt x="4599" y="287085"/>
                    <a:pt x="0" y="275983"/>
                    <a:pt x="0" y="264407"/>
                  </a:cubicBezTo>
                  <a:lnTo>
                    <a:pt x="0" y="43648"/>
                  </a:lnTo>
                  <a:cubicBezTo>
                    <a:pt x="0" y="32072"/>
                    <a:pt x="4599" y="20970"/>
                    <a:pt x="12784" y="12784"/>
                  </a:cubicBezTo>
                  <a:cubicBezTo>
                    <a:pt x="20970" y="4599"/>
                    <a:pt x="32072" y="0"/>
                    <a:pt x="43648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61613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83688" y="3958341"/>
            <a:ext cx="3529289" cy="2043094"/>
            <a:chOff x="0" y="0"/>
            <a:chExt cx="1587702" cy="919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073365" y="534988"/>
            <a:ext cx="8524866" cy="87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Peligros que afectan la inocuidad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81858" y="3944152"/>
            <a:ext cx="3529289" cy="2043094"/>
            <a:chOff x="0" y="0"/>
            <a:chExt cx="1587702" cy="9191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23771" y="4147721"/>
            <a:ext cx="3399714" cy="160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-4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Objetos extraños que causan lesiones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46645" y="4404994"/>
            <a:ext cx="3399714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-4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Sustancias tóxicas en los alimentos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7580" y="73120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3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5812977" y="4965699"/>
            <a:ext cx="6568881" cy="141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2283688" y="7215206"/>
            <a:ext cx="3529289" cy="2043094"/>
            <a:chOff x="0" y="0"/>
            <a:chExt cx="1587702" cy="9191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81858" y="7201017"/>
            <a:ext cx="3529289" cy="2043094"/>
            <a:chOff x="0" y="0"/>
            <a:chExt cx="1587702" cy="9191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348475" y="7187733"/>
            <a:ext cx="3399714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spc="-4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Alérgenos no declarados que provocan reacciones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46645" y="7404586"/>
            <a:ext cx="3399714" cy="160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spc="-4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Microorganismos que causan enfermedades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5812977" y="8222564"/>
            <a:ext cx="6568881" cy="141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2317839" y="3149719"/>
            <a:ext cx="3460986" cy="626986"/>
            <a:chOff x="0" y="0"/>
            <a:chExt cx="1556975" cy="2820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56975" cy="282059"/>
            </a:xfrm>
            <a:custGeom>
              <a:avLst/>
              <a:gdLst/>
              <a:ahLst/>
              <a:cxnLst/>
              <a:rect r="r" b="b" t="t" l="l"/>
              <a:pathLst>
                <a:path h="282059" w="1556975">
                  <a:moveTo>
                    <a:pt x="67107" y="0"/>
                  </a:moveTo>
                  <a:lnTo>
                    <a:pt x="1489867" y="0"/>
                  </a:lnTo>
                  <a:cubicBezTo>
                    <a:pt x="1507665" y="0"/>
                    <a:pt x="1524734" y="7070"/>
                    <a:pt x="1537319" y="19655"/>
                  </a:cubicBezTo>
                  <a:cubicBezTo>
                    <a:pt x="1549905" y="32240"/>
                    <a:pt x="1556975" y="49309"/>
                    <a:pt x="1556975" y="67107"/>
                  </a:cubicBezTo>
                  <a:lnTo>
                    <a:pt x="1556975" y="214952"/>
                  </a:lnTo>
                  <a:cubicBezTo>
                    <a:pt x="1556975" y="232750"/>
                    <a:pt x="1549905" y="249819"/>
                    <a:pt x="1537319" y="262404"/>
                  </a:cubicBezTo>
                  <a:cubicBezTo>
                    <a:pt x="1524734" y="274989"/>
                    <a:pt x="1507665" y="282059"/>
                    <a:pt x="1489867" y="282059"/>
                  </a:cubicBezTo>
                  <a:lnTo>
                    <a:pt x="67107" y="282059"/>
                  </a:lnTo>
                  <a:cubicBezTo>
                    <a:pt x="49309" y="282059"/>
                    <a:pt x="32240" y="274989"/>
                    <a:pt x="19655" y="262404"/>
                  </a:cubicBezTo>
                  <a:cubicBezTo>
                    <a:pt x="7070" y="249819"/>
                    <a:pt x="0" y="232750"/>
                    <a:pt x="0" y="214952"/>
                  </a:cubicBezTo>
                  <a:lnTo>
                    <a:pt x="0" y="67107"/>
                  </a:lnTo>
                  <a:cubicBezTo>
                    <a:pt x="0" y="49309"/>
                    <a:pt x="7070" y="32240"/>
                    <a:pt x="19655" y="19655"/>
                  </a:cubicBezTo>
                  <a:cubicBezTo>
                    <a:pt x="32240" y="7070"/>
                    <a:pt x="49309" y="0"/>
                    <a:pt x="6710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556975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520213" y="3120947"/>
            <a:ext cx="300683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Peligros Físicos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416009" y="3149719"/>
            <a:ext cx="3460986" cy="626986"/>
            <a:chOff x="0" y="0"/>
            <a:chExt cx="1556975" cy="2820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56975" cy="282059"/>
            </a:xfrm>
            <a:custGeom>
              <a:avLst/>
              <a:gdLst/>
              <a:ahLst/>
              <a:cxnLst/>
              <a:rect r="r" b="b" t="t" l="l"/>
              <a:pathLst>
                <a:path h="282059" w="1556975">
                  <a:moveTo>
                    <a:pt x="67107" y="0"/>
                  </a:moveTo>
                  <a:lnTo>
                    <a:pt x="1489867" y="0"/>
                  </a:lnTo>
                  <a:cubicBezTo>
                    <a:pt x="1507665" y="0"/>
                    <a:pt x="1524734" y="7070"/>
                    <a:pt x="1537319" y="19655"/>
                  </a:cubicBezTo>
                  <a:cubicBezTo>
                    <a:pt x="1549905" y="32240"/>
                    <a:pt x="1556975" y="49309"/>
                    <a:pt x="1556975" y="67107"/>
                  </a:cubicBezTo>
                  <a:lnTo>
                    <a:pt x="1556975" y="214952"/>
                  </a:lnTo>
                  <a:cubicBezTo>
                    <a:pt x="1556975" y="232750"/>
                    <a:pt x="1549905" y="249819"/>
                    <a:pt x="1537319" y="262404"/>
                  </a:cubicBezTo>
                  <a:cubicBezTo>
                    <a:pt x="1524734" y="274989"/>
                    <a:pt x="1507665" y="282059"/>
                    <a:pt x="1489867" y="282059"/>
                  </a:cubicBezTo>
                  <a:lnTo>
                    <a:pt x="67107" y="282059"/>
                  </a:lnTo>
                  <a:cubicBezTo>
                    <a:pt x="49309" y="282059"/>
                    <a:pt x="32240" y="274989"/>
                    <a:pt x="19655" y="262404"/>
                  </a:cubicBezTo>
                  <a:cubicBezTo>
                    <a:pt x="7070" y="249819"/>
                    <a:pt x="0" y="232750"/>
                    <a:pt x="0" y="214952"/>
                  </a:cubicBezTo>
                  <a:lnTo>
                    <a:pt x="0" y="67107"/>
                  </a:lnTo>
                  <a:cubicBezTo>
                    <a:pt x="0" y="49309"/>
                    <a:pt x="7070" y="32240"/>
                    <a:pt x="19655" y="19655"/>
                  </a:cubicBezTo>
                  <a:cubicBezTo>
                    <a:pt x="32240" y="7070"/>
                    <a:pt x="49309" y="0"/>
                    <a:pt x="6710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556975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532514" y="3193973"/>
            <a:ext cx="322797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spc="-42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Peligros Químicos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166784" y="6430060"/>
            <a:ext cx="3806853" cy="626986"/>
            <a:chOff x="0" y="0"/>
            <a:chExt cx="1712568" cy="28205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12568" cy="282059"/>
            </a:xfrm>
            <a:custGeom>
              <a:avLst/>
              <a:gdLst/>
              <a:ahLst/>
              <a:cxnLst/>
              <a:rect r="r" b="b" t="t" l="l"/>
              <a:pathLst>
                <a:path h="282059" w="1712568">
                  <a:moveTo>
                    <a:pt x="61010" y="0"/>
                  </a:moveTo>
                  <a:lnTo>
                    <a:pt x="1651558" y="0"/>
                  </a:lnTo>
                  <a:cubicBezTo>
                    <a:pt x="1667739" y="0"/>
                    <a:pt x="1683257" y="6428"/>
                    <a:pt x="1694699" y="17870"/>
                  </a:cubicBezTo>
                  <a:cubicBezTo>
                    <a:pt x="1706140" y="29311"/>
                    <a:pt x="1712568" y="44829"/>
                    <a:pt x="1712568" y="61010"/>
                  </a:cubicBezTo>
                  <a:lnTo>
                    <a:pt x="1712568" y="221049"/>
                  </a:lnTo>
                  <a:cubicBezTo>
                    <a:pt x="1712568" y="237229"/>
                    <a:pt x="1706140" y="252748"/>
                    <a:pt x="1694699" y="264189"/>
                  </a:cubicBezTo>
                  <a:cubicBezTo>
                    <a:pt x="1683257" y="275631"/>
                    <a:pt x="1667739" y="282059"/>
                    <a:pt x="1651558" y="282059"/>
                  </a:cubicBezTo>
                  <a:lnTo>
                    <a:pt x="61010" y="282059"/>
                  </a:lnTo>
                  <a:cubicBezTo>
                    <a:pt x="44829" y="282059"/>
                    <a:pt x="29311" y="275631"/>
                    <a:pt x="17870" y="264189"/>
                  </a:cubicBezTo>
                  <a:cubicBezTo>
                    <a:pt x="6428" y="252748"/>
                    <a:pt x="0" y="237229"/>
                    <a:pt x="0" y="221049"/>
                  </a:cubicBezTo>
                  <a:lnTo>
                    <a:pt x="0" y="61010"/>
                  </a:lnTo>
                  <a:cubicBezTo>
                    <a:pt x="0" y="44829"/>
                    <a:pt x="6428" y="29311"/>
                    <a:pt x="17870" y="17870"/>
                  </a:cubicBezTo>
                  <a:cubicBezTo>
                    <a:pt x="29311" y="6428"/>
                    <a:pt x="44829" y="0"/>
                    <a:pt x="61010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712568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223822" y="6508604"/>
            <a:ext cx="369277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 spc="-4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Peligros Alergénicos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462592" y="6430060"/>
            <a:ext cx="3460986" cy="626986"/>
            <a:chOff x="0" y="0"/>
            <a:chExt cx="1556975" cy="2820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6975" cy="282059"/>
            </a:xfrm>
            <a:custGeom>
              <a:avLst/>
              <a:gdLst/>
              <a:ahLst/>
              <a:cxnLst/>
              <a:rect r="r" b="b" t="t" l="l"/>
              <a:pathLst>
                <a:path h="282059" w="1556975">
                  <a:moveTo>
                    <a:pt x="67107" y="0"/>
                  </a:moveTo>
                  <a:lnTo>
                    <a:pt x="1489867" y="0"/>
                  </a:lnTo>
                  <a:cubicBezTo>
                    <a:pt x="1507665" y="0"/>
                    <a:pt x="1524734" y="7070"/>
                    <a:pt x="1537319" y="19655"/>
                  </a:cubicBezTo>
                  <a:cubicBezTo>
                    <a:pt x="1549905" y="32240"/>
                    <a:pt x="1556975" y="49309"/>
                    <a:pt x="1556975" y="67107"/>
                  </a:cubicBezTo>
                  <a:lnTo>
                    <a:pt x="1556975" y="214952"/>
                  </a:lnTo>
                  <a:cubicBezTo>
                    <a:pt x="1556975" y="232750"/>
                    <a:pt x="1549905" y="249819"/>
                    <a:pt x="1537319" y="262404"/>
                  </a:cubicBezTo>
                  <a:cubicBezTo>
                    <a:pt x="1524734" y="274989"/>
                    <a:pt x="1507665" y="282059"/>
                    <a:pt x="1489867" y="282059"/>
                  </a:cubicBezTo>
                  <a:lnTo>
                    <a:pt x="67107" y="282059"/>
                  </a:lnTo>
                  <a:cubicBezTo>
                    <a:pt x="49309" y="282059"/>
                    <a:pt x="32240" y="274989"/>
                    <a:pt x="19655" y="262404"/>
                  </a:cubicBezTo>
                  <a:cubicBezTo>
                    <a:pt x="7070" y="249819"/>
                    <a:pt x="0" y="232750"/>
                    <a:pt x="0" y="214952"/>
                  </a:cubicBezTo>
                  <a:lnTo>
                    <a:pt x="0" y="67107"/>
                  </a:lnTo>
                  <a:cubicBezTo>
                    <a:pt x="0" y="49309"/>
                    <a:pt x="7070" y="32240"/>
                    <a:pt x="19655" y="19655"/>
                  </a:cubicBezTo>
                  <a:cubicBezTo>
                    <a:pt x="32240" y="7070"/>
                    <a:pt x="49309" y="0"/>
                    <a:pt x="6710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556975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579096" y="6483838"/>
            <a:ext cx="32279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 spc="-4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Peligros Biológicos</a:t>
            </a:r>
          </a:p>
        </p:txBody>
      </p:sp>
      <p:sp>
        <p:nvSpPr>
          <p:cNvPr name="AutoShape 44" id="44"/>
          <p:cNvSpPr/>
          <p:nvPr/>
        </p:nvSpPr>
        <p:spPr>
          <a:xfrm flipH="true">
            <a:off x="9144000" y="4965699"/>
            <a:ext cx="0" cy="32568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9270" y="425618"/>
            <a:ext cx="12704924" cy="1316455"/>
            <a:chOff x="0" y="0"/>
            <a:chExt cx="3597736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97736" cy="372789"/>
            </a:xfrm>
            <a:custGeom>
              <a:avLst/>
              <a:gdLst/>
              <a:ahLst/>
              <a:cxnLst/>
              <a:rect r="r" b="b" t="t" l="l"/>
              <a:pathLst>
                <a:path h="372789" w="3597736">
                  <a:moveTo>
                    <a:pt x="31078" y="0"/>
                  </a:moveTo>
                  <a:lnTo>
                    <a:pt x="3566659" y="0"/>
                  </a:lnTo>
                  <a:cubicBezTo>
                    <a:pt x="3574901" y="0"/>
                    <a:pt x="3582806" y="3274"/>
                    <a:pt x="3588634" y="9102"/>
                  </a:cubicBezTo>
                  <a:cubicBezTo>
                    <a:pt x="3594462" y="14931"/>
                    <a:pt x="3597736" y="22835"/>
                    <a:pt x="3597736" y="31078"/>
                  </a:cubicBezTo>
                  <a:lnTo>
                    <a:pt x="3597736" y="341712"/>
                  </a:lnTo>
                  <a:cubicBezTo>
                    <a:pt x="3597736" y="358875"/>
                    <a:pt x="3583822" y="372789"/>
                    <a:pt x="3566659" y="372789"/>
                  </a:cubicBezTo>
                  <a:lnTo>
                    <a:pt x="31078" y="372789"/>
                  </a:lnTo>
                  <a:cubicBezTo>
                    <a:pt x="22835" y="372789"/>
                    <a:pt x="14931" y="369515"/>
                    <a:pt x="9102" y="363687"/>
                  </a:cubicBezTo>
                  <a:cubicBezTo>
                    <a:pt x="3274" y="357859"/>
                    <a:pt x="0" y="349954"/>
                    <a:pt x="0" y="341712"/>
                  </a:cubicBezTo>
                  <a:lnTo>
                    <a:pt x="0" y="31078"/>
                  </a:lnTo>
                  <a:cubicBezTo>
                    <a:pt x="0" y="22835"/>
                    <a:pt x="3274" y="14931"/>
                    <a:pt x="9102" y="9102"/>
                  </a:cubicBezTo>
                  <a:cubicBezTo>
                    <a:pt x="14931" y="3274"/>
                    <a:pt x="22835" y="0"/>
                    <a:pt x="31078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97736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12662399" cy="1087855"/>
            <a:chOff x="0" y="0"/>
            <a:chExt cx="3585694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5694" cy="308055"/>
            </a:xfrm>
            <a:custGeom>
              <a:avLst/>
              <a:gdLst/>
              <a:ahLst/>
              <a:cxnLst/>
              <a:rect r="r" b="b" t="t" l="l"/>
              <a:pathLst>
                <a:path h="308055" w="3585694">
                  <a:moveTo>
                    <a:pt x="31182" y="0"/>
                  </a:moveTo>
                  <a:lnTo>
                    <a:pt x="3554512" y="0"/>
                  </a:lnTo>
                  <a:cubicBezTo>
                    <a:pt x="3562782" y="0"/>
                    <a:pt x="3570713" y="3285"/>
                    <a:pt x="3576561" y="9133"/>
                  </a:cubicBezTo>
                  <a:cubicBezTo>
                    <a:pt x="3582409" y="14981"/>
                    <a:pt x="3585694" y="22912"/>
                    <a:pt x="3585694" y="31182"/>
                  </a:cubicBezTo>
                  <a:lnTo>
                    <a:pt x="3585694" y="276873"/>
                  </a:lnTo>
                  <a:cubicBezTo>
                    <a:pt x="3585694" y="285143"/>
                    <a:pt x="3582409" y="293074"/>
                    <a:pt x="3576561" y="298922"/>
                  </a:cubicBezTo>
                  <a:cubicBezTo>
                    <a:pt x="3570713" y="304770"/>
                    <a:pt x="3562782" y="308055"/>
                    <a:pt x="3554512" y="308055"/>
                  </a:cubicBezTo>
                  <a:lnTo>
                    <a:pt x="31182" y="308055"/>
                  </a:lnTo>
                  <a:cubicBezTo>
                    <a:pt x="22912" y="308055"/>
                    <a:pt x="14981" y="304770"/>
                    <a:pt x="9133" y="298922"/>
                  </a:cubicBezTo>
                  <a:cubicBezTo>
                    <a:pt x="3285" y="293074"/>
                    <a:pt x="0" y="285143"/>
                    <a:pt x="0" y="276873"/>
                  </a:cubicBezTo>
                  <a:lnTo>
                    <a:pt x="0" y="31182"/>
                  </a:lnTo>
                  <a:cubicBezTo>
                    <a:pt x="0" y="22912"/>
                    <a:pt x="3285" y="14981"/>
                    <a:pt x="9133" y="9133"/>
                  </a:cubicBezTo>
                  <a:cubicBezTo>
                    <a:pt x="14981" y="3285"/>
                    <a:pt x="22912" y="0"/>
                    <a:pt x="31182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5694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094" y="4192965"/>
            <a:ext cx="3529289" cy="2043094"/>
            <a:chOff x="0" y="0"/>
            <a:chExt cx="1587702" cy="919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2094" y="2189533"/>
            <a:ext cx="2884764" cy="489423"/>
            <a:chOff x="0" y="0"/>
            <a:chExt cx="1297753" cy="2201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7753" cy="220174"/>
            </a:xfrm>
            <a:custGeom>
              <a:avLst/>
              <a:gdLst/>
              <a:ahLst/>
              <a:cxnLst/>
              <a:rect r="r" b="b" t="t" l="l"/>
              <a:pathLst>
                <a:path h="220174" w="1297753">
                  <a:moveTo>
                    <a:pt x="80512" y="0"/>
                  </a:moveTo>
                  <a:lnTo>
                    <a:pt x="1217241" y="0"/>
                  </a:lnTo>
                  <a:cubicBezTo>
                    <a:pt x="1238594" y="0"/>
                    <a:pt x="1259073" y="8482"/>
                    <a:pt x="1274171" y="23581"/>
                  </a:cubicBezTo>
                  <a:cubicBezTo>
                    <a:pt x="1289270" y="38680"/>
                    <a:pt x="1297753" y="59159"/>
                    <a:pt x="1297753" y="80512"/>
                  </a:cubicBezTo>
                  <a:lnTo>
                    <a:pt x="1297753" y="139662"/>
                  </a:lnTo>
                  <a:cubicBezTo>
                    <a:pt x="1297753" y="184128"/>
                    <a:pt x="1261707" y="220174"/>
                    <a:pt x="1217241" y="220174"/>
                  </a:cubicBezTo>
                  <a:lnTo>
                    <a:pt x="80512" y="220174"/>
                  </a:lnTo>
                  <a:cubicBezTo>
                    <a:pt x="59159" y="220174"/>
                    <a:pt x="38680" y="211692"/>
                    <a:pt x="23581" y="196593"/>
                  </a:cubicBezTo>
                  <a:cubicBezTo>
                    <a:pt x="8482" y="181494"/>
                    <a:pt x="0" y="161015"/>
                    <a:pt x="0" y="139662"/>
                  </a:cubicBezTo>
                  <a:lnTo>
                    <a:pt x="0" y="80512"/>
                  </a:lnTo>
                  <a:cubicBezTo>
                    <a:pt x="0" y="36046"/>
                    <a:pt x="36046" y="0"/>
                    <a:pt x="80512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7753" cy="258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397" y="3470882"/>
            <a:ext cx="3460986" cy="626986"/>
            <a:chOff x="0" y="0"/>
            <a:chExt cx="1556975" cy="2820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6975" cy="282059"/>
            </a:xfrm>
            <a:custGeom>
              <a:avLst/>
              <a:gdLst/>
              <a:ahLst/>
              <a:cxnLst/>
              <a:rect r="r" b="b" t="t" l="l"/>
              <a:pathLst>
                <a:path h="282059" w="1556975">
                  <a:moveTo>
                    <a:pt x="67107" y="0"/>
                  </a:moveTo>
                  <a:lnTo>
                    <a:pt x="1489867" y="0"/>
                  </a:lnTo>
                  <a:cubicBezTo>
                    <a:pt x="1507665" y="0"/>
                    <a:pt x="1524734" y="7070"/>
                    <a:pt x="1537319" y="19655"/>
                  </a:cubicBezTo>
                  <a:cubicBezTo>
                    <a:pt x="1549905" y="32240"/>
                    <a:pt x="1556975" y="49309"/>
                    <a:pt x="1556975" y="67107"/>
                  </a:cubicBezTo>
                  <a:lnTo>
                    <a:pt x="1556975" y="214952"/>
                  </a:lnTo>
                  <a:cubicBezTo>
                    <a:pt x="1556975" y="232750"/>
                    <a:pt x="1549905" y="249819"/>
                    <a:pt x="1537319" y="262404"/>
                  </a:cubicBezTo>
                  <a:cubicBezTo>
                    <a:pt x="1524734" y="274989"/>
                    <a:pt x="1507665" y="282059"/>
                    <a:pt x="1489867" y="282059"/>
                  </a:cubicBezTo>
                  <a:lnTo>
                    <a:pt x="67107" y="282059"/>
                  </a:lnTo>
                  <a:cubicBezTo>
                    <a:pt x="49309" y="282059"/>
                    <a:pt x="32240" y="274989"/>
                    <a:pt x="19655" y="262404"/>
                  </a:cubicBezTo>
                  <a:cubicBezTo>
                    <a:pt x="7070" y="249819"/>
                    <a:pt x="0" y="232750"/>
                    <a:pt x="0" y="214952"/>
                  </a:cubicBezTo>
                  <a:lnTo>
                    <a:pt x="0" y="67107"/>
                  </a:lnTo>
                  <a:cubicBezTo>
                    <a:pt x="0" y="49309"/>
                    <a:pt x="7070" y="32240"/>
                    <a:pt x="19655" y="19655"/>
                  </a:cubicBezTo>
                  <a:cubicBezTo>
                    <a:pt x="32240" y="7070"/>
                    <a:pt x="49309" y="0"/>
                    <a:pt x="6710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56975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84323" y="506999"/>
            <a:ext cx="14161638" cy="87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Legislación e Instituciones Sanitaras en el Perú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111982"/>
            <a:ext cx="2611553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-52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Base Legal: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40253" y="1852267"/>
            <a:ext cx="13619047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5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Ley de Inocuidad de los Alimentos (DL N° 1062) y Reglamento sobre Vigilancia y Control Sanitario (DS N° 007-98-SA).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5114" y="3432585"/>
            <a:ext cx="2611553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 spc="-56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DIGESA: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150686" y="4192965"/>
            <a:ext cx="3529289" cy="2043094"/>
            <a:chOff x="0" y="0"/>
            <a:chExt cx="1587702" cy="9191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50686" y="3470882"/>
            <a:ext cx="3460986" cy="626986"/>
            <a:chOff x="0" y="0"/>
            <a:chExt cx="1556975" cy="2820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6975" cy="282059"/>
            </a:xfrm>
            <a:custGeom>
              <a:avLst/>
              <a:gdLst/>
              <a:ahLst/>
              <a:cxnLst/>
              <a:rect r="r" b="b" t="t" l="l"/>
              <a:pathLst>
                <a:path h="282059" w="1556975">
                  <a:moveTo>
                    <a:pt x="67107" y="0"/>
                  </a:moveTo>
                  <a:lnTo>
                    <a:pt x="1489867" y="0"/>
                  </a:lnTo>
                  <a:cubicBezTo>
                    <a:pt x="1507665" y="0"/>
                    <a:pt x="1524734" y="7070"/>
                    <a:pt x="1537319" y="19655"/>
                  </a:cubicBezTo>
                  <a:cubicBezTo>
                    <a:pt x="1549905" y="32240"/>
                    <a:pt x="1556975" y="49309"/>
                    <a:pt x="1556975" y="67107"/>
                  </a:cubicBezTo>
                  <a:lnTo>
                    <a:pt x="1556975" y="214952"/>
                  </a:lnTo>
                  <a:cubicBezTo>
                    <a:pt x="1556975" y="232750"/>
                    <a:pt x="1549905" y="249819"/>
                    <a:pt x="1537319" y="262404"/>
                  </a:cubicBezTo>
                  <a:cubicBezTo>
                    <a:pt x="1524734" y="274989"/>
                    <a:pt x="1507665" y="282059"/>
                    <a:pt x="1489867" y="282059"/>
                  </a:cubicBezTo>
                  <a:lnTo>
                    <a:pt x="67107" y="282059"/>
                  </a:lnTo>
                  <a:cubicBezTo>
                    <a:pt x="49309" y="282059"/>
                    <a:pt x="32240" y="274989"/>
                    <a:pt x="19655" y="262404"/>
                  </a:cubicBezTo>
                  <a:cubicBezTo>
                    <a:pt x="7070" y="249819"/>
                    <a:pt x="0" y="232750"/>
                    <a:pt x="0" y="214952"/>
                  </a:cubicBezTo>
                  <a:lnTo>
                    <a:pt x="0" y="67107"/>
                  </a:lnTo>
                  <a:cubicBezTo>
                    <a:pt x="0" y="49309"/>
                    <a:pt x="7070" y="32240"/>
                    <a:pt x="19655" y="19655"/>
                  </a:cubicBezTo>
                  <a:cubicBezTo>
                    <a:pt x="32240" y="7070"/>
                    <a:pt x="49309" y="0"/>
                    <a:pt x="6710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556975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575403" y="3432585"/>
            <a:ext cx="2611553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 spc="-56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SENASA: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71420" y="4221343"/>
            <a:ext cx="3529289" cy="2014716"/>
            <a:chOff x="0" y="0"/>
            <a:chExt cx="1587702" cy="9063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87702" cy="906349"/>
            </a:xfrm>
            <a:custGeom>
              <a:avLst/>
              <a:gdLst/>
              <a:ahLst/>
              <a:cxnLst/>
              <a:rect r="r" b="b" t="t" l="l"/>
              <a:pathLst>
                <a:path h="906349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41333"/>
                  </a:lnTo>
                  <a:cubicBezTo>
                    <a:pt x="1587702" y="858577"/>
                    <a:pt x="1580852" y="875114"/>
                    <a:pt x="1568659" y="887306"/>
                  </a:cubicBezTo>
                  <a:cubicBezTo>
                    <a:pt x="1556466" y="899499"/>
                    <a:pt x="1539929" y="906349"/>
                    <a:pt x="1522686" y="906349"/>
                  </a:cubicBezTo>
                  <a:lnTo>
                    <a:pt x="65016" y="906349"/>
                  </a:lnTo>
                  <a:cubicBezTo>
                    <a:pt x="47772" y="906349"/>
                    <a:pt x="31235" y="899499"/>
                    <a:pt x="19043" y="887306"/>
                  </a:cubicBezTo>
                  <a:cubicBezTo>
                    <a:pt x="6850" y="875114"/>
                    <a:pt x="0" y="858577"/>
                    <a:pt x="0" y="841333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587702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39723" y="3499260"/>
            <a:ext cx="3460986" cy="626986"/>
            <a:chOff x="0" y="0"/>
            <a:chExt cx="1556975" cy="2820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56975" cy="282059"/>
            </a:xfrm>
            <a:custGeom>
              <a:avLst/>
              <a:gdLst/>
              <a:ahLst/>
              <a:cxnLst/>
              <a:rect r="r" b="b" t="t" l="l"/>
              <a:pathLst>
                <a:path h="282059" w="1556975">
                  <a:moveTo>
                    <a:pt x="67107" y="0"/>
                  </a:moveTo>
                  <a:lnTo>
                    <a:pt x="1489867" y="0"/>
                  </a:lnTo>
                  <a:cubicBezTo>
                    <a:pt x="1507665" y="0"/>
                    <a:pt x="1524734" y="7070"/>
                    <a:pt x="1537319" y="19655"/>
                  </a:cubicBezTo>
                  <a:cubicBezTo>
                    <a:pt x="1549905" y="32240"/>
                    <a:pt x="1556975" y="49309"/>
                    <a:pt x="1556975" y="67107"/>
                  </a:cubicBezTo>
                  <a:lnTo>
                    <a:pt x="1556975" y="214952"/>
                  </a:lnTo>
                  <a:cubicBezTo>
                    <a:pt x="1556975" y="232750"/>
                    <a:pt x="1549905" y="249819"/>
                    <a:pt x="1537319" y="262404"/>
                  </a:cubicBezTo>
                  <a:cubicBezTo>
                    <a:pt x="1524734" y="274989"/>
                    <a:pt x="1507665" y="282059"/>
                    <a:pt x="1489867" y="282059"/>
                  </a:cubicBezTo>
                  <a:lnTo>
                    <a:pt x="67107" y="282059"/>
                  </a:lnTo>
                  <a:cubicBezTo>
                    <a:pt x="49309" y="282059"/>
                    <a:pt x="32240" y="274989"/>
                    <a:pt x="19655" y="262404"/>
                  </a:cubicBezTo>
                  <a:cubicBezTo>
                    <a:pt x="7070" y="249819"/>
                    <a:pt x="0" y="232750"/>
                    <a:pt x="0" y="214952"/>
                  </a:cubicBezTo>
                  <a:lnTo>
                    <a:pt x="0" y="67107"/>
                  </a:lnTo>
                  <a:cubicBezTo>
                    <a:pt x="0" y="49309"/>
                    <a:pt x="7070" y="32240"/>
                    <a:pt x="19655" y="19655"/>
                  </a:cubicBezTo>
                  <a:cubicBezTo>
                    <a:pt x="32240" y="7070"/>
                    <a:pt x="49309" y="0"/>
                    <a:pt x="6710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556975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64439" y="3460963"/>
            <a:ext cx="2611553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 spc="-56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SANIPES: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730011" y="4221343"/>
            <a:ext cx="3529289" cy="2014716"/>
            <a:chOff x="0" y="0"/>
            <a:chExt cx="1587702" cy="9063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87702" cy="906349"/>
            </a:xfrm>
            <a:custGeom>
              <a:avLst/>
              <a:gdLst/>
              <a:ahLst/>
              <a:cxnLst/>
              <a:rect r="r" b="b" t="t" l="l"/>
              <a:pathLst>
                <a:path h="906349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41333"/>
                  </a:lnTo>
                  <a:cubicBezTo>
                    <a:pt x="1587702" y="858577"/>
                    <a:pt x="1580852" y="875114"/>
                    <a:pt x="1568659" y="887306"/>
                  </a:cubicBezTo>
                  <a:cubicBezTo>
                    <a:pt x="1556466" y="899499"/>
                    <a:pt x="1539929" y="906349"/>
                    <a:pt x="1522686" y="906349"/>
                  </a:cubicBezTo>
                  <a:lnTo>
                    <a:pt x="65016" y="906349"/>
                  </a:lnTo>
                  <a:cubicBezTo>
                    <a:pt x="47772" y="906349"/>
                    <a:pt x="31235" y="899499"/>
                    <a:pt x="19043" y="887306"/>
                  </a:cubicBezTo>
                  <a:cubicBezTo>
                    <a:pt x="6850" y="875114"/>
                    <a:pt x="0" y="858577"/>
                    <a:pt x="0" y="841333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87702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30011" y="3499260"/>
            <a:ext cx="3460986" cy="626986"/>
            <a:chOff x="0" y="0"/>
            <a:chExt cx="1556975" cy="2820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6975" cy="282059"/>
            </a:xfrm>
            <a:custGeom>
              <a:avLst/>
              <a:gdLst/>
              <a:ahLst/>
              <a:cxnLst/>
              <a:rect r="r" b="b" t="t" l="l"/>
              <a:pathLst>
                <a:path h="282059" w="1556975">
                  <a:moveTo>
                    <a:pt x="67107" y="0"/>
                  </a:moveTo>
                  <a:lnTo>
                    <a:pt x="1489867" y="0"/>
                  </a:lnTo>
                  <a:cubicBezTo>
                    <a:pt x="1507665" y="0"/>
                    <a:pt x="1524734" y="7070"/>
                    <a:pt x="1537319" y="19655"/>
                  </a:cubicBezTo>
                  <a:cubicBezTo>
                    <a:pt x="1549905" y="32240"/>
                    <a:pt x="1556975" y="49309"/>
                    <a:pt x="1556975" y="67107"/>
                  </a:cubicBezTo>
                  <a:lnTo>
                    <a:pt x="1556975" y="214952"/>
                  </a:lnTo>
                  <a:cubicBezTo>
                    <a:pt x="1556975" y="232750"/>
                    <a:pt x="1549905" y="249819"/>
                    <a:pt x="1537319" y="262404"/>
                  </a:cubicBezTo>
                  <a:cubicBezTo>
                    <a:pt x="1524734" y="274989"/>
                    <a:pt x="1507665" y="282059"/>
                    <a:pt x="1489867" y="282059"/>
                  </a:cubicBezTo>
                  <a:lnTo>
                    <a:pt x="67107" y="282059"/>
                  </a:lnTo>
                  <a:cubicBezTo>
                    <a:pt x="49309" y="282059"/>
                    <a:pt x="32240" y="274989"/>
                    <a:pt x="19655" y="262404"/>
                  </a:cubicBezTo>
                  <a:cubicBezTo>
                    <a:pt x="7070" y="249819"/>
                    <a:pt x="0" y="232750"/>
                    <a:pt x="0" y="214952"/>
                  </a:cubicBezTo>
                  <a:lnTo>
                    <a:pt x="0" y="67107"/>
                  </a:lnTo>
                  <a:cubicBezTo>
                    <a:pt x="0" y="49309"/>
                    <a:pt x="7070" y="32240"/>
                    <a:pt x="19655" y="19655"/>
                  </a:cubicBezTo>
                  <a:cubicBezTo>
                    <a:pt x="32240" y="7070"/>
                    <a:pt x="49309" y="0"/>
                    <a:pt x="6710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556975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868096" y="3561293"/>
            <a:ext cx="318481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 spc="-4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MUNICIPALIDADES: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6882" y="4248677"/>
            <a:ext cx="3399714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spc="-4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Alimentos industrializados/procesados y restaurantes.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15473" y="4262866"/>
            <a:ext cx="3399714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spc="-4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Alimentos de producción primaria (agrícola y pecuaria sin procesar).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74065" y="4277055"/>
            <a:ext cx="3399714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spc="-4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Productos hidrobiológicos, pesqueros y acuícolas.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94799" y="4464161"/>
            <a:ext cx="339971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Mercados de abasto, transporte y venta minorista.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92094" y="6893284"/>
            <a:ext cx="6593219" cy="581973"/>
            <a:chOff x="0" y="0"/>
            <a:chExt cx="2966055" cy="26180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66055" cy="261809"/>
            </a:xfrm>
            <a:custGeom>
              <a:avLst/>
              <a:gdLst/>
              <a:ahLst/>
              <a:cxnLst/>
              <a:rect r="r" b="b" t="t" l="l"/>
              <a:pathLst>
                <a:path h="261809" w="2966055">
                  <a:moveTo>
                    <a:pt x="35227" y="0"/>
                  </a:moveTo>
                  <a:lnTo>
                    <a:pt x="2930828" y="0"/>
                  </a:lnTo>
                  <a:cubicBezTo>
                    <a:pt x="2950284" y="0"/>
                    <a:pt x="2966055" y="15772"/>
                    <a:pt x="2966055" y="35227"/>
                  </a:cubicBezTo>
                  <a:lnTo>
                    <a:pt x="2966055" y="226582"/>
                  </a:lnTo>
                  <a:cubicBezTo>
                    <a:pt x="2966055" y="246037"/>
                    <a:pt x="2950284" y="261809"/>
                    <a:pt x="2930828" y="261809"/>
                  </a:cubicBezTo>
                  <a:lnTo>
                    <a:pt x="35227" y="261809"/>
                  </a:lnTo>
                  <a:cubicBezTo>
                    <a:pt x="15772" y="261809"/>
                    <a:pt x="0" y="246037"/>
                    <a:pt x="0" y="226582"/>
                  </a:cubicBezTo>
                  <a:lnTo>
                    <a:pt x="0" y="35227"/>
                  </a:lnTo>
                  <a:cubicBezTo>
                    <a:pt x="0" y="15772"/>
                    <a:pt x="15772" y="0"/>
                    <a:pt x="3522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966055" cy="299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028700" y="6836134"/>
            <a:ext cx="6245089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-52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Organismos Internacionales: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150686" y="7852101"/>
            <a:ext cx="3529289" cy="2043094"/>
            <a:chOff x="0" y="0"/>
            <a:chExt cx="1587702" cy="91911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47580" y="8206128"/>
            <a:ext cx="4323379" cy="1335040"/>
            <a:chOff x="0" y="0"/>
            <a:chExt cx="1944935" cy="6005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44935" cy="600587"/>
            </a:xfrm>
            <a:custGeom>
              <a:avLst/>
              <a:gdLst/>
              <a:ahLst/>
              <a:cxnLst/>
              <a:rect r="r" b="b" t="t" l="l"/>
              <a:pathLst>
                <a:path h="600587" w="1944935">
                  <a:moveTo>
                    <a:pt x="53721" y="0"/>
                  </a:moveTo>
                  <a:lnTo>
                    <a:pt x="1891213" y="0"/>
                  </a:lnTo>
                  <a:cubicBezTo>
                    <a:pt x="1920883" y="0"/>
                    <a:pt x="1944935" y="24052"/>
                    <a:pt x="1944935" y="53721"/>
                  </a:cubicBezTo>
                  <a:lnTo>
                    <a:pt x="1944935" y="546866"/>
                  </a:lnTo>
                  <a:cubicBezTo>
                    <a:pt x="1944935" y="561114"/>
                    <a:pt x="1939275" y="574778"/>
                    <a:pt x="1929200" y="584853"/>
                  </a:cubicBezTo>
                  <a:cubicBezTo>
                    <a:pt x="1919125" y="594927"/>
                    <a:pt x="1905461" y="600587"/>
                    <a:pt x="1891213" y="600587"/>
                  </a:cubicBezTo>
                  <a:lnTo>
                    <a:pt x="53721" y="600587"/>
                  </a:lnTo>
                  <a:cubicBezTo>
                    <a:pt x="39474" y="600587"/>
                    <a:pt x="25809" y="594927"/>
                    <a:pt x="15735" y="584853"/>
                  </a:cubicBezTo>
                  <a:cubicBezTo>
                    <a:pt x="5660" y="574778"/>
                    <a:pt x="0" y="561114"/>
                    <a:pt x="0" y="546866"/>
                  </a:cubicBezTo>
                  <a:lnTo>
                    <a:pt x="0" y="53721"/>
                  </a:lnTo>
                  <a:cubicBezTo>
                    <a:pt x="0" y="39474"/>
                    <a:pt x="5660" y="25809"/>
                    <a:pt x="15735" y="15735"/>
                  </a:cubicBezTo>
                  <a:cubicBezTo>
                    <a:pt x="25809" y="5660"/>
                    <a:pt x="39474" y="0"/>
                    <a:pt x="53721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944935" cy="657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028700" y="8311673"/>
            <a:ext cx="389866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-45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Codex Alimentarius (FAO/OMS):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215473" y="7907813"/>
            <a:ext cx="3399714" cy="1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spc="-37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Referente mundial para armonizar normas, límites de aditivos y plaguicidas.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3665224" y="7778441"/>
            <a:ext cx="3529289" cy="2043094"/>
            <a:chOff x="0" y="0"/>
            <a:chExt cx="1587702" cy="91911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262118" y="8132468"/>
            <a:ext cx="4323379" cy="1335040"/>
            <a:chOff x="0" y="0"/>
            <a:chExt cx="1944935" cy="60058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44935" cy="600587"/>
            </a:xfrm>
            <a:custGeom>
              <a:avLst/>
              <a:gdLst/>
              <a:ahLst/>
              <a:cxnLst/>
              <a:rect r="r" b="b" t="t" l="l"/>
              <a:pathLst>
                <a:path h="600587" w="1944935">
                  <a:moveTo>
                    <a:pt x="53721" y="0"/>
                  </a:moveTo>
                  <a:lnTo>
                    <a:pt x="1891213" y="0"/>
                  </a:lnTo>
                  <a:cubicBezTo>
                    <a:pt x="1920883" y="0"/>
                    <a:pt x="1944935" y="24052"/>
                    <a:pt x="1944935" y="53721"/>
                  </a:cubicBezTo>
                  <a:lnTo>
                    <a:pt x="1944935" y="546866"/>
                  </a:lnTo>
                  <a:cubicBezTo>
                    <a:pt x="1944935" y="561114"/>
                    <a:pt x="1939275" y="574778"/>
                    <a:pt x="1929200" y="584853"/>
                  </a:cubicBezTo>
                  <a:cubicBezTo>
                    <a:pt x="1919125" y="594927"/>
                    <a:pt x="1905461" y="600587"/>
                    <a:pt x="1891213" y="600587"/>
                  </a:cubicBezTo>
                  <a:lnTo>
                    <a:pt x="53721" y="600587"/>
                  </a:lnTo>
                  <a:cubicBezTo>
                    <a:pt x="39474" y="600587"/>
                    <a:pt x="25809" y="594927"/>
                    <a:pt x="15735" y="584853"/>
                  </a:cubicBezTo>
                  <a:cubicBezTo>
                    <a:pt x="5660" y="574778"/>
                    <a:pt x="0" y="561114"/>
                    <a:pt x="0" y="546866"/>
                  </a:cubicBezTo>
                  <a:lnTo>
                    <a:pt x="0" y="53721"/>
                  </a:lnTo>
                  <a:cubicBezTo>
                    <a:pt x="0" y="39474"/>
                    <a:pt x="5660" y="25809"/>
                    <a:pt x="15735" y="15735"/>
                  </a:cubicBezTo>
                  <a:cubicBezTo>
                    <a:pt x="25809" y="5660"/>
                    <a:pt x="39474" y="0"/>
                    <a:pt x="53721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944935" cy="657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474476" y="8351360"/>
            <a:ext cx="3898662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799" spc="-71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ISO 22000: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730011" y="7834153"/>
            <a:ext cx="3399714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spc="-4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Norma internacional para la gestión de inocuidad alimentaria.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47580" y="73120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9270" y="425618"/>
            <a:ext cx="13561611" cy="1316455"/>
            <a:chOff x="0" y="0"/>
            <a:chExt cx="3840330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0330" cy="372789"/>
            </a:xfrm>
            <a:custGeom>
              <a:avLst/>
              <a:gdLst/>
              <a:ahLst/>
              <a:cxnLst/>
              <a:rect r="r" b="b" t="t" l="l"/>
              <a:pathLst>
                <a:path h="372789" w="3840330">
                  <a:moveTo>
                    <a:pt x="29114" y="0"/>
                  </a:moveTo>
                  <a:lnTo>
                    <a:pt x="3811215" y="0"/>
                  </a:lnTo>
                  <a:cubicBezTo>
                    <a:pt x="3827295" y="0"/>
                    <a:pt x="3840330" y="13035"/>
                    <a:pt x="3840330" y="29114"/>
                  </a:cubicBezTo>
                  <a:lnTo>
                    <a:pt x="3840330" y="343675"/>
                  </a:lnTo>
                  <a:cubicBezTo>
                    <a:pt x="3840330" y="359754"/>
                    <a:pt x="3827295" y="372789"/>
                    <a:pt x="3811215" y="372789"/>
                  </a:cubicBezTo>
                  <a:lnTo>
                    <a:pt x="29114" y="372789"/>
                  </a:lnTo>
                  <a:cubicBezTo>
                    <a:pt x="21393" y="372789"/>
                    <a:pt x="13987" y="369722"/>
                    <a:pt x="8527" y="364262"/>
                  </a:cubicBezTo>
                  <a:cubicBezTo>
                    <a:pt x="3067" y="358802"/>
                    <a:pt x="0" y="351396"/>
                    <a:pt x="0" y="343675"/>
                  </a:cubicBezTo>
                  <a:lnTo>
                    <a:pt x="0" y="29114"/>
                  </a:lnTo>
                  <a:cubicBezTo>
                    <a:pt x="0" y="13035"/>
                    <a:pt x="13035" y="0"/>
                    <a:pt x="29114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0330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13430696" cy="1087855"/>
            <a:chOff x="0" y="0"/>
            <a:chExt cx="3803258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03258" cy="308055"/>
            </a:xfrm>
            <a:custGeom>
              <a:avLst/>
              <a:gdLst/>
              <a:ahLst/>
              <a:cxnLst/>
              <a:rect r="r" b="b" t="t" l="l"/>
              <a:pathLst>
                <a:path h="308055" w="3803258">
                  <a:moveTo>
                    <a:pt x="29398" y="0"/>
                  </a:moveTo>
                  <a:lnTo>
                    <a:pt x="3773860" y="0"/>
                  </a:lnTo>
                  <a:cubicBezTo>
                    <a:pt x="3790096" y="0"/>
                    <a:pt x="3803258" y="13162"/>
                    <a:pt x="3803258" y="29398"/>
                  </a:cubicBezTo>
                  <a:lnTo>
                    <a:pt x="3803258" y="278657"/>
                  </a:lnTo>
                  <a:cubicBezTo>
                    <a:pt x="3803258" y="286454"/>
                    <a:pt x="3800161" y="293931"/>
                    <a:pt x="3794647" y="299445"/>
                  </a:cubicBezTo>
                  <a:cubicBezTo>
                    <a:pt x="3789134" y="304958"/>
                    <a:pt x="3781656" y="308055"/>
                    <a:pt x="3773860" y="308055"/>
                  </a:cubicBezTo>
                  <a:lnTo>
                    <a:pt x="29398" y="308055"/>
                  </a:lnTo>
                  <a:cubicBezTo>
                    <a:pt x="13162" y="308055"/>
                    <a:pt x="0" y="294893"/>
                    <a:pt x="0" y="278657"/>
                  </a:cubicBezTo>
                  <a:lnTo>
                    <a:pt x="0" y="29398"/>
                  </a:lnTo>
                  <a:cubicBezTo>
                    <a:pt x="0" y="13162"/>
                    <a:pt x="13162" y="0"/>
                    <a:pt x="29398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03258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258443"/>
            <a:ext cx="5126842" cy="665086"/>
            <a:chOff x="0" y="0"/>
            <a:chExt cx="2174261" cy="2820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4261" cy="282059"/>
            </a:xfrm>
            <a:custGeom>
              <a:avLst/>
              <a:gdLst/>
              <a:ahLst/>
              <a:cxnLst/>
              <a:rect r="r" b="b" t="t" l="l"/>
              <a:pathLst>
                <a:path h="282059" w="2174261">
                  <a:moveTo>
                    <a:pt x="45302" y="0"/>
                  </a:moveTo>
                  <a:lnTo>
                    <a:pt x="2128959" y="0"/>
                  </a:lnTo>
                  <a:cubicBezTo>
                    <a:pt x="2140974" y="0"/>
                    <a:pt x="2152497" y="4773"/>
                    <a:pt x="2160993" y="13269"/>
                  </a:cubicBezTo>
                  <a:cubicBezTo>
                    <a:pt x="2169488" y="21765"/>
                    <a:pt x="2174261" y="33287"/>
                    <a:pt x="2174261" y="45302"/>
                  </a:cubicBezTo>
                  <a:lnTo>
                    <a:pt x="2174261" y="236757"/>
                  </a:lnTo>
                  <a:cubicBezTo>
                    <a:pt x="2174261" y="248772"/>
                    <a:pt x="2169488" y="260294"/>
                    <a:pt x="2160993" y="268790"/>
                  </a:cubicBezTo>
                  <a:cubicBezTo>
                    <a:pt x="2152497" y="277286"/>
                    <a:pt x="2140974" y="282059"/>
                    <a:pt x="2128959" y="282059"/>
                  </a:cubicBezTo>
                  <a:lnTo>
                    <a:pt x="45302" y="282059"/>
                  </a:lnTo>
                  <a:cubicBezTo>
                    <a:pt x="20283" y="282059"/>
                    <a:pt x="0" y="261776"/>
                    <a:pt x="0" y="236757"/>
                  </a:cubicBezTo>
                  <a:lnTo>
                    <a:pt x="0" y="45302"/>
                  </a:lnTo>
                  <a:cubicBezTo>
                    <a:pt x="0" y="33287"/>
                    <a:pt x="4773" y="21765"/>
                    <a:pt x="13269" y="13269"/>
                  </a:cubicBezTo>
                  <a:cubicBezTo>
                    <a:pt x="21765" y="4773"/>
                    <a:pt x="33287" y="0"/>
                    <a:pt x="45302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74261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68087" y="569278"/>
            <a:ext cx="13275410" cy="81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272727"/>
                </a:solidFill>
                <a:latin typeface="TC October"/>
                <a:ea typeface="TC October"/>
                <a:cs typeface="TC October"/>
                <a:sym typeface="TC October"/>
              </a:rPr>
              <a:t>Bu</a:t>
            </a:r>
            <a:r>
              <a:rPr lang="en-US" sz="4700">
                <a:solidFill>
                  <a:srgbClr val="272727"/>
                </a:solidFill>
                <a:latin typeface="TC October"/>
                <a:ea typeface="TC October"/>
                <a:cs typeface="TC October"/>
                <a:sym typeface="TC October"/>
              </a:rPr>
              <a:t>enas Prácticas de Manufactura (BPM) e Instalaciones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51009"/>
            <a:ext cx="1623060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-48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Principios básicos y prácticas higiénicas obligatorias en la cadena alimentaria para garantizar la inocuidad.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0658" y="4321746"/>
            <a:ext cx="461481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-41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Layout / Diseño de Planta: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7650534"/>
            <a:ext cx="4752914" cy="2014716"/>
            <a:chOff x="0" y="0"/>
            <a:chExt cx="2138167" cy="9063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8167" cy="906349"/>
            </a:xfrm>
            <a:custGeom>
              <a:avLst/>
              <a:gdLst/>
              <a:ahLst/>
              <a:cxnLst/>
              <a:rect r="r" b="b" t="t" l="l"/>
              <a:pathLst>
                <a:path h="906349" w="2138167">
                  <a:moveTo>
                    <a:pt x="48278" y="0"/>
                  </a:moveTo>
                  <a:lnTo>
                    <a:pt x="2089889" y="0"/>
                  </a:lnTo>
                  <a:cubicBezTo>
                    <a:pt x="2102694" y="0"/>
                    <a:pt x="2114973" y="5086"/>
                    <a:pt x="2124027" y="14140"/>
                  </a:cubicBezTo>
                  <a:cubicBezTo>
                    <a:pt x="2133081" y="23194"/>
                    <a:pt x="2138167" y="35474"/>
                    <a:pt x="2138167" y="48278"/>
                  </a:cubicBezTo>
                  <a:lnTo>
                    <a:pt x="2138167" y="858072"/>
                  </a:lnTo>
                  <a:cubicBezTo>
                    <a:pt x="2138167" y="870876"/>
                    <a:pt x="2133081" y="883155"/>
                    <a:pt x="2124027" y="892209"/>
                  </a:cubicBezTo>
                  <a:cubicBezTo>
                    <a:pt x="2114973" y="901263"/>
                    <a:pt x="2102694" y="906349"/>
                    <a:pt x="2089889" y="906349"/>
                  </a:cubicBezTo>
                  <a:lnTo>
                    <a:pt x="48278" y="906349"/>
                  </a:lnTo>
                  <a:cubicBezTo>
                    <a:pt x="35474" y="906349"/>
                    <a:pt x="23194" y="901263"/>
                    <a:pt x="14140" y="892209"/>
                  </a:cubicBezTo>
                  <a:cubicBezTo>
                    <a:pt x="5086" y="883155"/>
                    <a:pt x="0" y="870876"/>
                    <a:pt x="0" y="858072"/>
                  </a:cubicBezTo>
                  <a:lnTo>
                    <a:pt x="0" y="48278"/>
                  </a:lnTo>
                  <a:cubicBezTo>
                    <a:pt x="0" y="35474"/>
                    <a:pt x="5086" y="23194"/>
                    <a:pt x="14140" y="14140"/>
                  </a:cubicBezTo>
                  <a:cubicBezTo>
                    <a:pt x="23194" y="5086"/>
                    <a:pt x="35474" y="0"/>
                    <a:pt x="4827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38167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928451"/>
            <a:ext cx="4660930" cy="626986"/>
            <a:chOff x="0" y="0"/>
            <a:chExt cx="2096787" cy="2820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96787" cy="282059"/>
            </a:xfrm>
            <a:custGeom>
              <a:avLst/>
              <a:gdLst/>
              <a:ahLst/>
              <a:cxnLst/>
              <a:rect r="r" b="b" t="t" l="l"/>
              <a:pathLst>
                <a:path h="282059" w="2096787">
                  <a:moveTo>
                    <a:pt x="49831" y="0"/>
                  </a:moveTo>
                  <a:lnTo>
                    <a:pt x="2046956" y="0"/>
                  </a:lnTo>
                  <a:cubicBezTo>
                    <a:pt x="2074477" y="0"/>
                    <a:pt x="2096787" y="22310"/>
                    <a:pt x="2096787" y="49831"/>
                  </a:cubicBezTo>
                  <a:lnTo>
                    <a:pt x="2096787" y="232228"/>
                  </a:lnTo>
                  <a:cubicBezTo>
                    <a:pt x="2096787" y="259749"/>
                    <a:pt x="2074477" y="282059"/>
                    <a:pt x="2046956" y="282059"/>
                  </a:cubicBezTo>
                  <a:lnTo>
                    <a:pt x="49831" y="282059"/>
                  </a:lnTo>
                  <a:cubicBezTo>
                    <a:pt x="22310" y="282059"/>
                    <a:pt x="0" y="259749"/>
                    <a:pt x="0" y="232228"/>
                  </a:cubicBezTo>
                  <a:lnTo>
                    <a:pt x="0" y="49831"/>
                  </a:lnTo>
                  <a:cubicBezTo>
                    <a:pt x="0" y="22310"/>
                    <a:pt x="22310" y="0"/>
                    <a:pt x="49831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096787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14659" y="6936192"/>
            <a:ext cx="428901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Paredes y Pisos: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9958" y="7812072"/>
            <a:ext cx="4578414" cy="16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spc="-3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Materiales impermeables, lisos, lavables. Ángulos de unión pared-piso redondeados con curva sanitaria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580" y="73120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5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057669" y="3323585"/>
            <a:ext cx="5624729" cy="553025"/>
            <a:chOff x="0" y="0"/>
            <a:chExt cx="2530366" cy="2487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0366" cy="248787"/>
            </a:xfrm>
            <a:custGeom>
              <a:avLst/>
              <a:gdLst/>
              <a:ahLst/>
              <a:cxnLst/>
              <a:rect r="r" b="b" t="t" l="l"/>
              <a:pathLst>
                <a:path h="248787" w="2530366">
                  <a:moveTo>
                    <a:pt x="41292" y="0"/>
                  </a:moveTo>
                  <a:lnTo>
                    <a:pt x="2489074" y="0"/>
                  </a:lnTo>
                  <a:cubicBezTo>
                    <a:pt x="2500025" y="0"/>
                    <a:pt x="2510528" y="4350"/>
                    <a:pt x="2518272" y="12094"/>
                  </a:cubicBezTo>
                  <a:cubicBezTo>
                    <a:pt x="2526016" y="19838"/>
                    <a:pt x="2530366" y="30341"/>
                    <a:pt x="2530366" y="41292"/>
                  </a:cubicBezTo>
                  <a:lnTo>
                    <a:pt x="2530366" y="207494"/>
                  </a:lnTo>
                  <a:cubicBezTo>
                    <a:pt x="2530366" y="218446"/>
                    <a:pt x="2526016" y="228949"/>
                    <a:pt x="2518272" y="236692"/>
                  </a:cubicBezTo>
                  <a:cubicBezTo>
                    <a:pt x="2510528" y="244436"/>
                    <a:pt x="2500025" y="248787"/>
                    <a:pt x="2489074" y="248787"/>
                  </a:cubicBezTo>
                  <a:lnTo>
                    <a:pt x="41292" y="248787"/>
                  </a:lnTo>
                  <a:cubicBezTo>
                    <a:pt x="30341" y="248787"/>
                    <a:pt x="19838" y="244436"/>
                    <a:pt x="12094" y="236692"/>
                  </a:cubicBezTo>
                  <a:cubicBezTo>
                    <a:pt x="4350" y="228949"/>
                    <a:pt x="0" y="218446"/>
                    <a:pt x="0" y="207494"/>
                  </a:cubicBezTo>
                  <a:lnTo>
                    <a:pt x="0" y="41292"/>
                  </a:lnTo>
                  <a:cubicBezTo>
                    <a:pt x="0" y="30341"/>
                    <a:pt x="4350" y="19838"/>
                    <a:pt x="12094" y="12094"/>
                  </a:cubicBezTo>
                  <a:cubicBezTo>
                    <a:pt x="19838" y="4350"/>
                    <a:pt x="30341" y="0"/>
                    <a:pt x="41292" y="0"/>
                  </a:cubicBezTo>
                  <a:close/>
                </a:path>
              </a:pathLst>
            </a:custGeom>
            <a:solidFill>
              <a:srgbClr val="457D5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530366" cy="28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05269" y="3171185"/>
            <a:ext cx="5624729" cy="553025"/>
            <a:chOff x="0" y="0"/>
            <a:chExt cx="2530366" cy="2487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30366" cy="248787"/>
            </a:xfrm>
            <a:custGeom>
              <a:avLst/>
              <a:gdLst/>
              <a:ahLst/>
              <a:cxnLst/>
              <a:rect r="r" b="b" t="t" l="l"/>
              <a:pathLst>
                <a:path h="248787" w="2530366">
                  <a:moveTo>
                    <a:pt x="41292" y="0"/>
                  </a:moveTo>
                  <a:lnTo>
                    <a:pt x="2489074" y="0"/>
                  </a:lnTo>
                  <a:cubicBezTo>
                    <a:pt x="2500025" y="0"/>
                    <a:pt x="2510528" y="4350"/>
                    <a:pt x="2518272" y="12094"/>
                  </a:cubicBezTo>
                  <a:cubicBezTo>
                    <a:pt x="2526016" y="19838"/>
                    <a:pt x="2530366" y="30341"/>
                    <a:pt x="2530366" y="41292"/>
                  </a:cubicBezTo>
                  <a:lnTo>
                    <a:pt x="2530366" y="207494"/>
                  </a:lnTo>
                  <a:cubicBezTo>
                    <a:pt x="2530366" y="218446"/>
                    <a:pt x="2526016" y="228949"/>
                    <a:pt x="2518272" y="236692"/>
                  </a:cubicBezTo>
                  <a:cubicBezTo>
                    <a:pt x="2510528" y="244436"/>
                    <a:pt x="2500025" y="248787"/>
                    <a:pt x="2489074" y="248787"/>
                  </a:cubicBezTo>
                  <a:lnTo>
                    <a:pt x="41292" y="248787"/>
                  </a:lnTo>
                  <a:cubicBezTo>
                    <a:pt x="30341" y="248787"/>
                    <a:pt x="19838" y="244436"/>
                    <a:pt x="12094" y="236692"/>
                  </a:cubicBezTo>
                  <a:cubicBezTo>
                    <a:pt x="4350" y="228949"/>
                    <a:pt x="0" y="218446"/>
                    <a:pt x="0" y="207494"/>
                  </a:cubicBezTo>
                  <a:lnTo>
                    <a:pt x="0" y="41292"/>
                  </a:lnTo>
                  <a:cubicBezTo>
                    <a:pt x="0" y="30341"/>
                    <a:pt x="4350" y="19838"/>
                    <a:pt x="12094" y="12094"/>
                  </a:cubicBezTo>
                  <a:cubicBezTo>
                    <a:pt x="19838" y="4350"/>
                    <a:pt x="30341" y="0"/>
                    <a:pt x="41292" y="0"/>
                  </a:cubicBezTo>
                  <a:close/>
                </a:path>
              </a:pathLst>
            </a:custGeom>
            <a:solidFill>
              <a:srgbClr val="F6F6E9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30366" cy="28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973572" y="3114035"/>
            <a:ext cx="5310878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-52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Requisitos Estructurales: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05497" y="4029011"/>
            <a:ext cx="1115380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45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Debe ser unidireccional (forma de L, U o línea recta) para evitar la contaminación cruzada.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968087" y="5305361"/>
            <a:ext cx="12794155" cy="1289715"/>
            <a:chOff x="0" y="0"/>
            <a:chExt cx="4154622" cy="4188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54622" cy="418807"/>
            </a:xfrm>
            <a:custGeom>
              <a:avLst/>
              <a:gdLst/>
              <a:ahLst/>
              <a:cxnLst/>
              <a:rect r="r" b="b" t="t" l="l"/>
              <a:pathLst>
                <a:path h="418807" w="4154622">
                  <a:moveTo>
                    <a:pt x="18153" y="0"/>
                  </a:moveTo>
                  <a:lnTo>
                    <a:pt x="4136468" y="0"/>
                  </a:lnTo>
                  <a:cubicBezTo>
                    <a:pt x="4141283" y="0"/>
                    <a:pt x="4145900" y="1913"/>
                    <a:pt x="4149305" y="5317"/>
                  </a:cubicBezTo>
                  <a:cubicBezTo>
                    <a:pt x="4152709" y="8721"/>
                    <a:pt x="4154622" y="13339"/>
                    <a:pt x="4154622" y="18153"/>
                  </a:cubicBezTo>
                  <a:lnTo>
                    <a:pt x="4154622" y="400653"/>
                  </a:lnTo>
                  <a:cubicBezTo>
                    <a:pt x="4154622" y="405468"/>
                    <a:pt x="4152709" y="410085"/>
                    <a:pt x="4149305" y="413490"/>
                  </a:cubicBezTo>
                  <a:cubicBezTo>
                    <a:pt x="4145900" y="416894"/>
                    <a:pt x="4141283" y="418807"/>
                    <a:pt x="4136468" y="418807"/>
                  </a:cubicBezTo>
                  <a:lnTo>
                    <a:pt x="18153" y="418807"/>
                  </a:lnTo>
                  <a:cubicBezTo>
                    <a:pt x="8128" y="418807"/>
                    <a:pt x="0" y="410679"/>
                    <a:pt x="0" y="400653"/>
                  </a:cubicBezTo>
                  <a:lnTo>
                    <a:pt x="0" y="18153"/>
                  </a:lnTo>
                  <a:cubicBezTo>
                    <a:pt x="0" y="13339"/>
                    <a:pt x="1913" y="8721"/>
                    <a:pt x="5317" y="5317"/>
                  </a:cubicBezTo>
                  <a:cubicBezTo>
                    <a:pt x="8721" y="1913"/>
                    <a:pt x="13339" y="0"/>
                    <a:pt x="18153" y="0"/>
                  </a:cubicBezTo>
                  <a:close/>
                </a:path>
              </a:pathLst>
            </a:custGeom>
            <a:solidFill>
              <a:srgbClr val="F6F6E9"/>
            </a:solidFill>
            <a:ln cap="rnd">
              <a:noFill/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154622" cy="456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123373" y="5347301"/>
            <a:ext cx="12638869" cy="115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 spc="-49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Zonas: </a:t>
            </a:r>
            <a:r>
              <a:rPr lang="en-US" sz="3299" spc="-4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Zona Sucia (recepción/vestuarios) ➡️ Zona Intermedia (corte/procesamiento) ➡️ Zona Crítica/Limpia (envasado).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506386" y="7650534"/>
            <a:ext cx="4752914" cy="2014716"/>
            <a:chOff x="0" y="0"/>
            <a:chExt cx="2138167" cy="9063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8167" cy="906349"/>
            </a:xfrm>
            <a:custGeom>
              <a:avLst/>
              <a:gdLst/>
              <a:ahLst/>
              <a:cxnLst/>
              <a:rect r="r" b="b" t="t" l="l"/>
              <a:pathLst>
                <a:path h="906349" w="2138167">
                  <a:moveTo>
                    <a:pt x="48278" y="0"/>
                  </a:moveTo>
                  <a:lnTo>
                    <a:pt x="2089889" y="0"/>
                  </a:lnTo>
                  <a:cubicBezTo>
                    <a:pt x="2102694" y="0"/>
                    <a:pt x="2114973" y="5086"/>
                    <a:pt x="2124027" y="14140"/>
                  </a:cubicBezTo>
                  <a:cubicBezTo>
                    <a:pt x="2133081" y="23194"/>
                    <a:pt x="2138167" y="35474"/>
                    <a:pt x="2138167" y="48278"/>
                  </a:cubicBezTo>
                  <a:lnTo>
                    <a:pt x="2138167" y="858072"/>
                  </a:lnTo>
                  <a:cubicBezTo>
                    <a:pt x="2138167" y="870876"/>
                    <a:pt x="2133081" y="883155"/>
                    <a:pt x="2124027" y="892209"/>
                  </a:cubicBezTo>
                  <a:cubicBezTo>
                    <a:pt x="2114973" y="901263"/>
                    <a:pt x="2102694" y="906349"/>
                    <a:pt x="2089889" y="906349"/>
                  </a:cubicBezTo>
                  <a:lnTo>
                    <a:pt x="48278" y="906349"/>
                  </a:lnTo>
                  <a:cubicBezTo>
                    <a:pt x="35474" y="906349"/>
                    <a:pt x="23194" y="901263"/>
                    <a:pt x="14140" y="892209"/>
                  </a:cubicBezTo>
                  <a:cubicBezTo>
                    <a:pt x="5086" y="883155"/>
                    <a:pt x="0" y="870876"/>
                    <a:pt x="0" y="858072"/>
                  </a:cubicBezTo>
                  <a:lnTo>
                    <a:pt x="0" y="48278"/>
                  </a:lnTo>
                  <a:cubicBezTo>
                    <a:pt x="0" y="35474"/>
                    <a:pt x="5086" y="23194"/>
                    <a:pt x="14140" y="14140"/>
                  </a:cubicBezTo>
                  <a:cubicBezTo>
                    <a:pt x="23194" y="5086"/>
                    <a:pt x="35474" y="0"/>
                    <a:pt x="4827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38167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06386" y="6928451"/>
            <a:ext cx="4660930" cy="626986"/>
            <a:chOff x="0" y="0"/>
            <a:chExt cx="2096787" cy="2820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96787" cy="282059"/>
            </a:xfrm>
            <a:custGeom>
              <a:avLst/>
              <a:gdLst/>
              <a:ahLst/>
              <a:cxnLst/>
              <a:rect r="r" b="b" t="t" l="l"/>
              <a:pathLst>
                <a:path h="282059" w="2096787">
                  <a:moveTo>
                    <a:pt x="49831" y="0"/>
                  </a:moveTo>
                  <a:lnTo>
                    <a:pt x="2046956" y="0"/>
                  </a:lnTo>
                  <a:cubicBezTo>
                    <a:pt x="2074477" y="0"/>
                    <a:pt x="2096787" y="22310"/>
                    <a:pt x="2096787" y="49831"/>
                  </a:cubicBezTo>
                  <a:lnTo>
                    <a:pt x="2096787" y="232228"/>
                  </a:lnTo>
                  <a:cubicBezTo>
                    <a:pt x="2096787" y="259749"/>
                    <a:pt x="2074477" y="282059"/>
                    <a:pt x="2046956" y="282059"/>
                  </a:cubicBezTo>
                  <a:lnTo>
                    <a:pt x="49831" y="282059"/>
                  </a:lnTo>
                  <a:cubicBezTo>
                    <a:pt x="22310" y="282059"/>
                    <a:pt x="0" y="259749"/>
                    <a:pt x="0" y="232228"/>
                  </a:cubicBezTo>
                  <a:lnTo>
                    <a:pt x="0" y="49831"/>
                  </a:lnTo>
                  <a:cubicBezTo>
                    <a:pt x="0" y="22310"/>
                    <a:pt x="22310" y="0"/>
                    <a:pt x="49831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2096787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692345" y="6971434"/>
            <a:ext cx="42890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-45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Material de Utensilios: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93636" y="7765717"/>
            <a:ext cx="4578414" cy="1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spc="-37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Acero inoxidable, Polietileno de Alta Densidad (PEHD). Prohibida la madera por ser porosa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767543" y="7650534"/>
            <a:ext cx="4752914" cy="2014716"/>
            <a:chOff x="0" y="0"/>
            <a:chExt cx="2138167" cy="9063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38167" cy="906349"/>
            </a:xfrm>
            <a:custGeom>
              <a:avLst/>
              <a:gdLst/>
              <a:ahLst/>
              <a:cxnLst/>
              <a:rect r="r" b="b" t="t" l="l"/>
              <a:pathLst>
                <a:path h="906349" w="2138167">
                  <a:moveTo>
                    <a:pt x="48278" y="0"/>
                  </a:moveTo>
                  <a:lnTo>
                    <a:pt x="2089889" y="0"/>
                  </a:lnTo>
                  <a:cubicBezTo>
                    <a:pt x="2102694" y="0"/>
                    <a:pt x="2114973" y="5086"/>
                    <a:pt x="2124027" y="14140"/>
                  </a:cubicBezTo>
                  <a:cubicBezTo>
                    <a:pt x="2133081" y="23194"/>
                    <a:pt x="2138167" y="35474"/>
                    <a:pt x="2138167" y="48278"/>
                  </a:cubicBezTo>
                  <a:lnTo>
                    <a:pt x="2138167" y="858072"/>
                  </a:lnTo>
                  <a:cubicBezTo>
                    <a:pt x="2138167" y="870876"/>
                    <a:pt x="2133081" y="883155"/>
                    <a:pt x="2124027" y="892209"/>
                  </a:cubicBezTo>
                  <a:cubicBezTo>
                    <a:pt x="2114973" y="901263"/>
                    <a:pt x="2102694" y="906349"/>
                    <a:pt x="2089889" y="906349"/>
                  </a:cubicBezTo>
                  <a:lnTo>
                    <a:pt x="48278" y="906349"/>
                  </a:lnTo>
                  <a:cubicBezTo>
                    <a:pt x="35474" y="906349"/>
                    <a:pt x="23194" y="901263"/>
                    <a:pt x="14140" y="892209"/>
                  </a:cubicBezTo>
                  <a:cubicBezTo>
                    <a:pt x="5086" y="883155"/>
                    <a:pt x="0" y="870876"/>
                    <a:pt x="0" y="858072"/>
                  </a:cubicBezTo>
                  <a:lnTo>
                    <a:pt x="0" y="48278"/>
                  </a:lnTo>
                  <a:cubicBezTo>
                    <a:pt x="0" y="35474"/>
                    <a:pt x="5086" y="23194"/>
                    <a:pt x="14140" y="14140"/>
                  </a:cubicBezTo>
                  <a:cubicBezTo>
                    <a:pt x="23194" y="5086"/>
                    <a:pt x="35474" y="0"/>
                    <a:pt x="4827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138167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271628" y="6965024"/>
            <a:ext cx="3744744" cy="586861"/>
            <a:chOff x="0" y="0"/>
            <a:chExt cx="1684627" cy="2640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84627" cy="264008"/>
            </a:xfrm>
            <a:custGeom>
              <a:avLst/>
              <a:gdLst/>
              <a:ahLst/>
              <a:cxnLst/>
              <a:rect r="r" b="b" t="t" l="l"/>
              <a:pathLst>
                <a:path h="264008" w="1684627">
                  <a:moveTo>
                    <a:pt x="62022" y="0"/>
                  </a:moveTo>
                  <a:lnTo>
                    <a:pt x="1622605" y="0"/>
                  </a:lnTo>
                  <a:cubicBezTo>
                    <a:pt x="1639054" y="0"/>
                    <a:pt x="1654830" y="6534"/>
                    <a:pt x="1666461" y="18166"/>
                  </a:cubicBezTo>
                  <a:cubicBezTo>
                    <a:pt x="1678093" y="29797"/>
                    <a:pt x="1684627" y="45573"/>
                    <a:pt x="1684627" y="62022"/>
                  </a:cubicBezTo>
                  <a:lnTo>
                    <a:pt x="1684627" y="201986"/>
                  </a:lnTo>
                  <a:cubicBezTo>
                    <a:pt x="1684627" y="218435"/>
                    <a:pt x="1678093" y="234210"/>
                    <a:pt x="1666461" y="245842"/>
                  </a:cubicBezTo>
                  <a:cubicBezTo>
                    <a:pt x="1654830" y="257473"/>
                    <a:pt x="1639054" y="264008"/>
                    <a:pt x="1622605" y="264008"/>
                  </a:cubicBezTo>
                  <a:lnTo>
                    <a:pt x="62022" y="264008"/>
                  </a:lnTo>
                  <a:cubicBezTo>
                    <a:pt x="45573" y="264008"/>
                    <a:pt x="29797" y="257473"/>
                    <a:pt x="18166" y="245842"/>
                  </a:cubicBezTo>
                  <a:cubicBezTo>
                    <a:pt x="6534" y="234210"/>
                    <a:pt x="0" y="218435"/>
                    <a:pt x="0" y="201986"/>
                  </a:cubicBezTo>
                  <a:lnTo>
                    <a:pt x="0" y="62022"/>
                  </a:lnTo>
                  <a:cubicBezTo>
                    <a:pt x="0" y="45573"/>
                    <a:pt x="6534" y="29797"/>
                    <a:pt x="18166" y="18166"/>
                  </a:cubicBezTo>
                  <a:cubicBezTo>
                    <a:pt x="29797" y="6534"/>
                    <a:pt x="45573" y="0"/>
                    <a:pt x="62022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684627" cy="321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7775713" y="6944447"/>
            <a:ext cx="273657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spc="-5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Ventanas: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854793" y="7812072"/>
            <a:ext cx="4578414" cy="16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spc="-3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Con inclinación de repisa a 45° (evita polvo). Prohibido vidrio común directo sobre líneas de producción.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954" y="530608"/>
            <a:ext cx="13413785" cy="968734"/>
            <a:chOff x="0" y="0"/>
            <a:chExt cx="6162395" cy="445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62395" cy="445044"/>
            </a:xfrm>
            <a:custGeom>
              <a:avLst/>
              <a:gdLst/>
              <a:ahLst/>
              <a:cxnLst/>
              <a:rect r="r" b="b" t="t" l="l"/>
              <a:pathLst>
                <a:path h="445044" w="6162395">
                  <a:moveTo>
                    <a:pt x="29435" y="0"/>
                  </a:moveTo>
                  <a:lnTo>
                    <a:pt x="6132960" y="0"/>
                  </a:lnTo>
                  <a:cubicBezTo>
                    <a:pt x="6149217" y="0"/>
                    <a:pt x="6162395" y="13179"/>
                    <a:pt x="6162395" y="29435"/>
                  </a:cubicBezTo>
                  <a:lnTo>
                    <a:pt x="6162395" y="415608"/>
                  </a:lnTo>
                  <a:cubicBezTo>
                    <a:pt x="6162395" y="431865"/>
                    <a:pt x="6149217" y="445044"/>
                    <a:pt x="6132960" y="445044"/>
                  </a:cubicBezTo>
                  <a:lnTo>
                    <a:pt x="29435" y="445044"/>
                  </a:lnTo>
                  <a:cubicBezTo>
                    <a:pt x="13179" y="445044"/>
                    <a:pt x="0" y="431865"/>
                    <a:pt x="0" y="415608"/>
                  </a:cubicBezTo>
                  <a:lnTo>
                    <a:pt x="0" y="29435"/>
                  </a:lnTo>
                  <a:cubicBezTo>
                    <a:pt x="0" y="13179"/>
                    <a:pt x="13179" y="0"/>
                    <a:pt x="29435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62395" cy="483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954" y="396912"/>
            <a:ext cx="13048861" cy="1012038"/>
            <a:chOff x="0" y="0"/>
            <a:chExt cx="5994746" cy="464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94746" cy="464938"/>
            </a:xfrm>
            <a:custGeom>
              <a:avLst/>
              <a:gdLst/>
              <a:ahLst/>
              <a:cxnLst/>
              <a:rect r="r" b="b" t="t" l="l"/>
              <a:pathLst>
                <a:path h="464938" w="5994746">
                  <a:moveTo>
                    <a:pt x="30258" y="0"/>
                  </a:moveTo>
                  <a:lnTo>
                    <a:pt x="5964488" y="0"/>
                  </a:lnTo>
                  <a:cubicBezTo>
                    <a:pt x="5981199" y="0"/>
                    <a:pt x="5994746" y="13547"/>
                    <a:pt x="5994746" y="30258"/>
                  </a:cubicBezTo>
                  <a:lnTo>
                    <a:pt x="5994746" y="434680"/>
                  </a:lnTo>
                  <a:cubicBezTo>
                    <a:pt x="5994746" y="451391"/>
                    <a:pt x="5981199" y="464938"/>
                    <a:pt x="5964488" y="464938"/>
                  </a:cubicBezTo>
                  <a:lnTo>
                    <a:pt x="30258" y="464938"/>
                  </a:lnTo>
                  <a:cubicBezTo>
                    <a:pt x="13547" y="464938"/>
                    <a:pt x="0" y="451391"/>
                    <a:pt x="0" y="434680"/>
                  </a:cubicBezTo>
                  <a:lnTo>
                    <a:pt x="0" y="30258"/>
                  </a:lnTo>
                  <a:cubicBezTo>
                    <a:pt x="0" y="13547"/>
                    <a:pt x="13547" y="0"/>
                    <a:pt x="30258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94746" cy="503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2954" y="1880049"/>
            <a:ext cx="16876346" cy="1164000"/>
            <a:chOff x="0" y="0"/>
            <a:chExt cx="4444799" cy="3065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4799" cy="306568"/>
            </a:xfrm>
            <a:custGeom>
              <a:avLst/>
              <a:gdLst/>
              <a:ahLst/>
              <a:cxnLst/>
              <a:rect r="r" b="b" t="t" l="l"/>
              <a:pathLst>
                <a:path h="306568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283172"/>
                  </a:lnTo>
                  <a:cubicBezTo>
                    <a:pt x="4444799" y="289377"/>
                    <a:pt x="4442334" y="295328"/>
                    <a:pt x="4437946" y="299715"/>
                  </a:cubicBezTo>
                  <a:cubicBezTo>
                    <a:pt x="4433559" y="304103"/>
                    <a:pt x="4427608" y="306568"/>
                    <a:pt x="4421403" y="306568"/>
                  </a:cubicBezTo>
                  <a:lnTo>
                    <a:pt x="23396" y="306568"/>
                  </a:lnTo>
                  <a:cubicBezTo>
                    <a:pt x="17191" y="306568"/>
                    <a:pt x="11240" y="304103"/>
                    <a:pt x="6853" y="299715"/>
                  </a:cubicBezTo>
                  <a:cubicBezTo>
                    <a:pt x="2465" y="295328"/>
                    <a:pt x="0" y="289377"/>
                    <a:pt x="0" y="283172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444799" cy="34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2689" y="2151931"/>
            <a:ext cx="637981" cy="636790"/>
            <a:chOff x="0" y="0"/>
            <a:chExt cx="81432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4321" cy="812800"/>
            </a:xfrm>
            <a:custGeom>
              <a:avLst/>
              <a:gdLst/>
              <a:ahLst/>
              <a:cxnLst/>
              <a:rect r="r" b="b" t="t" l="l"/>
              <a:pathLst>
                <a:path h="812800" w="814321">
                  <a:moveTo>
                    <a:pt x="407160" y="0"/>
                  </a:moveTo>
                  <a:cubicBezTo>
                    <a:pt x="182292" y="0"/>
                    <a:pt x="0" y="181951"/>
                    <a:pt x="0" y="406400"/>
                  </a:cubicBezTo>
                  <a:cubicBezTo>
                    <a:pt x="0" y="630849"/>
                    <a:pt x="182292" y="812800"/>
                    <a:pt x="407160" y="812800"/>
                  </a:cubicBezTo>
                  <a:cubicBezTo>
                    <a:pt x="632029" y="812800"/>
                    <a:pt x="814321" y="630849"/>
                    <a:pt x="814321" y="406400"/>
                  </a:cubicBezTo>
                  <a:cubicBezTo>
                    <a:pt x="814321" y="181951"/>
                    <a:pt x="632029" y="0"/>
                    <a:pt x="40716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343" y="38100"/>
              <a:ext cx="66163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15556" y="478425"/>
            <a:ext cx="12583656" cy="76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8"/>
              </a:lnSpc>
            </a:pPr>
            <a:r>
              <a:rPr lang="en-US" sz="4449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Procesos Operativos, Temperaturas y Descongelación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4711" y="2172829"/>
            <a:ext cx="360331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Higiene Personal: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28526" y="1972464"/>
            <a:ext cx="11897259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Sin joy</a:t>
            </a:r>
            <a:r>
              <a:rPr lang="en-US" sz="27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as/accesorios, cabello recogido, ropa clara/limpia, lavado de manos continuo.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82954" y="3235576"/>
            <a:ext cx="16876346" cy="1164000"/>
            <a:chOff x="0" y="0"/>
            <a:chExt cx="4444799" cy="3065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4799" cy="306568"/>
            </a:xfrm>
            <a:custGeom>
              <a:avLst/>
              <a:gdLst/>
              <a:ahLst/>
              <a:cxnLst/>
              <a:rect r="r" b="b" t="t" l="l"/>
              <a:pathLst>
                <a:path h="306568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283172"/>
                  </a:lnTo>
                  <a:cubicBezTo>
                    <a:pt x="4444799" y="289377"/>
                    <a:pt x="4442334" y="295328"/>
                    <a:pt x="4437946" y="299715"/>
                  </a:cubicBezTo>
                  <a:cubicBezTo>
                    <a:pt x="4433559" y="304103"/>
                    <a:pt x="4427608" y="306568"/>
                    <a:pt x="4421403" y="306568"/>
                  </a:cubicBezTo>
                  <a:lnTo>
                    <a:pt x="23396" y="306568"/>
                  </a:lnTo>
                  <a:cubicBezTo>
                    <a:pt x="17191" y="306568"/>
                    <a:pt x="11240" y="304103"/>
                    <a:pt x="6853" y="299715"/>
                  </a:cubicBezTo>
                  <a:cubicBezTo>
                    <a:pt x="2465" y="295328"/>
                    <a:pt x="0" y="289377"/>
                    <a:pt x="0" y="283172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444799" cy="34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2689" y="3507458"/>
            <a:ext cx="637981" cy="636790"/>
            <a:chOff x="0" y="0"/>
            <a:chExt cx="814321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4321" cy="812800"/>
            </a:xfrm>
            <a:custGeom>
              <a:avLst/>
              <a:gdLst/>
              <a:ahLst/>
              <a:cxnLst/>
              <a:rect r="r" b="b" t="t" l="l"/>
              <a:pathLst>
                <a:path h="812800" w="814321">
                  <a:moveTo>
                    <a:pt x="407160" y="0"/>
                  </a:moveTo>
                  <a:cubicBezTo>
                    <a:pt x="182292" y="0"/>
                    <a:pt x="0" y="181951"/>
                    <a:pt x="0" y="406400"/>
                  </a:cubicBezTo>
                  <a:cubicBezTo>
                    <a:pt x="0" y="630849"/>
                    <a:pt x="182292" y="812800"/>
                    <a:pt x="407160" y="812800"/>
                  </a:cubicBezTo>
                  <a:cubicBezTo>
                    <a:pt x="632029" y="812800"/>
                    <a:pt x="814321" y="630849"/>
                    <a:pt x="814321" y="406400"/>
                  </a:cubicBezTo>
                  <a:cubicBezTo>
                    <a:pt x="814321" y="181951"/>
                    <a:pt x="632029" y="0"/>
                    <a:pt x="40716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343" y="38100"/>
              <a:ext cx="66163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94711" y="3518830"/>
            <a:ext cx="658512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Zona de Peligro de Temperatura: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75852" y="3318466"/>
            <a:ext cx="933287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Rango de 4 °C a 60 °C, donde l</a:t>
            </a: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as bacterias se multiplican rápidamente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82954" y="4590075"/>
            <a:ext cx="16876346" cy="1660041"/>
            <a:chOff x="0" y="0"/>
            <a:chExt cx="4444799" cy="4372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44799" cy="437213"/>
            </a:xfrm>
            <a:custGeom>
              <a:avLst/>
              <a:gdLst/>
              <a:ahLst/>
              <a:cxnLst/>
              <a:rect r="r" b="b" t="t" l="l"/>
              <a:pathLst>
                <a:path h="437213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413817"/>
                  </a:lnTo>
                  <a:cubicBezTo>
                    <a:pt x="4444799" y="426738"/>
                    <a:pt x="4434324" y="437213"/>
                    <a:pt x="4421403" y="437213"/>
                  </a:cubicBezTo>
                  <a:lnTo>
                    <a:pt x="23396" y="437213"/>
                  </a:lnTo>
                  <a:cubicBezTo>
                    <a:pt x="17191" y="437213"/>
                    <a:pt x="11240" y="434748"/>
                    <a:pt x="6853" y="430360"/>
                  </a:cubicBezTo>
                  <a:cubicBezTo>
                    <a:pt x="2465" y="425972"/>
                    <a:pt x="0" y="420022"/>
                    <a:pt x="0" y="413817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444799" cy="475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62689" y="5101701"/>
            <a:ext cx="637981" cy="636790"/>
            <a:chOff x="0" y="0"/>
            <a:chExt cx="81432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4321" cy="812800"/>
            </a:xfrm>
            <a:custGeom>
              <a:avLst/>
              <a:gdLst/>
              <a:ahLst/>
              <a:cxnLst/>
              <a:rect r="r" b="b" t="t" l="l"/>
              <a:pathLst>
                <a:path h="812800" w="814321">
                  <a:moveTo>
                    <a:pt x="407160" y="0"/>
                  </a:moveTo>
                  <a:cubicBezTo>
                    <a:pt x="182292" y="0"/>
                    <a:pt x="0" y="181951"/>
                    <a:pt x="0" y="406400"/>
                  </a:cubicBezTo>
                  <a:cubicBezTo>
                    <a:pt x="0" y="630849"/>
                    <a:pt x="182292" y="812800"/>
                    <a:pt x="407160" y="812800"/>
                  </a:cubicBezTo>
                  <a:cubicBezTo>
                    <a:pt x="632029" y="812800"/>
                    <a:pt x="814321" y="630849"/>
                    <a:pt x="814321" y="406400"/>
                  </a:cubicBezTo>
                  <a:cubicBezTo>
                    <a:pt x="814321" y="181951"/>
                    <a:pt x="632029" y="0"/>
                    <a:pt x="40716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343" y="38100"/>
              <a:ext cx="66163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021773" y="4692386"/>
            <a:ext cx="10879068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Alimentos Frío</a:t>
            </a: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s: </a:t>
            </a:r>
            <a:r>
              <a:rPr lang="en-US" sz="27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-4° - </a:t>
            </a: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Alimentos Calientes: </a:t>
            </a:r>
            <a:r>
              <a:rPr lang="en-US" sz="27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+60° 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Recalentamiento:</a:t>
            </a:r>
            <a:r>
              <a:rPr lang="en-US" sz="27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 Mínimo 74 °C a 75 °C en el centro térmico por 30 segundos (o ebullición para líquidos).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4711" y="5124821"/>
            <a:ext cx="462706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Temperaturas Seguras: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95424" y="6478716"/>
            <a:ext cx="79688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Métodos Autorizados de Descongelación: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2689" y="8986482"/>
            <a:ext cx="1634603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❌ Prohibido: Descongelar a temperatura ambiente, en agua caliente o volver a congelar un producto descongelado.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97534" y="7193091"/>
            <a:ext cx="16876346" cy="1660041"/>
            <a:chOff x="0" y="0"/>
            <a:chExt cx="4444799" cy="4372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44799" cy="437213"/>
            </a:xfrm>
            <a:custGeom>
              <a:avLst/>
              <a:gdLst/>
              <a:ahLst/>
              <a:cxnLst/>
              <a:rect r="r" b="b" t="t" l="l"/>
              <a:pathLst>
                <a:path h="437213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413817"/>
                  </a:lnTo>
                  <a:cubicBezTo>
                    <a:pt x="4444799" y="426738"/>
                    <a:pt x="4434324" y="437213"/>
                    <a:pt x="4421403" y="437213"/>
                  </a:cubicBezTo>
                  <a:lnTo>
                    <a:pt x="23396" y="437213"/>
                  </a:lnTo>
                  <a:cubicBezTo>
                    <a:pt x="17191" y="437213"/>
                    <a:pt x="11240" y="434748"/>
                    <a:pt x="6853" y="430360"/>
                  </a:cubicBezTo>
                  <a:cubicBezTo>
                    <a:pt x="2465" y="425972"/>
                    <a:pt x="0" y="420022"/>
                    <a:pt x="0" y="413817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444799" cy="475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0" y="7295402"/>
            <a:ext cx="7771421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AutoNum type="arabicPeriod" startAt="1"/>
            </a:pP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En refrigeración -4° (el más seguro). </a:t>
            </a:r>
          </a:p>
          <a:p>
            <a:pPr algn="l" marL="582933" indent="-291467" lvl="1">
              <a:lnSpc>
                <a:spcPts val="3780"/>
              </a:lnSpc>
              <a:buAutoNum type="arabicPeriod" startAt="1"/>
            </a:pP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En microonda</a:t>
            </a: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 (si se cocina inmediatamente)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1561" y="7288341"/>
            <a:ext cx="7771421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AutoNum type="arabicPeriod" startAt="1"/>
            </a:pP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En cocción directa desde congelado. </a:t>
            </a:r>
          </a:p>
          <a:p>
            <a:pPr algn="l" marL="582933" indent="-291467" lvl="1">
              <a:lnSpc>
                <a:spcPts val="3780"/>
              </a:lnSpc>
              <a:buAutoNum type="arabicPeriod" startAt="1"/>
            </a:pP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Bajo chorro de agua</a:t>
            </a:r>
            <a:r>
              <a:rPr lang="en-US" b="true" sz="27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 fría potable en circulación.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312313" y="73120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0112" y="425618"/>
            <a:ext cx="14132801" cy="1316455"/>
            <a:chOff x="0" y="0"/>
            <a:chExt cx="4002078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02077" cy="372789"/>
            </a:xfrm>
            <a:custGeom>
              <a:avLst/>
              <a:gdLst/>
              <a:ahLst/>
              <a:cxnLst/>
              <a:rect r="r" b="b" t="t" l="l"/>
              <a:pathLst>
                <a:path h="372789" w="4002077">
                  <a:moveTo>
                    <a:pt x="27938" y="0"/>
                  </a:moveTo>
                  <a:lnTo>
                    <a:pt x="3974140" y="0"/>
                  </a:lnTo>
                  <a:cubicBezTo>
                    <a:pt x="3989569" y="0"/>
                    <a:pt x="4002077" y="12508"/>
                    <a:pt x="4002077" y="27938"/>
                  </a:cubicBezTo>
                  <a:lnTo>
                    <a:pt x="4002077" y="344852"/>
                  </a:lnTo>
                  <a:cubicBezTo>
                    <a:pt x="4002077" y="360281"/>
                    <a:pt x="3989569" y="372789"/>
                    <a:pt x="3974140" y="372789"/>
                  </a:cubicBezTo>
                  <a:lnTo>
                    <a:pt x="27938" y="372789"/>
                  </a:lnTo>
                  <a:cubicBezTo>
                    <a:pt x="12508" y="372789"/>
                    <a:pt x="0" y="360281"/>
                    <a:pt x="0" y="344852"/>
                  </a:cubicBezTo>
                  <a:lnTo>
                    <a:pt x="0" y="27938"/>
                  </a:lnTo>
                  <a:cubicBezTo>
                    <a:pt x="0" y="12508"/>
                    <a:pt x="12508" y="0"/>
                    <a:pt x="27938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02078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14085497" cy="1087855"/>
            <a:chOff x="0" y="0"/>
            <a:chExt cx="3988682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88682" cy="308055"/>
            </a:xfrm>
            <a:custGeom>
              <a:avLst/>
              <a:gdLst/>
              <a:ahLst/>
              <a:cxnLst/>
              <a:rect r="r" b="b" t="t" l="l"/>
              <a:pathLst>
                <a:path h="308055" w="3988682">
                  <a:moveTo>
                    <a:pt x="28032" y="0"/>
                  </a:moveTo>
                  <a:lnTo>
                    <a:pt x="3960650" y="0"/>
                  </a:lnTo>
                  <a:cubicBezTo>
                    <a:pt x="3968085" y="0"/>
                    <a:pt x="3975215" y="2953"/>
                    <a:pt x="3980472" y="8210"/>
                  </a:cubicBezTo>
                  <a:cubicBezTo>
                    <a:pt x="3985729" y="13467"/>
                    <a:pt x="3988682" y="20597"/>
                    <a:pt x="3988682" y="28032"/>
                  </a:cubicBezTo>
                  <a:lnTo>
                    <a:pt x="3988682" y="280024"/>
                  </a:lnTo>
                  <a:cubicBezTo>
                    <a:pt x="3988682" y="287458"/>
                    <a:pt x="3985729" y="294588"/>
                    <a:pt x="3980472" y="299845"/>
                  </a:cubicBezTo>
                  <a:cubicBezTo>
                    <a:pt x="3975215" y="305102"/>
                    <a:pt x="3968085" y="308055"/>
                    <a:pt x="3960650" y="308055"/>
                  </a:cubicBezTo>
                  <a:lnTo>
                    <a:pt x="28032" y="308055"/>
                  </a:lnTo>
                  <a:cubicBezTo>
                    <a:pt x="20597" y="308055"/>
                    <a:pt x="13467" y="305102"/>
                    <a:pt x="8210" y="299845"/>
                  </a:cubicBezTo>
                  <a:cubicBezTo>
                    <a:pt x="2953" y="294588"/>
                    <a:pt x="0" y="287458"/>
                    <a:pt x="0" y="280024"/>
                  </a:cubicBezTo>
                  <a:lnTo>
                    <a:pt x="0" y="28032"/>
                  </a:lnTo>
                  <a:cubicBezTo>
                    <a:pt x="0" y="20597"/>
                    <a:pt x="2953" y="13467"/>
                    <a:pt x="8210" y="8210"/>
                  </a:cubicBezTo>
                  <a:cubicBezTo>
                    <a:pt x="13467" y="2953"/>
                    <a:pt x="20597" y="0"/>
                    <a:pt x="28032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88682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397" y="4459818"/>
            <a:ext cx="3529289" cy="2043094"/>
            <a:chOff x="0" y="0"/>
            <a:chExt cx="1587702" cy="919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09270" y="526049"/>
            <a:ext cx="13763271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u="sng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POES </a:t>
            </a:r>
            <a:r>
              <a:rPr lang="en-US" sz="40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- (Procedimientos Operativos Estandarizados de Saneamiento)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2094" y="1852267"/>
            <a:ext cx="16367206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5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Documentos obligatorios paso a paso que describen las tareas de limpieza y desinfección en una planta o cocina.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218989" y="4459818"/>
            <a:ext cx="3529289" cy="2043094"/>
            <a:chOff x="0" y="0"/>
            <a:chExt cx="1587702" cy="9191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39723" y="4488196"/>
            <a:ext cx="3529289" cy="2014716"/>
            <a:chOff x="0" y="0"/>
            <a:chExt cx="1587702" cy="9063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7702" cy="906349"/>
            </a:xfrm>
            <a:custGeom>
              <a:avLst/>
              <a:gdLst/>
              <a:ahLst/>
              <a:cxnLst/>
              <a:rect r="r" b="b" t="t" l="l"/>
              <a:pathLst>
                <a:path h="906349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41333"/>
                  </a:lnTo>
                  <a:cubicBezTo>
                    <a:pt x="1587702" y="858577"/>
                    <a:pt x="1580852" y="875114"/>
                    <a:pt x="1568659" y="887306"/>
                  </a:cubicBezTo>
                  <a:cubicBezTo>
                    <a:pt x="1556466" y="899499"/>
                    <a:pt x="1539929" y="906349"/>
                    <a:pt x="1522686" y="906349"/>
                  </a:cubicBezTo>
                  <a:lnTo>
                    <a:pt x="65016" y="906349"/>
                  </a:lnTo>
                  <a:cubicBezTo>
                    <a:pt x="47772" y="906349"/>
                    <a:pt x="31235" y="899499"/>
                    <a:pt x="19043" y="887306"/>
                  </a:cubicBezTo>
                  <a:cubicBezTo>
                    <a:pt x="6850" y="875114"/>
                    <a:pt x="0" y="858577"/>
                    <a:pt x="0" y="841333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87702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98314" y="4488196"/>
            <a:ext cx="3529289" cy="2014716"/>
            <a:chOff x="0" y="0"/>
            <a:chExt cx="1587702" cy="9063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7702" cy="906349"/>
            </a:xfrm>
            <a:custGeom>
              <a:avLst/>
              <a:gdLst/>
              <a:ahLst/>
              <a:cxnLst/>
              <a:rect r="r" b="b" t="t" l="l"/>
              <a:pathLst>
                <a:path h="906349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41333"/>
                  </a:lnTo>
                  <a:cubicBezTo>
                    <a:pt x="1587702" y="858577"/>
                    <a:pt x="1580852" y="875114"/>
                    <a:pt x="1568659" y="887306"/>
                  </a:cubicBezTo>
                  <a:cubicBezTo>
                    <a:pt x="1556466" y="899499"/>
                    <a:pt x="1539929" y="906349"/>
                    <a:pt x="1522686" y="906349"/>
                  </a:cubicBezTo>
                  <a:lnTo>
                    <a:pt x="65016" y="906349"/>
                  </a:lnTo>
                  <a:cubicBezTo>
                    <a:pt x="47772" y="906349"/>
                    <a:pt x="31235" y="899499"/>
                    <a:pt x="19043" y="887306"/>
                  </a:cubicBezTo>
                  <a:cubicBezTo>
                    <a:pt x="6850" y="875114"/>
                    <a:pt x="0" y="858577"/>
                    <a:pt x="0" y="841333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87702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74208" y="4636082"/>
            <a:ext cx="326987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 spc="-48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Seguridad y potabilidad del agua.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580" y="73120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7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60397" y="7415342"/>
            <a:ext cx="3529289" cy="2043094"/>
            <a:chOff x="0" y="0"/>
            <a:chExt cx="1587702" cy="9191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5185" y="3394352"/>
            <a:ext cx="7218110" cy="694321"/>
            <a:chOff x="0" y="0"/>
            <a:chExt cx="3247172" cy="3123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47172" cy="312350"/>
            </a:xfrm>
            <a:custGeom>
              <a:avLst/>
              <a:gdLst/>
              <a:ahLst/>
              <a:cxnLst/>
              <a:rect r="r" b="b" t="t" l="l"/>
              <a:pathLst>
                <a:path h="312350" w="3247172">
                  <a:moveTo>
                    <a:pt x="32177" y="0"/>
                  </a:moveTo>
                  <a:lnTo>
                    <a:pt x="3214995" y="0"/>
                  </a:lnTo>
                  <a:cubicBezTo>
                    <a:pt x="3223529" y="0"/>
                    <a:pt x="3231713" y="3390"/>
                    <a:pt x="3237747" y="9424"/>
                  </a:cubicBezTo>
                  <a:cubicBezTo>
                    <a:pt x="3243782" y="15459"/>
                    <a:pt x="3247172" y="23643"/>
                    <a:pt x="3247172" y="32177"/>
                  </a:cubicBezTo>
                  <a:lnTo>
                    <a:pt x="3247172" y="280173"/>
                  </a:lnTo>
                  <a:cubicBezTo>
                    <a:pt x="3247172" y="288707"/>
                    <a:pt x="3243782" y="296892"/>
                    <a:pt x="3237747" y="302926"/>
                  </a:cubicBezTo>
                  <a:cubicBezTo>
                    <a:pt x="3231713" y="308960"/>
                    <a:pt x="3223529" y="312350"/>
                    <a:pt x="3214995" y="312350"/>
                  </a:cubicBezTo>
                  <a:lnTo>
                    <a:pt x="32177" y="312350"/>
                  </a:lnTo>
                  <a:cubicBezTo>
                    <a:pt x="23643" y="312350"/>
                    <a:pt x="15459" y="308960"/>
                    <a:pt x="9424" y="302926"/>
                  </a:cubicBezTo>
                  <a:cubicBezTo>
                    <a:pt x="3390" y="296892"/>
                    <a:pt x="0" y="288707"/>
                    <a:pt x="0" y="280173"/>
                  </a:cubicBezTo>
                  <a:lnTo>
                    <a:pt x="0" y="32177"/>
                  </a:lnTo>
                  <a:cubicBezTo>
                    <a:pt x="0" y="23643"/>
                    <a:pt x="3390" y="15459"/>
                    <a:pt x="9424" y="9424"/>
                  </a:cubicBezTo>
                  <a:cubicBezTo>
                    <a:pt x="15459" y="3390"/>
                    <a:pt x="23643" y="0"/>
                    <a:pt x="3217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247172" cy="36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43017" y="3464018"/>
            <a:ext cx="6840960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 spc="-43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Las 8 Condiciones Clave POES (FDA):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218989" y="7415342"/>
            <a:ext cx="3529289" cy="2043094"/>
            <a:chOff x="0" y="0"/>
            <a:chExt cx="1587702" cy="9191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87702" cy="919115"/>
            </a:xfrm>
            <a:custGeom>
              <a:avLst/>
              <a:gdLst/>
              <a:ahLst/>
              <a:cxnLst/>
              <a:rect r="r" b="b" t="t" l="l"/>
              <a:pathLst>
                <a:path h="919115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54100"/>
                  </a:lnTo>
                  <a:cubicBezTo>
                    <a:pt x="1587702" y="890007"/>
                    <a:pt x="1558593" y="919115"/>
                    <a:pt x="1522686" y="919115"/>
                  </a:cubicBezTo>
                  <a:lnTo>
                    <a:pt x="65016" y="919115"/>
                  </a:lnTo>
                  <a:cubicBezTo>
                    <a:pt x="47772" y="919115"/>
                    <a:pt x="31235" y="912266"/>
                    <a:pt x="19043" y="900073"/>
                  </a:cubicBezTo>
                  <a:cubicBezTo>
                    <a:pt x="6850" y="887880"/>
                    <a:pt x="0" y="871343"/>
                    <a:pt x="0" y="854100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587702" cy="95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39723" y="7443720"/>
            <a:ext cx="3529289" cy="2014716"/>
            <a:chOff x="0" y="0"/>
            <a:chExt cx="1587702" cy="9063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87702" cy="906349"/>
            </a:xfrm>
            <a:custGeom>
              <a:avLst/>
              <a:gdLst/>
              <a:ahLst/>
              <a:cxnLst/>
              <a:rect r="r" b="b" t="t" l="l"/>
              <a:pathLst>
                <a:path h="906349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41333"/>
                  </a:lnTo>
                  <a:cubicBezTo>
                    <a:pt x="1587702" y="858577"/>
                    <a:pt x="1580852" y="875114"/>
                    <a:pt x="1568659" y="887306"/>
                  </a:cubicBezTo>
                  <a:cubicBezTo>
                    <a:pt x="1556466" y="899499"/>
                    <a:pt x="1539929" y="906349"/>
                    <a:pt x="1522686" y="906349"/>
                  </a:cubicBezTo>
                  <a:lnTo>
                    <a:pt x="65016" y="906349"/>
                  </a:lnTo>
                  <a:cubicBezTo>
                    <a:pt x="47772" y="906349"/>
                    <a:pt x="31235" y="899499"/>
                    <a:pt x="19043" y="887306"/>
                  </a:cubicBezTo>
                  <a:cubicBezTo>
                    <a:pt x="6850" y="875114"/>
                    <a:pt x="0" y="858577"/>
                    <a:pt x="0" y="841333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587702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98314" y="7443720"/>
            <a:ext cx="3529289" cy="2014716"/>
            <a:chOff x="0" y="0"/>
            <a:chExt cx="1587702" cy="9063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87702" cy="906349"/>
            </a:xfrm>
            <a:custGeom>
              <a:avLst/>
              <a:gdLst/>
              <a:ahLst/>
              <a:cxnLst/>
              <a:rect r="r" b="b" t="t" l="l"/>
              <a:pathLst>
                <a:path h="906349" w="1587702">
                  <a:moveTo>
                    <a:pt x="65016" y="0"/>
                  </a:moveTo>
                  <a:lnTo>
                    <a:pt x="1522686" y="0"/>
                  </a:lnTo>
                  <a:cubicBezTo>
                    <a:pt x="1539929" y="0"/>
                    <a:pt x="1556466" y="6850"/>
                    <a:pt x="1568659" y="19043"/>
                  </a:cubicBezTo>
                  <a:cubicBezTo>
                    <a:pt x="1580852" y="31235"/>
                    <a:pt x="1587702" y="47772"/>
                    <a:pt x="1587702" y="65016"/>
                  </a:cubicBezTo>
                  <a:lnTo>
                    <a:pt x="1587702" y="841333"/>
                  </a:lnTo>
                  <a:cubicBezTo>
                    <a:pt x="1587702" y="858577"/>
                    <a:pt x="1580852" y="875114"/>
                    <a:pt x="1568659" y="887306"/>
                  </a:cubicBezTo>
                  <a:cubicBezTo>
                    <a:pt x="1556466" y="899499"/>
                    <a:pt x="1539929" y="906349"/>
                    <a:pt x="1522686" y="906349"/>
                  </a:cubicBezTo>
                  <a:lnTo>
                    <a:pt x="65016" y="906349"/>
                  </a:lnTo>
                  <a:cubicBezTo>
                    <a:pt x="47772" y="906349"/>
                    <a:pt x="31235" y="899499"/>
                    <a:pt x="19043" y="887306"/>
                  </a:cubicBezTo>
                  <a:cubicBezTo>
                    <a:pt x="6850" y="875114"/>
                    <a:pt x="0" y="858577"/>
                    <a:pt x="0" y="841333"/>
                  </a:cubicBezTo>
                  <a:lnTo>
                    <a:pt x="0" y="65016"/>
                  </a:lnTo>
                  <a:cubicBezTo>
                    <a:pt x="0" y="47772"/>
                    <a:pt x="6850" y="31235"/>
                    <a:pt x="19043" y="19043"/>
                  </a:cubicBezTo>
                  <a:cubicBezTo>
                    <a:pt x="31235" y="6850"/>
                    <a:pt x="47772" y="0"/>
                    <a:pt x="65016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587702" cy="94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348694" y="4785624"/>
            <a:ext cx="3269879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AutoNum type="arabicPeriod" startAt="1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Limpieza de superficies de contacto directo.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9427" y="4785624"/>
            <a:ext cx="3269879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AutoNum type="arabicPeriod" startAt="1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Prevención de la contaminación cruzada.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928019" y="4731650"/>
            <a:ext cx="3269879" cy="148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AutoNum type="arabicPeriod" startAt="1"/>
            </a:pPr>
            <a:r>
              <a:rPr lang="en-US" sz="2100" spc="-31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Mantenimiento de estaciones de lavado de manos/servicios higiénicos.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0102" y="7726959"/>
            <a:ext cx="326987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090102" y="7591069"/>
            <a:ext cx="3269879" cy="16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AutoNum type="arabicPeriod" startAt="1"/>
            </a:pPr>
            <a:r>
              <a:rPr lang="en-US" sz="2400" spc="-3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Protección contra adulterantes/contaminantes físicos y químicos.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348694" y="7645679"/>
            <a:ext cx="3269879" cy="15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Rotulado, almacenamiento y uso adecuado de químicos tóxicos.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69427" y="7626629"/>
            <a:ext cx="326987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 spc="-48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Salud e higiene del personal.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928019" y="7596505"/>
            <a:ext cx="326987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 spc="-48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Exclusión y control de plagas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8087" y="530048"/>
            <a:ext cx="13196107" cy="1212025"/>
            <a:chOff x="0" y="0"/>
            <a:chExt cx="3736828" cy="3432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36828" cy="343217"/>
            </a:xfrm>
            <a:custGeom>
              <a:avLst/>
              <a:gdLst/>
              <a:ahLst/>
              <a:cxnLst/>
              <a:rect r="r" b="b" t="t" l="l"/>
              <a:pathLst>
                <a:path h="343217" w="3736828">
                  <a:moveTo>
                    <a:pt x="29921" y="0"/>
                  </a:moveTo>
                  <a:lnTo>
                    <a:pt x="3706907" y="0"/>
                  </a:lnTo>
                  <a:cubicBezTo>
                    <a:pt x="3723432" y="0"/>
                    <a:pt x="3736828" y="13396"/>
                    <a:pt x="3736828" y="29921"/>
                  </a:cubicBezTo>
                  <a:lnTo>
                    <a:pt x="3736828" y="313296"/>
                  </a:lnTo>
                  <a:cubicBezTo>
                    <a:pt x="3736828" y="321232"/>
                    <a:pt x="3733675" y="328842"/>
                    <a:pt x="3728064" y="334454"/>
                  </a:cubicBezTo>
                  <a:cubicBezTo>
                    <a:pt x="3722453" y="340065"/>
                    <a:pt x="3714842" y="343217"/>
                    <a:pt x="3706907" y="343217"/>
                  </a:cubicBezTo>
                  <a:lnTo>
                    <a:pt x="29921" y="343217"/>
                  </a:lnTo>
                  <a:cubicBezTo>
                    <a:pt x="13396" y="343217"/>
                    <a:pt x="0" y="329821"/>
                    <a:pt x="0" y="313296"/>
                  </a:cubicBezTo>
                  <a:lnTo>
                    <a:pt x="0" y="29921"/>
                  </a:lnTo>
                  <a:cubicBezTo>
                    <a:pt x="0" y="13396"/>
                    <a:pt x="13396" y="0"/>
                    <a:pt x="29921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36828" cy="381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68087" y="425618"/>
            <a:ext cx="12949441" cy="1087855"/>
            <a:chOff x="0" y="0"/>
            <a:chExt cx="3666978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66978" cy="308055"/>
            </a:xfrm>
            <a:custGeom>
              <a:avLst/>
              <a:gdLst/>
              <a:ahLst/>
              <a:cxnLst/>
              <a:rect r="r" b="b" t="t" l="l"/>
              <a:pathLst>
                <a:path h="308055" w="3666978">
                  <a:moveTo>
                    <a:pt x="30491" y="0"/>
                  </a:moveTo>
                  <a:lnTo>
                    <a:pt x="3636487" y="0"/>
                  </a:lnTo>
                  <a:cubicBezTo>
                    <a:pt x="3653327" y="0"/>
                    <a:pt x="3666978" y="13651"/>
                    <a:pt x="3666978" y="30491"/>
                  </a:cubicBezTo>
                  <a:lnTo>
                    <a:pt x="3666978" y="277564"/>
                  </a:lnTo>
                  <a:cubicBezTo>
                    <a:pt x="3666978" y="285651"/>
                    <a:pt x="3663765" y="293406"/>
                    <a:pt x="3658047" y="299125"/>
                  </a:cubicBezTo>
                  <a:cubicBezTo>
                    <a:pt x="3652329" y="304843"/>
                    <a:pt x="3644574" y="308055"/>
                    <a:pt x="3636487" y="308055"/>
                  </a:cubicBezTo>
                  <a:lnTo>
                    <a:pt x="30491" y="308055"/>
                  </a:lnTo>
                  <a:cubicBezTo>
                    <a:pt x="13651" y="308055"/>
                    <a:pt x="0" y="294404"/>
                    <a:pt x="0" y="277564"/>
                  </a:cubicBezTo>
                  <a:lnTo>
                    <a:pt x="0" y="30491"/>
                  </a:lnTo>
                  <a:cubicBezTo>
                    <a:pt x="0" y="13651"/>
                    <a:pt x="13651" y="0"/>
                    <a:pt x="30491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66978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70606" y="475834"/>
            <a:ext cx="12544401" cy="87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72727"/>
                </a:solidFill>
                <a:latin typeface="TC October"/>
                <a:ea typeface="TC October"/>
                <a:cs typeface="TC October"/>
                <a:sym typeface="TC October"/>
              </a:rPr>
              <a:t>M</a:t>
            </a:r>
            <a:r>
              <a:rPr lang="en-US" sz="5000">
                <a:solidFill>
                  <a:srgbClr val="272727"/>
                </a:solidFill>
                <a:latin typeface="TC October"/>
                <a:ea typeface="TC October"/>
                <a:cs typeface="TC October"/>
                <a:sym typeface="TC October"/>
              </a:rPr>
              <a:t>edidas de Saneamiento: Limpieza vs. Desinfección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89879"/>
            <a:ext cx="162306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-45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Higienizar</a:t>
            </a:r>
            <a:r>
              <a:rPr lang="en-US" sz="3000" spc="-45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= </a:t>
            </a:r>
            <a:r>
              <a:rPr lang="en-US" b="true" sz="3000" spc="-45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Limpiar</a:t>
            </a:r>
            <a:r>
              <a:rPr lang="en-US" sz="3000" spc="-45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(eliminar lo visible) + </a:t>
            </a:r>
            <a:r>
              <a:rPr lang="en-US" b="true" sz="3000" spc="-45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Desinfectar </a:t>
            </a:r>
            <a:r>
              <a:rPr lang="en-US" sz="3000" spc="-45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(eliminar microorganismos).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093869"/>
            <a:ext cx="5312801" cy="1395978"/>
            <a:chOff x="0" y="0"/>
            <a:chExt cx="2390041" cy="6280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0041" cy="628001"/>
            </a:xfrm>
            <a:custGeom>
              <a:avLst/>
              <a:gdLst/>
              <a:ahLst/>
              <a:cxnLst/>
              <a:rect r="r" b="b" t="t" l="l"/>
              <a:pathLst>
                <a:path h="628001" w="2390041">
                  <a:moveTo>
                    <a:pt x="43190" y="0"/>
                  </a:moveTo>
                  <a:lnTo>
                    <a:pt x="2346851" y="0"/>
                  </a:lnTo>
                  <a:cubicBezTo>
                    <a:pt x="2358305" y="0"/>
                    <a:pt x="2369291" y="4550"/>
                    <a:pt x="2377391" y="12650"/>
                  </a:cubicBezTo>
                  <a:cubicBezTo>
                    <a:pt x="2385490" y="20750"/>
                    <a:pt x="2390041" y="31735"/>
                    <a:pt x="2390041" y="43190"/>
                  </a:cubicBezTo>
                  <a:lnTo>
                    <a:pt x="2390041" y="584811"/>
                  </a:lnTo>
                  <a:cubicBezTo>
                    <a:pt x="2390041" y="608664"/>
                    <a:pt x="2370704" y="628001"/>
                    <a:pt x="2346851" y="628001"/>
                  </a:cubicBezTo>
                  <a:lnTo>
                    <a:pt x="43190" y="628001"/>
                  </a:lnTo>
                  <a:cubicBezTo>
                    <a:pt x="31735" y="628001"/>
                    <a:pt x="20750" y="623450"/>
                    <a:pt x="12650" y="615351"/>
                  </a:cubicBezTo>
                  <a:cubicBezTo>
                    <a:pt x="4550" y="607251"/>
                    <a:pt x="0" y="596266"/>
                    <a:pt x="0" y="584811"/>
                  </a:cubicBezTo>
                  <a:lnTo>
                    <a:pt x="0" y="43190"/>
                  </a:lnTo>
                  <a:cubicBezTo>
                    <a:pt x="0" y="31735"/>
                    <a:pt x="4550" y="20750"/>
                    <a:pt x="12650" y="12650"/>
                  </a:cubicBezTo>
                  <a:cubicBezTo>
                    <a:pt x="20750" y="4550"/>
                    <a:pt x="31735" y="0"/>
                    <a:pt x="43190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90041" cy="666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36709" y="3371786"/>
            <a:ext cx="3595975" cy="574305"/>
            <a:chOff x="0" y="0"/>
            <a:chExt cx="1617702" cy="258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7702" cy="258360"/>
            </a:xfrm>
            <a:custGeom>
              <a:avLst/>
              <a:gdLst/>
              <a:ahLst/>
              <a:cxnLst/>
              <a:rect r="r" b="b" t="t" l="l"/>
              <a:pathLst>
                <a:path h="258360" w="1617702">
                  <a:moveTo>
                    <a:pt x="64588" y="0"/>
                  </a:moveTo>
                  <a:lnTo>
                    <a:pt x="1553113" y="0"/>
                  </a:lnTo>
                  <a:cubicBezTo>
                    <a:pt x="1570243" y="0"/>
                    <a:pt x="1586672" y="6805"/>
                    <a:pt x="1598784" y="18917"/>
                  </a:cubicBezTo>
                  <a:cubicBezTo>
                    <a:pt x="1610897" y="31030"/>
                    <a:pt x="1617702" y="47458"/>
                    <a:pt x="1617702" y="64588"/>
                  </a:cubicBezTo>
                  <a:lnTo>
                    <a:pt x="1617702" y="193771"/>
                  </a:lnTo>
                  <a:cubicBezTo>
                    <a:pt x="1617702" y="210901"/>
                    <a:pt x="1610897" y="227330"/>
                    <a:pt x="1598784" y="239442"/>
                  </a:cubicBezTo>
                  <a:cubicBezTo>
                    <a:pt x="1586672" y="251555"/>
                    <a:pt x="1570243" y="258360"/>
                    <a:pt x="1553113" y="258360"/>
                  </a:cubicBezTo>
                  <a:lnTo>
                    <a:pt x="64588" y="258360"/>
                  </a:lnTo>
                  <a:cubicBezTo>
                    <a:pt x="47458" y="258360"/>
                    <a:pt x="31030" y="251555"/>
                    <a:pt x="18917" y="239442"/>
                  </a:cubicBezTo>
                  <a:cubicBezTo>
                    <a:pt x="6805" y="227330"/>
                    <a:pt x="0" y="210901"/>
                    <a:pt x="0" y="193771"/>
                  </a:cubicBezTo>
                  <a:lnTo>
                    <a:pt x="0" y="64588"/>
                  </a:lnTo>
                  <a:cubicBezTo>
                    <a:pt x="0" y="47458"/>
                    <a:pt x="6805" y="31030"/>
                    <a:pt x="18917" y="18917"/>
                  </a:cubicBezTo>
                  <a:cubicBezTo>
                    <a:pt x="31030" y="6805"/>
                    <a:pt x="47458" y="0"/>
                    <a:pt x="64588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7702" cy="305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32387" y="3370002"/>
            <a:ext cx="450542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-45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Alcalinos (pH +7)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6228" y="4155588"/>
            <a:ext cx="5117746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spc="-3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Eliminan grasas y proteínas (soda cáustica para hornos o suciedad pesada).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7580" y="73120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8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64085" y="2544852"/>
            <a:ext cx="3125071" cy="598334"/>
            <a:chOff x="0" y="0"/>
            <a:chExt cx="1405858" cy="2691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5858" cy="269169"/>
            </a:xfrm>
            <a:custGeom>
              <a:avLst/>
              <a:gdLst/>
              <a:ahLst/>
              <a:cxnLst/>
              <a:rect r="r" b="b" t="t" l="l"/>
              <a:pathLst>
                <a:path h="269169" w="1405858">
                  <a:moveTo>
                    <a:pt x="74321" y="0"/>
                  </a:moveTo>
                  <a:lnTo>
                    <a:pt x="1331538" y="0"/>
                  </a:lnTo>
                  <a:cubicBezTo>
                    <a:pt x="1351249" y="0"/>
                    <a:pt x="1370153" y="7830"/>
                    <a:pt x="1384090" y="21768"/>
                  </a:cubicBezTo>
                  <a:cubicBezTo>
                    <a:pt x="1398028" y="35706"/>
                    <a:pt x="1405858" y="54610"/>
                    <a:pt x="1405858" y="74321"/>
                  </a:cubicBezTo>
                  <a:lnTo>
                    <a:pt x="1405858" y="194849"/>
                  </a:lnTo>
                  <a:cubicBezTo>
                    <a:pt x="1405858" y="235895"/>
                    <a:pt x="1372584" y="269169"/>
                    <a:pt x="1331538" y="269169"/>
                  </a:cubicBezTo>
                  <a:lnTo>
                    <a:pt x="74321" y="269169"/>
                  </a:lnTo>
                  <a:cubicBezTo>
                    <a:pt x="33275" y="269169"/>
                    <a:pt x="0" y="235895"/>
                    <a:pt x="0" y="194849"/>
                  </a:cubicBezTo>
                  <a:lnTo>
                    <a:pt x="0" y="74321"/>
                  </a:lnTo>
                  <a:cubicBezTo>
                    <a:pt x="0" y="33275"/>
                    <a:pt x="33275" y="0"/>
                    <a:pt x="74321" y="0"/>
                  </a:cubicBezTo>
                  <a:close/>
                </a:path>
              </a:pathLst>
            </a:custGeom>
            <a:solidFill>
              <a:srgbClr val="457D5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405858" cy="297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64085" y="2428235"/>
            <a:ext cx="2968426" cy="572075"/>
            <a:chOff x="0" y="0"/>
            <a:chExt cx="1335390" cy="2573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35390" cy="257356"/>
            </a:xfrm>
            <a:custGeom>
              <a:avLst/>
              <a:gdLst/>
              <a:ahLst/>
              <a:cxnLst/>
              <a:rect r="r" b="b" t="t" l="l"/>
              <a:pathLst>
                <a:path h="257356" w="1335390">
                  <a:moveTo>
                    <a:pt x="78243" y="0"/>
                  </a:moveTo>
                  <a:lnTo>
                    <a:pt x="1257147" y="0"/>
                  </a:lnTo>
                  <a:cubicBezTo>
                    <a:pt x="1300359" y="0"/>
                    <a:pt x="1335390" y="35030"/>
                    <a:pt x="1335390" y="78243"/>
                  </a:cubicBezTo>
                  <a:lnTo>
                    <a:pt x="1335390" y="179114"/>
                  </a:lnTo>
                  <a:cubicBezTo>
                    <a:pt x="1335390" y="199865"/>
                    <a:pt x="1327146" y="219766"/>
                    <a:pt x="1312473" y="234440"/>
                  </a:cubicBezTo>
                  <a:cubicBezTo>
                    <a:pt x="1297800" y="249113"/>
                    <a:pt x="1277898" y="257356"/>
                    <a:pt x="1257147" y="257356"/>
                  </a:cubicBezTo>
                  <a:lnTo>
                    <a:pt x="78243" y="257356"/>
                  </a:lnTo>
                  <a:cubicBezTo>
                    <a:pt x="57491" y="257356"/>
                    <a:pt x="37590" y="249113"/>
                    <a:pt x="22917" y="234440"/>
                  </a:cubicBezTo>
                  <a:cubicBezTo>
                    <a:pt x="8243" y="219766"/>
                    <a:pt x="0" y="199865"/>
                    <a:pt x="0" y="179114"/>
                  </a:cubicBezTo>
                  <a:lnTo>
                    <a:pt x="0" y="78243"/>
                  </a:lnTo>
                  <a:cubicBezTo>
                    <a:pt x="0" y="57491"/>
                    <a:pt x="8243" y="37590"/>
                    <a:pt x="22917" y="22917"/>
                  </a:cubicBezTo>
                  <a:cubicBezTo>
                    <a:pt x="37590" y="8243"/>
                    <a:pt x="57491" y="0"/>
                    <a:pt x="78243" y="0"/>
                  </a:cubicBezTo>
                  <a:close/>
                </a:path>
              </a:pathLst>
            </a:custGeom>
            <a:solidFill>
              <a:srgbClr val="F6F6E9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335390" cy="285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14659" y="2371085"/>
            <a:ext cx="311785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Detergentes: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751155" y="3371786"/>
            <a:ext cx="3673220" cy="574305"/>
            <a:chOff x="0" y="0"/>
            <a:chExt cx="1652451" cy="258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52451" cy="258360"/>
            </a:xfrm>
            <a:custGeom>
              <a:avLst/>
              <a:gdLst/>
              <a:ahLst/>
              <a:cxnLst/>
              <a:rect r="r" b="b" t="t" l="l"/>
              <a:pathLst>
                <a:path h="258360" w="1652451">
                  <a:moveTo>
                    <a:pt x="63230" y="0"/>
                  </a:moveTo>
                  <a:lnTo>
                    <a:pt x="1589222" y="0"/>
                  </a:lnTo>
                  <a:cubicBezTo>
                    <a:pt x="1605991" y="0"/>
                    <a:pt x="1622074" y="6662"/>
                    <a:pt x="1633932" y="18520"/>
                  </a:cubicBezTo>
                  <a:cubicBezTo>
                    <a:pt x="1645790" y="30378"/>
                    <a:pt x="1652451" y="46460"/>
                    <a:pt x="1652451" y="63230"/>
                  </a:cubicBezTo>
                  <a:lnTo>
                    <a:pt x="1652451" y="195130"/>
                  </a:lnTo>
                  <a:cubicBezTo>
                    <a:pt x="1652451" y="211899"/>
                    <a:pt x="1645790" y="227982"/>
                    <a:pt x="1633932" y="239840"/>
                  </a:cubicBezTo>
                  <a:cubicBezTo>
                    <a:pt x="1622074" y="251698"/>
                    <a:pt x="1605991" y="258360"/>
                    <a:pt x="1589222" y="258360"/>
                  </a:cubicBezTo>
                  <a:lnTo>
                    <a:pt x="63230" y="258360"/>
                  </a:lnTo>
                  <a:cubicBezTo>
                    <a:pt x="46460" y="258360"/>
                    <a:pt x="30378" y="251698"/>
                    <a:pt x="18520" y="239840"/>
                  </a:cubicBezTo>
                  <a:cubicBezTo>
                    <a:pt x="6662" y="227982"/>
                    <a:pt x="0" y="211899"/>
                    <a:pt x="0" y="195130"/>
                  </a:cubicBezTo>
                  <a:lnTo>
                    <a:pt x="0" y="63230"/>
                  </a:lnTo>
                  <a:cubicBezTo>
                    <a:pt x="0" y="46460"/>
                    <a:pt x="6662" y="30378"/>
                    <a:pt x="18520" y="18520"/>
                  </a:cubicBezTo>
                  <a:cubicBezTo>
                    <a:pt x="30378" y="6662"/>
                    <a:pt x="46460" y="0"/>
                    <a:pt x="63230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652451" cy="305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350186" y="3370002"/>
            <a:ext cx="450542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-45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Neutros (pH -7)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300319" y="3371786"/>
            <a:ext cx="3535654" cy="574305"/>
            <a:chOff x="0" y="0"/>
            <a:chExt cx="1590565" cy="258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90565" cy="258360"/>
            </a:xfrm>
            <a:custGeom>
              <a:avLst/>
              <a:gdLst/>
              <a:ahLst/>
              <a:cxnLst/>
              <a:rect r="r" b="b" t="t" l="l"/>
              <a:pathLst>
                <a:path h="258360" w="1590565">
                  <a:moveTo>
                    <a:pt x="65690" y="0"/>
                  </a:moveTo>
                  <a:lnTo>
                    <a:pt x="1524875" y="0"/>
                  </a:lnTo>
                  <a:cubicBezTo>
                    <a:pt x="1542297" y="0"/>
                    <a:pt x="1559006" y="6921"/>
                    <a:pt x="1571325" y="19240"/>
                  </a:cubicBezTo>
                  <a:cubicBezTo>
                    <a:pt x="1583644" y="31559"/>
                    <a:pt x="1590565" y="48268"/>
                    <a:pt x="1590565" y="65690"/>
                  </a:cubicBezTo>
                  <a:lnTo>
                    <a:pt x="1590565" y="192669"/>
                  </a:lnTo>
                  <a:cubicBezTo>
                    <a:pt x="1590565" y="210092"/>
                    <a:pt x="1583644" y="226800"/>
                    <a:pt x="1571325" y="239119"/>
                  </a:cubicBezTo>
                  <a:cubicBezTo>
                    <a:pt x="1559006" y="251439"/>
                    <a:pt x="1542297" y="258360"/>
                    <a:pt x="1524875" y="258360"/>
                  </a:cubicBezTo>
                  <a:lnTo>
                    <a:pt x="65690" y="258360"/>
                  </a:lnTo>
                  <a:cubicBezTo>
                    <a:pt x="48268" y="258360"/>
                    <a:pt x="31559" y="251439"/>
                    <a:pt x="19240" y="239119"/>
                  </a:cubicBezTo>
                  <a:cubicBezTo>
                    <a:pt x="6921" y="226800"/>
                    <a:pt x="0" y="210092"/>
                    <a:pt x="0" y="192669"/>
                  </a:cubicBezTo>
                  <a:lnTo>
                    <a:pt x="0" y="65690"/>
                  </a:lnTo>
                  <a:cubicBezTo>
                    <a:pt x="0" y="48268"/>
                    <a:pt x="6921" y="31559"/>
                    <a:pt x="19240" y="19240"/>
                  </a:cubicBezTo>
                  <a:cubicBezTo>
                    <a:pt x="31559" y="6921"/>
                    <a:pt x="48268" y="0"/>
                    <a:pt x="65690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590565" cy="305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842974" y="3370002"/>
            <a:ext cx="450542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-45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Ácidos (pH 7)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946499" y="4093869"/>
            <a:ext cx="5312801" cy="1395978"/>
            <a:chOff x="0" y="0"/>
            <a:chExt cx="2390041" cy="6280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90041" cy="628001"/>
            </a:xfrm>
            <a:custGeom>
              <a:avLst/>
              <a:gdLst/>
              <a:ahLst/>
              <a:cxnLst/>
              <a:rect r="r" b="b" t="t" l="l"/>
              <a:pathLst>
                <a:path h="628001" w="2390041">
                  <a:moveTo>
                    <a:pt x="43190" y="0"/>
                  </a:moveTo>
                  <a:lnTo>
                    <a:pt x="2346851" y="0"/>
                  </a:lnTo>
                  <a:cubicBezTo>
                    <a:pt x="2358305" y="0"/>
                    <a:pt x="2369291" y="4550"/>
                    <a:pt x="2377391" y="12650"/>
                  </a:cubicBezTo>
                  <a:cubicBezTo>
                    <a:pt x="2385490" y="20750"/>
                    <a:pt x="2390041" y="31735"/>
                    <a:pt x="2390041" y="43190"/>
                  </a:cubicBezTo>
                  <a:lnTo>
                    <a:pt x="2390041" y="584811"/>
                  </a:lnTo>
                  <a:cubicBezTo>
                    <a:pt x="2390041" y="608664"/>
                    <a:pt x="2370704" y="628001"/>
                    <a:pt x="2346851" y="628001"/>
                  </a:cubicBezTo>
                  <a:lnTo>
                    <a:pt x="43190" y="628001"/>
                  </a:lnTo>
                  <a:cubicBezTo>
                    <a:pt x="31735" y="628001"/>
                    <a:pt x="20750" y="623450"/>
                    <a:pt x="12650" y="615351"/>
                  </a:cubicBezTo>
                  <a:cubicBezTo>
                    <a:pt x="4550" y="607251"/>
                    <a:pt x="0" y="596266"/>
                    <a:pt x="0" y="584811"/>
                  </a:cubicBezTo>
                  <a:lnTo>
                    <a:pt x="0" y="43190"/>
                  </a:lnTo>
                  <a:cubicBezTo>
                    <a:pt x="0" y="31735"/>
                    <a:pt x="4550" y="20750"/>
                    <a:pt x="12650" y="12650"/>
                  </a:cubicBezTo>
                  <a:cubicBezTo>
                    <a:pt x="20750" y="4550"/>
                    <a:pt x="31735" y="0"/>
                    <a:pt x="43190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390041" cy="666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200671" y="4229883"/>
            <a:ext cx="480445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45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Lavado manual de vajilla y manos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487599" y="4093869"/>
            <a:ext cx="5312801" cy="1395978"/>
            <a:chOff x="0" y="0"/>
            <a:chExt cx="2390041" cy="62800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90041" cy="628001"/>
            </a:xfrm>
            <a:custGeom>
              <a:avLst/>
              <a:gdLst/>
              <a:ahLst/>
              <a:cxnLst/>
              <a:rect r="r" b="b" t="t" l="l"/>
              <a:pathLst>
                <a:path h="628001" w="2390041">
                  <a:moveTo>
                    <a:pt x="43190" y="0"/>
                  </a:moveTo>
                  <a:lnTo>
                    <a:pt x="2346851" y="0"/>
                  </a:lnTo>
                  <a:cubicBezTo>
                    <a:pt x="2358305" y="0"/>
                    <a:pt x="2369291" y="4550"/>
                    <a:pt x="2377391" y="12650"/>
                  </a:cubicBezTo>
                  <a:cubicBezTo>
                    <a:pt x="2385490" y="20750"/>
                    <a:pt x="2390041" y="31735"/>
                    <a:pt x="2390041" y="43190"/>
                  </a:cubicBezTo>
                  <a:lnTo>
                    <a:pt x="2390041" y="584811"/>
                  </a:lnTo>
                  <a:cubicBezTo>
                    <a:pt x="2390041" y="608664"/>
                    <a:pt x="2370704" y="628001"/>
                    <a:pt x="2346851" y="628001"/>
                  </a:cubicBezTo>
                  <a:lnTo>
                    <a:pt x="43190" y="628001"/>
                  </a:lnTo>
                  <a:cubicBezTo>
                    <a:pt x="31735" y="628001"/>
                    <a:pt x="20750" y="623450"/>
                    <a:pt x="12650" y="615351"/>
                  </a:cubicBezTo>
                  <a:cubicBezTo>
                    <a:pt x="4550" y="607251"/>
                    <a:pt x="0" y="596266"/>
                    <a:pt x="0" y="584811"/>
                  </a:cubicBezTo>
                  <a:lnTo>
                    <a:pt x="0" y="43190"/>
                  </a:lnTo>
                  <a:cubicBezTo>
                    <a:pt x="0" y="31735"/>
                    <a:pt x="4550" y="20750"/>
                    <a:pt x="12650" y="12650"/>
                  </a:cubicBezTo>
                  <a:cubicBezTo>
                    <a:pt x="20750" y="4550"/>
                    <a:pt x="31735" y="0"/>
                    <a:pt x="43190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390041" cy="666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663449" y="4310528"/>
            <a:ext cx="496110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Eliminan depósitos minerales, sarro u óxido.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5718447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-45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Círculo de Sinner (Factores de Limpieza): </a:t>
            </a:r>
            <a:r>
              <a:rPr lang="en-US" sz="3000" spc="-45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Acción Mecánica + Acción Química + Tiempo + Temperatura. 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28700" y="8022436"/>
            <a:ext cx="5312801" cy="1395978"/>
            <a:chOff x="0" y="0"/>
            <a:chExt cx="2390041" cy="62800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90041" cy="628001"/>
            </a:xfrm>
            <a:custGeom>
              <a:avLst/>
              <a:gdLst/>
              <a:ahLst/>
              <a:cxnLst/>
              <a:rect r="r" b="b" t="t" l="l"/>
              <a:pathLst>
                <a:path h="628001" w="2390041">
                  <a:moveTo>
                    <a:pt x="43190" y="0"/>
                  </a:moveTo>
                  <a:lnTo>
                    <a:pt x="2346851" y="0"/>
                  </a:lnTo>
                  <a:cubicBezTo>
                    <a:pt x="2358305" y="0"/>
                    <a:pt x="2369291" y="4550"/>
                    <a:pt x="2377391" y="12650"/>
                  </a:cubicBezTo>
                  <a:cubicBezTo>
                    <a:pt x="2385490" y="20750"/>
                    <a:pt x="2390041" y="31735"/>
                    <a:pt x="2390041" y="43190"/>
                  </a:cubicBezTo>
                  <a:lnTo>
                    <a:pt x="2390041" y="584811"/>
                  </a:lnTo>
                  <a:cubicBezTo>
                    <a:pt x="2390041" y="608664"/>
                    <a:pt x="2370704" y="628001"/>
                    <a:pt x="2346851" y="628001"/>
                  </a:cubicBezTo>
                  <a:lnTo>
                    <a:pt x="43190" y="628001"/>
                  </a:lnTo>
                  <a:cubicBezTo>
                    <a:pt x="31735" y="628001"/>
                    <a:pt x="20750" y="623450"/>
                    <a:pt x="12650" y="615351"/>
                  </a:cubicBezTo>
                  <a:cubicBezTo>
                    <a:pt x="4550" y="607251"/>
                    <a:pt x="0" y="596266"/>
                    <a:pt x="0" y="584811"/>
                  </a:cubicBezTo>
                  <a:lnTo>
                    <a:pt x="0" y="43190"/>
                  </a:lnTo>
                  <a:cubicBezTo>
                    <a:pt x="0" y="31735"/>
                    <a:pt x="4550" y="20750"/>
                    <a:pt x="12650" y="12650"/>
                  </a:cubicBezTo>
                  <a:cubicBezTo>
                    <a:pt x="20750" y="4550"/>
                    <a:pt x="31735" y="0"/>
                    <a:pt x="43190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390041" cy="666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04440" y="8239095"/>
            <a:ext cx="496132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spc="-42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50 - 100 ppm: </a:t>
            </a: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Desinfección de verduras y frutas. 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3157947" y="6975746"/>
            <a:ext cx="11820397" cy="564664"/>
            <a:chOff x="0" y="0"/>
            <a:chExt cx="5317577" cy="25402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17577" cy="254022"/>
            </a:xfrm>
            <a:custGeom>
              <a:avLst/>
              <a:gdLst/>
              <a:ahLst/>
              <a:cxnLst/>
              <a:rect r="r" b="b" t="t" l="l"/>
              <a:pathLst>
                <a:path h="254022" w="5317577">
                  <a:moveTo>
                    <a:pt x="19649" y="0"/>
                  </a:moveTo>
                  <a:lnTo>
                    <a:pt x="5297928" y="0"/>
                  </a:lnTo>
                  <a:cubicBezTo>
                    <a:pt x="5308780" y="0"/>
                    <a:pt x="5317577" y="8797"/>
                    <a:pt x="5317577" y="19649"/>
                  </a:cubicBezTo>
                  <a:lnTo>
                    <a:pt x="5317577" y="234373"/>
                  </a:lnTo>
                  <a:cubicBezTo>
                    <a:pt x="5317577" y="239585"/>
                    <a:pt x="5315507" y="244582"/>
                    <a:pt x="5311822" y="248267"/>
                  </a:cubicBezTo>
                  <a:cubicBezTo>
                    <a:pt x="5308137" y="251952"/>
                    <a:pt x="5303139" y="254022"/>
                    <a:pt x="5297928" y="254022"/>
                  </a:cubicBezTo>
                  <a:lnTo>
                    <a:pt x="19649" y="254022"/>
                  </a:lnTo>
                  <a:cubicBezTo>
                    <a:pt x="14438" y="254022"/>
                    <a:pt x="9440" y="251952"/>
                    <a:pt x="5755" y="248267"/>
                  </a:cubicBezTo>
                  <a:cubicBezTo>
                    <a:pt x="2070" y="244582"/>
                    <a:pt x="0" y="239585"/>
                    <a:pt x="0" y="234373"/>
                  </a:cubicBezTo>
                  <a:lnTo>
                    <a:pt x="0" y="19649"/>
                  </a:lnTo>
                  <a:cubicBezTo>
                    <a:pt x="0" y="14438"/>
                    <a:pt x="2070" y="9440"/>
                    <a:pt x="5755" y="5755"/>
                  </a:cubicBezTo>
                  <a:cubicBezTo>
                    <a:pt x="9440" y="2070"/>
                    <a:pt x="14438" y="0"/>
                    <a:pt x="19649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317577" cy="301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3157947" y="6956696"/>
            <a:ext cx="1182039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Desinfectante Clave - Cloro / Hipoclorito de Sodio (Dosis):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946499" y="7778535"/>
            <a:ext cx="5312801" cy="2138043"/>
            <a:chOff x="0" y="0"/>
            <a:chExt cx="2390041" cy="9618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90041" cy="961829"/>
            </a:xfrm>
            <a:custGeom>
              <a:avLst/>
              <a:gdLst/>
              <a:ahLst/>
              <a:cxnLst/>
              <a:rect r="r" b="b" t="t" l="l"/>
              <a:pathLst>
                <a:path h="961829" w="2390041">
                  <a:moveTo>
                    <a:pt x="43190" y="0"/>
                  </a:moveTo>
                  <a:lnTo>
                    <a:pt x="2346851" y="0"/>
                  </a:lnTo>
                  <a:cubicBezTo>
                    <a:pt x="2358305" y="0"/>
                    <a:pt x="2369291" y="4550"/>
                    <a:pt x="2377391" y="12650"/>
                  </a:cubicBezTo>
                  <a:cubicBezTo>
                    <a:pt x="2385490" y="20750"/>
                    <a:pt x="2390041" y="31735"/>
                    <a:pt x="2390041" y="43190"/>
                  </a:cubicBezTo>
                  <a:lnTo>
                    <a:pt x="2390041" y="918640"/>
                  </a:lnTo>
                  <a:cubicBezTo>
                    <a:pt x="2390041" y="942493"/>
                    <a:pt x="2370704" y="961829"/>
                    <a:pt x="2346851" y="961829"/>
                  </a:cubicBezTo>
                  <a:lnTo>
                    <a:pt x="43190" y="961829"/>
                  </a:lnTo>
                  <a:cubicBezTo>
                    <a:pt x="31735" y="961829"/>
                    <a:pt x="20750" y="957279"/>
                    <a:pt x="12650" y="949179"/>
                  </a:cubicBezTo>
                  <a:cubicBezTo>
                    <a:pt x="4550" y="941080"/>
                    <a:pt x="0" y="930094"/>
                    <a:pt x="0" y="918640"/>
                  </a:cubicBezTo>
                  <a:lnTo>
                    <a:pt x="0" y="43190"/>
                  </a:lnTo>
                  <a:cubicBezTo>
                    <a:pt x="0" y="31735"/>
                    <a:pt x="4550" y="20750"/>
                    <a:pt x="12650" y="12650"/>
                  </a:cubicBezTo>
                  <a:cubicBezTo>
                    <a:pt x="20750" y="4550"/>
                    <a:pt x="31735" y="0"/>
                    <a:pt x="43190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390041" cy="999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200671" y="7792187"/>
            <a:ext cx="4804457" cy="207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 spc="-36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200 ppm: </a:t>
            </a:r>
            <a:r>
              <a:rPr lang="en-US" sz="2400" spc="-3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Superficies con alta carga microbiana, pisos y paredes. (Toda concentración +100 requiere enjuague posterior).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487599" y="8022436"/>
            <a:ext cx="5312801" cy="1395978"/>
            <a:chOff x="0" y="0"/>
            <a:chExt cx="2390041" cy="6280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90041" cy="628001"/>
            </a:xfrm>
            <a:custGeom>
              <a:avLst/>
              <a:gdLst/>
              <a:ahLst/>
              <a:cxnLst/>
              <a:rect r="r" b="b" t="t" l="l"/>
              <a:pathLst>
                <a:path h="628001" w="2390041">
                  <a:moveTo>
                    <a:pt x="43190" y="0"/>
                  </a:moveTo>
                  <a:lnTo>
                    <a:pt x="2346851" y="0"/>
                  </a:lnTo>
                  <a:cubicBezTo>
                    <a:pt x="2358305" y="0"/>
                    <a:pt x="2369291" y="4550"/>
                    <a:pt x="2377391" y="12650"/>
                  </a:cubicBezTo>
                  <a:cubicBezTo>
                    <a:pt x="2385490" y="20750"/>
                    <a:pt x="2390041" y="31735"/>
                    <a:pt x="2390041" y="43190"/>
                  </a:cubicBezTo>
                  <a:lnTo>
                    <a:pt x="2390041" y="584811"/>
                  </a:lnTo>
                  <a:cubicBezTo>
                    <a:pt x="2390041" y="608664"/>
                    <a:pt x="2370704" y="628001"/>
                    <a:pt x="2346851" y="628001"/>
                  </a:cubicBezTo>
                  <a:lnTo>
                    <a:pt x="43190" y="628001"/>
                  </a:lnTo>
                  <a:cubicBezTo>
                    <a:pt x="31735" y="628001"/>
                    <a:pt x="20750" y="623450"/>
                    <a:pt x="12650" y="615351"/>
                  </a:cubicBezTo>
                  <a:cubicBezTo>
                    <a:pt x="4550" y="607251"/>
                    <a:pt x="0" y="596266"/>
                    <a:pt x="0" y="584811"/>
                  </a:cubicBezTo>
                  <a:lnTo>
                    <a:pt x="0" y="43190"/>
                  </a:lnTo>
                  <a:cubicBezTo>
                    <a:pt x="0" y="31735"/>
                    <a:pt x="4550" y="20750"/>
                    <a:pt x="12650" y="12650"/>
                  </a:cubicBezTo>
                  <a:cubicBezTo>
                    <a:pt x="20750" y="4550"/>
                    <a:pt x="31735" y="0"/>
                    <a:pt x="43190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390041" cy="666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6663449" y="8239095"/>
            <a:ext cx="4961101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-39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100 ppm: </a:t>
            </a: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Superficies en contacto directo con alimentos.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954" y="405391"/>
            <a:ext cx="14168505" cy="971084"/>
            <a:chOff x="0" y="0"/>
            <a:chExt cx="4593424" cy="314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3424" cy="314825"/>
            </a:xfrm>
            <a:custGeom>
              <a:avLst/>
              <a:gdLst/>
              <a:ahLst/>
              <a:cxnLst/>
              <a:rect r="r" b="b" t="t" l="l"/>
              <a:pathLst>
                <a:path h="314825" w="4593424">
                  <a:moveTo>
                    <a:pt x="27867" y="0"/>
                  </a:moveTo>
                  <a:lnTo>
                    <a:pt x="4565557" y="0"/>
                  </a:lnTo>
                  <a:cubicBezTo>
                    <a:pt x="4580948" y="0"/>
                    <a:pt x="4593424" y="12477"/>
                    <a:pt x="4593424" y="27867"/>
                  </a:cubicBezTo>
                  <a:lnTo>
                    <a:pt x="4593424" y="286958"/>
                  </a:lnTo>
                  <a:cubicBezTo>
                    <a:pt x="4593424" y="294349"/>
                    <a:pt x="4590488" y="301437"/>
                    <a:pt x="4585262" y="306663"/>
                  </a:cubicBezTo>
                  <a:cubicBezTo>
                    <a:pt x="4580036" y="311889"/>
                    <a:pt x="4572948" y="314825"/>
                    <a:pt x="4565557" y="314825"/>
                  </a:cubicBezTo>
                  <a:lnTo>
                    <a:pt x="27867" y="314825"/>
                  </a:lnTo>
                  <a:cubicBezTo>
                    <a:pt x="20476" y="314825"/>
                    <a:pt x="13388" y="311889"/>
                    <a:pt x="8162" y="306663"/>
                  </a:cubicBezTo>
                  <a:cubicBezTo>
                    <a:pt x="2936" y="301437"/>
                    <a:pt x="0" y="294349"/>
                    <a:pt x="0" y="286958"/>
                  </a:cubicBezTo>
                  <a:lnTo>
                    <a:pt x="0" y="27867"/>
                  </a:lnTo>
                  <a:cubicBezTo>
                    <a:pt x="0" y="20476"/>
                    <a:pt x="2936" y="13388"/>
                    <a:pt x="8162" y="8162"/>
                  </a:cubicBezTo>
                  <a:cubicBezTo>
                    <a:pt x="13388" y="2936"/>
                    <a:pt x="20476" y="0"/>
                    <a:pt x="278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3424" cy="35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954" y="215937"/>
            <a:ext cx="13661019" cy="970898"/>
            <a:chOff x="0" y="0"/>
            <a:chExt cx="4428898" cy="314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8898" cy="314765"/>
            </a:xfrm>
            <a:custGeom>
              <a:avLst/>
              <a:gdLst/>
              <a:ahLst/>
              <a:cxnLst/>
              <a:rect r="r" b="b" t="t" l="l"/>
              <a:pathLst>
                <a:path h="314765" w="4428898">
                  <a:moveTo>
                    <a:pt x="28903" y="0"/>
                  </a:moveTo>
                  <a:lnTo>
                    <a:pt x="4399995" y="0"/>
                  </a:lnTo>
                  <a:cubicBezTo>
                    <a:pt x="4407661" y="0"/>
                    <a:pt x="4415012" y="3045"/>
                    <a:pt x="4420433" y="8465"/>
                  </a:cubicBezTo>
                  <a:cubicBezTo>
                    <a:pt x="4425853" y="13886"/>
                    <a:pt x="4428898" y="21237"/>
                    <a:pt x="4428898" y="28903"/>
                  </a:cubicBezTo>
                  <a:lnTo>
                    <a:pt x="4428898" y="285862"/>
                  </a:lnTo>
                  <a:cubicBezTo>
                    <a:pt x="4428898" y="293528"/>
                    <a:pt x="4425853" y="300879"/>
                    <a:pt x="4420433" y="306299"/>
                  </a:cubicBezTo>
                  <a:cubicBezTo>
                    <a:pt x="4415012" y="311720"/>
                    <a:pt x="4407661" y="314765"/>
                    <a:pt x="4399995" y="314765"/>
                  </a:cubicBezTo>
                  <a:lnTo>
                    <a:pt x="28903" y="314765"/>
                  </a:lnTo>
                  <a:cubicBezTo>
                    <a:pt x="21237" y="314765"/>
                    <a:pt x="13886" y="311720"/>
                    <a:pt x="8465" y="306299"/>
                  </a:cubicBezTo>
                  <a:cubicBezTo>
                    <a:pt x="3045" y="300879"/>
                    <a:pt x="0" y="293528"/>
                    <a:pt x="0" y="285862"/>
                  </a:cubicBezTo>
                  <a:lnTo>
                    <a:pt x="0" y="28903"/>
                  </a:lnTo>
                  <a:cubicBezTo>
                    <a:pt x="0" y="21237"/>
                    <a:pt x="3045" y="13886"/>
                    <a:pt x="8465" y="8465"/>
                  </a:cubicBezTo>
                  <a:cubicBezTo>
                    <a:pt x="13886" y="3045"/>
                    <a:pt x="21237" y="0"/>
                    <a:pt x="28903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28898" cy="352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2954" y="1666784"/>
            <a:ext cx="16876346" cy="1287532"/>
            <a:chOff x="0" y="0"/>
            <a:chExt cx="4444799" cy="3391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4799" cy="339103"/>
            </a:xfrm>
            <a:custGeom>
              <a:avLst/>
              <a:gdLst/>
              <a:ahLst/>
              <a:cxnLst/>
              <a:rect r="r" b="b" t="t" l="l"/>
              <a:pathLst>
                <a:path h="339103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315707"/>
                  </a:lnTo>
                  <a:cubicBezTo>
                    <a:pt x="4444799" y="328628"/>
                    <a:pt x="4434324" y="339103"/>
                    <a:pt x="4421403" y="339103"/>
                  </a:cubicBezTo>
                  <a:lnTo>
                    <a:pt x="23396" y="339103"/>
                  </a:lnTo>
                  <a:cubicBezTo>
                    <a:pt x="17191" y="339103"/>
                    <a:pt x="11240" y="336638"/>
                    <a:pt x="6853" y="332251"/>
                  </a:cubicBezTo>
                  <a:cubicBezTo>
                    <a:pt x="2465" y="327863"/>
                    <a:pt x="0" y="321912"/>
                    <a:pt x="0" y="315707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444799" cy="377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30140" y="233634"/>
            <a:ext cx="12966647" cy="87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7"/>
              </a:lnSpc>
            </a:pPr>
            <a:r>
              <a:rPr lang="en-US" sz="5076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ETAs: Enfermedades Transmitidas por Alimentos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7698" y="1736511"/>
            <a:ext cx="13682563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Enfermedade</a:t>
            </a:r>
            <a:r>
              <a:rPr lang="en-US" sz="31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s de naturaleza infecciosa o tóxica causadas por la ingestión de alimentos o agua contaminados.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82954" y="3187679"/>
            <a:ext cx="16876346" cy="1243565"/>
            <a:chOff x="0" y="0"/>
            <a:chExt cx="4444799" cy="3275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4799" cy="327523"/>
            </a:xfrm>
            <a:custGeom>
              <a:avLst/>
              <a:gdLst/>
              <a:ahLst/>
              <a:cxnLst/>
              <a:rect r="r" b="b" t="t" l="l"/>
              <a:pathLst>
                <a:path h="327523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304127"/>
                  </a:lnTo>
                  <a:cubicBezTo>
                    <a:pt x="4444799" y="317049"/>
                    <a:pt x="4434324" y="327523"/>
                    <a:pt x="4421403" y="327523"/>
                  </a:cubicBezTo>
                  <a:lnTo>
                    <a:pt x="23396" y="327523"/>
                  </a:lnTo>
                  <a:cubicBezTo>
                    <a:pt x="17191" y="327523"/>
                    <a:pt x="11240" y="325058"/>
                    <a:pt x="6853" y="320671"/>
                  </a:cubicBezTo>
                  <a:cubicBezTo>
                    <a:pt x="2465" y="316283"/>
                    <a:pt x="0" y="310332"/>
                    <a:pt x="0" y="304127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44799" cy="365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2954" y="4716994"/>
            <a:ext cx="16876346" cy="1344682"/>
            <a:chOff x="0" y="0"/>
            <a:chExt cx="4444799" cy="3541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4799" cy="354155"/>
            </a:xfrm>
            <a:custGeom>
              <a:avLst/>
              <a:gdLst/>
              <a:ahLst/>
              <a:cxnLst/>
              <a:rect r="r" b="b" t="t" l="l"/>
              <a:pathLst>
                <a:path h="354155" w="4444799">
                  <a:moveTo>
                    <a:pt x="23396" y="0"/>
                  </a:moveTo>
                  <a:lnTo>
                    <a:pt x="4421403" y="0"/>
                  </a:lnTo>
                  <a:cubicBezTo>
                    <a:pt x="4427608" y="0"/>
                    <a:pt x="4433559" y="2465"/>
                    <a:pt x="4437946" y="6853"/>
                  </a:cubicBezTo>
                  <a:cubicBezTo>
                    <a:pt x="4442334" y="11240"/>
                    <a:pt x="4444799" y="17191"/>
                    <a:pt x="4444799" y="23396"/>
                  </a:cubicBezTo>
                  <a:lnTo>
                    <a:pt x="4444799" y="330759"/>
                  </a:lnTo>
                  <a:cubicBezTo>
                    <a:pt x="4444799" y="343680"/>
                    <a:pt x="4434324" y="354155"/>
                    <a:pt x="4421403" y="354155"/>
                  </a:cubicBezTo>
                  <a:lnTo>
                    <a:pt x="23396" y="354155"/>
                  </a:lnTo>
                  <a:cubicBezTo>
                    <a:pt x="17191" y="354155"/>
                    <a:pt x="11240" y="351690"/>
                    <a:pt x="6853" y="347302"/>
                  </a:cubicBezTo>
                  <a:cubicBezTo>
                    <a:pt x="2465" y="342915"/>
                    <a:pt x="0" y="336964"/>
                    <a:pt x="0" y="330759"/>
                  </a:cubicBezTo>
                  <a:lnTo>
                    <a:pt x="0" y="23396"/>
                  </a:lnTo>
                  <a:cubicBezTo>
                    <a:pt x="0" y="17191"/>
                    <a:pt x="2465" y="11240"/>
                    <a:pt x="6853" y="6853"/>
                  </a:cubicBezTo>
                  <a:cubicBezTo>
                    <a:pt x="11240" y="2465"/>
                    <a:pt x="17191" y="0"/>
                    <a:pt x="23396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444799" cy="392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56218" y="3257405"/>
            <a:ext cx="1350644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Ocurre cuando d</a:t>
            </a:r>
            <a:r>
              <a:rPr lang="en-US" sz="28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os o más personas sufren una enfermedad tras ingerir el mismo alimento o agua.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8927" y="4827360"/>
            <a:ext cx="1178133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Af</a:t>
            </a:r>
            <a:r>
              <a:rPr lang="en-US" sz="3000">
                <a:solidFill>
                  <a:srgbClr val="272727"/>
                </a:solidFill>
                <a:latin typeface="Prompt Light"/>
                <a:ea typeface="Prompt Light"/>
                <a:cs typeface="Prompt Light"/>
                <a:sym typeface="Prompt Light"/>
              </a:rPr>
              <a:t>ecta con mayor severidad a niños, ancianos, embarazadas e inmunodeprimidos.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64995" y="45276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0140" y="1928916"/>
            <a:ext cx="249755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Definición: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0140" y="3405995"/>
            <a:ext cx="282607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Brote de ETA: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7764987"/>
            <a:ext cx="4752914" cy="1493313"/>
            <a:chOff x="0" y="0"/>
            <a:chExt cx="2138167" cy="6717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8167" cy="671788"/>
            </a:xfrm>
            <a:custGeom>
              <a:avLst/>
              <a:gdLst/>
              <a:ahLst/>
              <a:cxnLst/>
              <a:rect r="r" b="b" t="t" l="l"/>
              <a:pathLst>
                <a:path h="671788" w="2138167">
                  <a:moveTo>
                    <a:pt x="48278" y="0"/>
                  </a:moveTo>
                  <a:lnTo>
                    <a:pt x="2089889" y="0"/>
                  </a:lnTo>
                  <a:cubicBezTo>
                    <a:pt x="2102694" y="0"/>
                    <a:pt x="2114973" y="5086"/>
                    <a:pt x="2124027" y="14140"/>
                  </a:cubicBezTo>
                  <a:cubicBezTo>
                    <a:pt x="2133081" y="23194"/>
                    <a:pt x="2138167" y="35474"/>
                    <a:pt x="2138167" y="48278"/>
                  </a:cubicBezTo>
                  <a:lnTo>
                    <a:pt x="2138167" y="623511"/>
                  </a:lnTo>
                  <a:cubicBezTo>
                    <a:pt x="2138167" y="636315"/>
                    <a:pt x="2133081" y="648594"/>
                    <a:pt x="2124027" y="657648"/>
                  </a:cubicBezTo>
                  <a:cubicBezTo>
                    <a:pt x="2114973" y="666702"/>
                    <a:pt x="2102694" y="671788"/>
                    <a:pt x="2089889" y="671788"/>
                  </a:cubicBezTo>
                  <a:lnTo>
                    <a:pt x="48278" y="671788"/>
                  </a:lnTo>
                  <a:cubicBezTo>
                    <a:pt x="35474" y="671788"/>
                    <a:pt x="23194" y="666702"/>
                    <a:pt x="14140" y="657648"/>
                  </a:cubicBezTo>
                  <a:cubicBezTo>
                    <a:pt x="5086" y="648594"/>
                    <a:pt x="0" y="636315"/>
                    <a:pt x="0" y="623511"/>
                  </a:cubicBezTo>
                  <a:lnTo>
                    <a:pt x="0" y="48278"/>
                  </a:lnTo>
                  <a:cubicBezTo>
                    <a:pt x="0" y="35474"/>
                    <a:pt x="5086" y="23194"/>
                    <a:pt x="14140" y="14140"/>
                  </a:cubicBezTo>
                  <a:cubicBezTo>
                    <a:pt x="23194" y="5086"/>
                    <a:pt x="35474" y="0"/>
                    <a:pt x="4827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38167" cy="709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28836" y="7061801"/>
            <a:ext cx="2397723" cy="626986"/>
            <a:chOff x="0" y="0"/>
            <a:chExt cx="1078651" cy="2820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8651" cy="282059"/>
            </a:xfrm>
            <a:custGeom>
              <a:avLst/>
              <a:gdLst/>
              <a:ahLst/>
              <a:cxnLst/>
              <a:rect r="r" b="b" t="t" l="l"/>
              <a:pathLst>
                <a:path h="282059" w="1078651">
                  <a:moveTo>
                    <a:pt x="96866" y="0"/>
                  </a:moveTo>
                  <a:lnTo>
                    <a:pt x="981785" y="0"/>
                  </a:lnTo>
                  <a:cubicBezTo>
                    <a:pt x="1035282" y="0"/>
                    <a:pt x="1078651" y="43368"/>
                    <a:pt x="1078651" y="96866"/>
                  </a:cubicBezTo>
                  <a:lnTo>
                    <a:pt x="1078651" y="185193"/>
                  </a:lnTo>
                  <a:cubicBezTo>
                    <a:pt x="1078651" y="238691"/>
                    <a:pt x="1035282" y="282059"/>
                    <a:pt x="981785" y="282059"/>
                  </a:cubicBezTo>
                  <a:lnTo>
                    <a:pt x="96866" y="282059"/>
                  </a:lnTo>
                  <a:cubicBezTo>
                    <a:pt x="43368" y="282059"/>
                    <a:pt x="0" y="238691"/>
                    <a:pt x="0" y="185193"/>
                  </a:cubicBezTo>
                  <a:lnTo>
                    <a:pt x="0" y="96866"/>
                  </a:lnTo>
                  <a:cubicBezTo>
                    <a:pt x="0" y="43368"/>
                    <a:pt x="43368" y="0"/>
                    <a:pt x="96866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78651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788604" y="7094307"/>
            <a:ext cx="287818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Infección: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9958" y="7793022"/>
            <a:ext cx="4578414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Ingestión de microorganismos vivos que se multiplican en el intestino.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0140" y="4810850"/>
            <a:ext cx="4398787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Grave problema de salud pública: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82954" y="6200478"/>
            <a:ext cx="3864734" cy="699398"/>
            <a:chOff x="0" y="0"/>
            <a:chExt cx="1017872" cy="1842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7872" cy="184204"/>
            </a:xfrm>
            <a:custGeom>
              <a:avLst/>
              <a:gdLst/>
              <a:ahLst/>
              <a:cxnLst/>
              <a:rect r="r" b="b" t="t" l="l"/>
              <a:pathLst>
                <a:path h="184204" w="1017872">
                  <a:moveTo>
                    <a:pt x="92102" y="0"/>
                  </a:moveTo>
                  <a:lnTo>
                    <a:pt x="925770" y="0"/>
                  </a:lnTo>
                  <a:cubicBezTo>
                    <a:pt x="976637" y="0"/>
                    <a:pt x="1017872" y="41235"/>
                    <a:pt x="1017872" y="92102"/>
                  </a:cubicBezTo>
                  <a:lnTo>
                    <a:pt x="1017872" y="92102"/>
                  </a:lnTo>
                  <a:cubicBezTo>
                    <a:pt x="1017872" y="116529"/>
                    <a:pt x="1008169" y="139955"/>
                    <a:pt x="990896" y="157228"/>
                  </a:cubicBezTo>
                  <a:cubicBezTo>
                    <a:pt x="973624" y="174500"/>
                    <a:pt x="950197" y="184204"/>
                    <a:pt x="925770" y="184204"/>
                  </a:cubicBezTo>
                  <a:lnTo>
                    <a:pt x="92102" y="184204"/>
                  </a:lnTo>
                  <a:cubicBezTo>
                    <a:pt x="41235" y="184204"/>
                    <a:pt x="0" y="142968"/>
                    <a:pt x="0" y="92102"/>
                  </a:cubicBezTo>
                  <a:lnTo>
                    <a:pt x="0" y="92102"/>
                  </a:lnTo>
                  <a:cubicBezTo>
                    <a:pt x="0" y="41235"/>
                    <a:pt x="41235" y="0"/>
                    <a:pt x="92102" y="0"/>
                  </a:cubicBezTo>
                  <a:close/>
                </a:path>
              </a:pathLst>
            </a:custGeom>
            <a:solidFill>
              <a:srgbClr val="F6F6E9"/>
            </a:solidFill>
            <a:ln w="66675" cap="rnd">
              <a:solidFill>
                <a:srgbClr val="457D58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17872" cy="222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77283" y="6276306"/>
            <a:ext cx="361556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Clasificación General: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506386" y="7764987"/>
            <a:ext cx="4752914" cy="1493313"/>
            <a:chOff x="0" y="0"/>
            <a:chExt cx="2138167" cy="6717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38167" cy="671788"/>
            </a:xfrm>
            <a:custGeom>
              <a:avLst/>
              <a:gdLst/>
              <a:ahLst/>
              <a:cxnLst/>
              <a:rect r="r" b="b" t="t" l="l"/>
              <a:pathLst>
                <a:path h="671788" w="2138167">
                  <a:moveTo>
                    <a:pt x="48278" y="0"/>
                  </a:moveTo>
                  <a:lnTo>
                    <a:pt x="2089889" y="0"/>
                  </a:lnTo>
                  <a:cubicBezTo>
                    <a:pt x="2102694" y="0"/>
                    <a:pt x="2114973" y="5086"/>
                    <a:pt x="2124027" y="14140"/>
                  </a:cubicBezTo>
                  <a:cubicBezTo>
                    <a:pt x="2133081" y="23194"/>
                    <a:pt x="2138167" y="35474"/>
                    <a:pt x="2138167" y="48278"/>
                  </a:cubicBezTo>
                  <a:lnTo>
                    <a:pt x="2138167" y="623511"/>
                  </a:lnTo>
                  <a:cubicBezTo>
                    <a:pt x="2138167" y="636315"/>
                    <a:pt x="2133081" y="648594"/>
                    <a:pt x="2124027" y="657648"/>
                  </a:cubicBezTo>
                  <a:cubicBezTo>
                    <a:pt x="2114973" y="666702"/>
                    <a:pt x="2102694" y="671788"/>
                    <a:pt x="2089889" y="671788"/>
                  </a:cubicBezTo>
                  <a:lnTo>
                    <a:pt x="48278" y="671788"/>
                  </a:lnTo>
                  <a:cubicBezTo>
                    <a:pt x="35474" y="671788"/>
                    <a:pt x="23194" y="666702"/>
                    <a:pt x="14140" y="657648"/>
                  </a:cubicBezTo>
                  <a:cubicBezTo>
                    <a:pt x="5086" y="648594"/>
                    <a:pt x="0" y="636315"/>
                    <a:pt x="0" y="623511"/>
                  </a:cubicBezTo>
                  <a:lnTo>
                    <a:pt x="0" y="48278"/>
                  </a:lnTo>
                  <a:cubicBezTo>
                    <a:pt x="0" y="35474"/>
                    <a:pt x="5086" y="23194"/>
                    <a:pt x="14140" y="14140"/>
                  </a:cubicBezTo>
                  <a:cubicBezTo>
                    <a:pt x="23194" y="5086"/>
                    <a:pt x="35474" y="0"/>
                    <a:pt x="4827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38167" cy="709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266290" y="7061801"/>
            <a:ext cx="2878188" cy="626986"/>
            <a:chOff x="0" y="0"/>
            <a:chExt cx="1294795" cy="2820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94795" cy="282059"/>
            </a:xfrm>
            <a:custGeom>
              <a:avLst/>
              <a:gdLst/>
              <a:ahLst/>
              <a:cxnLst/>
              <a:rect r="r" b="b" t="t" l="l"/>
              <a:pathLst>
                <a:path h="282059" w="1294795">
                  <a:moveTo>
                    <a:pt x="80696" y="0"/>
                  </a:moveTo>
                  <a:lnTo>
                    <a:pt x="1214099" y="0"/>
                  </a:lnTo>
                  <a:cubicBezTo>
                    <a:pt x="1258666" y="0"/>
                    <a:pt x="1294795" y="36129"/>
                    <a:pt x="1294795" y="80696"/>
                  </a:cubicBezTo>
                  <a:lnTo>
                    <a:pt x="1294795" y="201363"/>
                  </a:lnTo>
                  <a:cubicBezTo>
                    <a:pt x="1294795" y="222765"/>
                    <a:pt x="1286293" y="243290"/>
                    <a:pt x="1271159" y="258424"/>
                  </a:cubicBezTo>
                  <a:cubicBezTo>
                    <a:pt x="1256026" y="273557"/>
                    <a:pt x="1235501" y="282059"/>
                    <a:pt x="1214099" y="282059"/>
                  </a:cubicBezTo>
                  <a:lnTo>
                    <a:pt x="80696" y="282059"/>
                  </a:lnTo>
                  <a:cubicBezTo>
                    <a:pt x="36129" y="282059"/>
                    <a:pt x="0" y="245930"/>
                    <a:pt x="0" y="201363"/>
                  </a:cubicBezTo>
                  <a:lnTo>
                    <a:pt x="0" y="80696"/>
                  </a:lnTo>
                  <a:cubicBezTo>
                    <a:pt x="0" y="36129"/>
                    <a:pt x="36129" y="0"/>
                    <a:pt x="80696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294795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266290" y="7094307"/>
            <a:ext cx="287818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Toxiinfección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47644" y="7793022"/>
            <a:ext cx="4578414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Ingestión de bacterias que producen la toxina directamente en el intestino.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767543" y="7764987"/>
            <a:ext cx="4752914" cy="1664247"/>
            <a:chOff x="0" y="0"/>
            <a:chExt cx="2138167" cy="74868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38167" cy="748686"/>
            </a:xfrm>
            <a:custGeom>
              <a:avLst/>
              <a:gdLst/>
              <a:ahLst/>
              <a:cxnLst/>
              <a:rect r="r" b="b" t="t" l="l"/>
              <a:pathLst>
                <a:path h="748686" w="2138167">
                  <a:moveTo>
                    <a:pt x="48278" y="0"/>
                  </a:moveTo>
                  <a:lnTo>
                    <a:pt x="2089889" y="0"/>
                  </a:lnTo>
                  <a:cubicBezTo>
                    <a:pt x="2102694" y="0"/>
                    <a:pt x="2114973" y="5086"/>
                    <a:pt x="2124027" y="14140"/>
                  </a:cubicBezTo>
                  <a:cubicBezTo>
                    <a:pt x="2133081" y="23194"/>
                    <a:pt x="2138167" y="35474"/>
                    <a:pt x="2138167" y="48278"/>
                  </a:cubicBezTo>
                  <a:lnTo>
                    <a:pt x="2138167" y="700408"/>
                  </a:lnTo>
                  <a:cubicBezTo>
                    <a:pt x="2138167" y="713212"/>
                    <a:pt x="2133081" y="725492"/>
                    <a:pt x="2124027" y="734546"/>
                  </a:cubicBezTo>
                  <a:cubicBezTo>
                    <a:pt x="2114973" y="743599"/>
                    <a:pt x="2102694" y="748686"/>
                    <a:pt x="2089889" y="748686"/>
                  </a:cubicBezTo>
                  <a:lnTo>
                    <a:pt x="48278" y="748686"/>
                  </a:lnTo>
                  <a:cubicBezTo>
                    <a:pt x="35474" y="748686"/>
                    <a:pt x="23194" y="743599"/>
                    <a:pt x="14140" y="734546"/>
                  </a:cubicBezTo>
                  <a:cubicBezTo>
                    <a:pt x="5086" y="725492"/>
                    <a:pt x="0" y="713212"/>
                    <a:pt x="0" y="700408"/>
                  </a:cubicBezTo>
                  <a:lnTo>
                    <a:pt x="0" y="48278"/>
                  </a:lnTo>
                  <a:cubicBezTo>
                    <a:pt x="0" y="35474"/>
                    <a:pt x="5086" y="23194"/>
                    <a:pt x="14140" y="14140"/>
                  </a:cubicBezTo>
                  <a:cubicBezTo>
                    <a:pt x="23194" y="5086"/>
                    <a:pt x="35474" y="0"/>
                    <a:pt x="4827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38167" cy="786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527447" y="7061801"/>
            <a:ext cx="2781992" cy="626986"/>
            <a:chOff x="0" y="0"/>
            <a:chExt cx="1251519" cy="2820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1519" cy="282059"/>
            </a:xfrm>
            <a:custGeom>
              <a:avLst/>
              <a:gdLst/>
              <a:ahLst/>
              <a:cxnLst/>
              <a:rect r="r" b="b" t="t" l="l"/>
              <a:pathLst>
                <a:path h="282059" w="1251519">
                  <a:moveTo>
                    <a:pt x="83486" y="0"/>
                  </a:moveTo>
                  <a:lnTo>
                    <a:pt x="1168033" y="0"/>
                  </a:lnTo>
                  <a:cubicBezTo>
                    <a:pt x="1190175" y="0"/>
                    <a:pt x="1211410" y="8796"/>
                    <a:pt x="1227067" y="24453"/>
                  </a:cubicBezTo>
                  <a:cubicBezTo>
                    <a:pt x="1242724" y="40109"/>
                    <a:pt x="1251519" y="61344"/>
                    <a:pt x="1251519" y="83486"/>
                  </a:cubicBezTo>
                  <a:lnTo>
                    <a:pt x="1251519" y="198573"/>
                  </a:lnTo>
                  <a:cubicBezTo>
                    <a:pt x="1251519" y="220715"/>
                    <a:pt x="1242724" y="241950"/>
                    <a:pt x="1227067" y="257606"/>
                  </a:cubicBezTo>
                  <a:cubicBezTo>
                    <a:pt x="1211410" y="273263"/>
                    <a:pt x="1190175" y="282059"/>
                    <a:pt x="1168033" y="282059"/>
                  </a:cubicBezTo>
                  <a:lnTo>
                    <a:pt x="83486" y="282059"/>
                  </a:lnTo>
                  <a:cubicBezTo>
                    <a:pt x="61344" y="282059"/>
                    <a:pt x="40109" y="273263"/>
                    <a:pt x="24453" y="257606"/>
                  </a:cubicBezTo>
                  <a:cubicBezTo>
                    <a:pt x="8796" y="241950"/>
                    <a:pt x="0" y="220715"/>
                    <a:pt x="0" y="198573"/>
                  </a:cubicBezTo>
                  <a:lnTo>
                    <a:pt x="0" y="83486"/>
                  </a:lnTo>
                  <a:cubicBezTo>
                    <a:pt x="0" y="61344"/>
                    <a:pt x="8796" y="40109"/>
                    <a:pt x="24453" y="24453"/>
                  </a:cubicBezTo>
                  <a:cubicBezTo>
                    <a:pt x="40109" y="8796"/>
                    <a:pt x="61344" y="0"/>
                    <a:pt x="83486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251519" cy="339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7527447" y="7094307"/>
            <a:ext cx="287818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Intoxicación: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08801" y="7802547"/>
            <a:ext cx="4578414" cy="148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31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Ingestión de toxinas producidas previamente por microorganismos en el alimento o por sustancias químicas/vegetales.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0112" y="425618"/>
            <a:ext cx="12005614" cy="1316455"/>
            <a:chOff x="0" y="0"/>
            <a:chExt cx="3399708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9708" cy="372789"/>
            </a:xfrm>
            <a:custGeom>
              <a:avLst/>
              <a:gdLst/>
              <a:ahLst/>
              <a:cxnLst/>
              <a:rect r="r" b="b" t="t" l="l"/>
              <a:pathLst>
                <a:path h="372789" w="3399708">
                  <a:moveTo>
                    <a:pt x="32888" y="0"/>
                  </a:moveTo>
                  <a:lnTo>
                    <a:pt x="3366820" y="0"/>
                  </a:lnTo>
                  <a:cubicBezTo>
                    <a:pt x="3384984" y="0"/>
                    <a:pt x="3399708" y="14724"/>
                    <a:pt x="3399708" y="32888"/>
                  </a:cubicBezTo>
                  <a:lnTo>
                    <a:pt x="3399708" y="339901"/>
                  </a:lnTo>
                  <a:cubicBezTo>
                    <a:pt x="3399708" y="358065"/>
                    <a:pt x="3384984" y="372789"/>
                    <a:pt x="3366820" y="372789"/>
                  </a:cubicBezTo>
                  <a:lnTo>
                    <a:pt x="32888" y="372789"/>
                  </a:lnTo>
                  <a:cubicBezTo>
                    <a:pt x="14724" y="372789"/>
                    <a:pt x="0" y="358065"/>
                    <a:pt x="0" y="339901"/>
                  </a:cubicBezTo>
                  <a:lnTo>
                    <a:pt x="0" y="32888"/>
                  </a:lnTo>
                  <a:cubicBezTo>
                    <a:pt x="0" y="14724"/>
                    <a:pt x="14724" y="0"/>
                    <a:pt x="32888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99708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11814581" cy="1087855"/>
            <a:chOff x="0" y="0"/>
            <a:chExt cx="3345612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45612" cy="308055"/>
            </a:xfrm>
            <a:custGeom>
              <a:avLst/>
              <a:gdLst/>
              <a:ahLst/>
              <a:cxnLst/>
              <a:rect r="r" b="b" t="t" l="l"/>
              <a:pathLst>
                <a:path h="308055" w="3345612">
                  <a:moveTo>
                    <a:pt x="33420" y="0"/>
                  </a:moveTo>
                  <a:lnTo>
                    <a:pt x="3312192" y="0"/>
                  </a:lnTo>
                  <a:cubicBezTo>
                    <a:pt x="3321056" y="0"/>
                    <a:pt x="3329556" y="3521"/>
                    <a:pt x="3335824" y="9788"/>
                  </a:cubicBezTo>
                  <a:cubicBezTo>
                    <a:pt x="3342091" y="16056"/>
                    <a:pt x="3345612" y="24556"/>
                    <a:pt x="3345612" y="33420"/>
                  </a:cubicBezTo>
                  <a:lnTo>
                    <a:pt x="3345612" y="274636"/>
                  </a:lnTo>
                  <a:cubicBezTo>
                    <a:pt x="3345612" y="293093"/>
                    <a:pt x="3330650" y="308055"/>
                    <a:pt x="3312192" y="308055"/>
                  </a:cubicBezTo>
                  <a:lnTo>
                    <a:pt x="33420" y="308055"/>
                  </a:lnTo>
                  <a:cubicBezTo>
                    <a:pt x="14962" y="308055"/>
                    <a:pt x="0" y="293093"/>
                    <a:pt x="0" y="274636"/>
                  </a:cubicBezTo>
                  <a:lnTo>
                    <a:pt x="0" y="33420"/>
                  </a:lnTo>
                  <a:cubicBezTo>
                    <a:pt x="0" y="14962"/>
                    <a:pt x="14962" y="0"/>
                    <a:pt x="3342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45612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02710" y="527904"/>
            <a:ext cx="11291135" cy="788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Infecciones Alimentarias (Bacterias Patógenas)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580" y="731203"/>
            <a:ext cx="19615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9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3128784"/>
            <a:ext cx="5270338" cy="2302173"/>
            <a:chOff x="0" y="0"/>
            <a:chExt cx="2370938" cy="10356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0938" cy="1035666"/>
            </a:xfrm>
            <a:custGeom>
              <a:avLst/>
              <a:gdLst/>
              <a:ahLst/>
              <a:cxnLst/>
              <a:rect r="r" b="b" t="t" l="l"/>
              <a:pathLst>
                <a:path h="1035666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992128"/>
                  </a:lnTo>
                  <a:cubicBezTo>
                    <a:pt x="2370938" y="1016174"/>
                    <a:pt x="2351445" y="1035666"/>
                    <a:pt x="2327400" y="1035666"/>
                  </a:cubicBezTo>
                  <a:lnTo>
                    <a:pt x="43538" y="1035666"/>
                  </a:lnTo>
                  <a:cubicBezTo>
                    <a:pt x="31991" y="1035666"/>
                    <a:pt x="20917" y="1031079"/>
                    <a:pt x="12752" y="1022914"/>
                  </a:cubicBezTo>
                  <a:cubicBezTo>
                    <a:pt x="4587" y="1014749"/>
                    <a:pt x="0" y="1003675"/>
                    <a:pt x="0" y="992128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70938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33068" y="2406701"/>
            <a:ext cx="3200220" cy="545586"/>
            <a:chOff x="0" y="0"/>
            <a:chExt cx="1439665" cy="245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9665" cy="245440"/>
            </a:xfrm>
            <a:custGeom>
              <a:avLst/>
              <a:gdLst/>
              <a:ahLst/>
              <a:cxnLst/>
              <a:rect r="r" b="b" t="t" l="l"/>
              <a:pathLst>
                <a:path h="245440" w="1439665">
                  <a:moveTo>
                    <a:pt x="72576" y="0"/>
                  </a:moveTo>
                  <a:lnTo>
                    <a:pt x="1367090" y="0"/>
                  </a:lnTo>
                  <a:cubicBezTo>
                    <a:pt x="1407172" y="0"/>
                    <a:pt x="1439665" y="32493"/>
                    <a:pt x="1439665" y="72576"/>
                  </a:cubicBezTo>
                  <a:lnTo>
                    <a:pt x="1439665" y="172864"/>
                  </a:lnTo>
                  <a:cubicBezTo>
                    <a:pt x="1439665" y="192112"/>
                    <a:pt x="1432019" y="210572"/>
                    <a:pt x="1418408" y="224183"/>
                  </a:cubicBezTo>
                  <a:cubicBezTo>
                    <a:pt x="1404798" y="237793"/>
                    <a:pt x="1386338" y="245440"/>
                    <a:pt x="1367090" y="245440"/>
                  </a:cubicBezTo>
                  <a:lnTo>
                    <a:pt x="72576" y="245440"/>
                  </a:lnTo>
                  <a:cubicBezTo>
                    <a:pt x="32493" y="245440"/>
                    <a:pt x="0" y="212946"/>
                    <a:pt x="0" y="172864"/>
                  </a:cubicBezTo>
                  <a:lnTo>
                    <a:pt x="0" y="72576"/>
                  </a:lnTo>
                  <a:cubicBezTo>
                    <a:pt x="0" y="32493"/>
                    <a:pt x="32493" y="0"/>
                    <a:pt x="72576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439665" cy="302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19363" y="2414442"/>
            <a:ext cx="428901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Salmonelosis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9068" y="3168621"/>
            <a:ext cx="5009601" cy="217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-37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Transmitida por huevos, mayonesa, pollo y carne cruda. 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 spc="-37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Síntomas: fiebre, diarrea, dolor abdominal, vómitos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758676" y="3128784"/>
            <a:ext cx="5270338" cy="2302173"/>
            <a:chOff x="0" y="0"/>
            <a:chExt cx="2370938" cy="10356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0938" cy="1035666"/>
            </a:xfrm>
            <a:custGeom>
              <a:avLst/>
              <a:gdLst/>
              <a:ahLst/>
              <a:cxnLst/>
              <a:rect r="r" b="b" t="t" l="l"/>
              <a:pathLst>
                <a:path h="1035666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992128"/>
                  </a:lnTo>
                  <a:cubicBezTo>
                    <a:pt x="2370938" y="1016174"/>
                    <a:pt x="2351445" y="1035666"/>
                    <a:pt x="2327400" y="1035666"/>
                  </a:cubicBezTo>
                  <a:lnTo>
                    <a:pt x="43538" y="1035666"/>
                  </a:lnTo>
                  <a:cubicBezTo>
                    <a:pt x="31991" y="1035666"/>
                    <a:pt x="20917" y="1031079"/>
                    <a:pt x="12752" y="1022914"/>
                  </a:cubicBezTo>
                  <a:cubicBezTo>
                    <a:pt x="4587" y="1014749"/>
                    <a:pt x="0" y="1003675"/>
                    <a:pt x="0" y="992128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370938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9044" y="2439147"/>
            <a:ext cx="5009601" cy="513140"/>
            <a:chOff x="0" y="0"/>
            <a:chExt cx="2253642" cy="2308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3642" cy="230844"/>
            </a:xfrm>
            <a:custGeom>
              <a:avLst/>
              <a:gdLst/>
              <a:ahLst/>
              <a:cxnLst/>
              <a:rect r="r" b="b" t="t" l="l"/>
              <a:pathLst>
                <a:path h="230844" w="2253642">
                  <a:moveTo>
                    <a:pt x="46362" y="0"/>
                  </a:moveTo>
                  <a:lnTo>
                    <a:pt x="2207279" y="0"/>
                  </a:lnTo>
                  <a:cubicBezTo>
                    <a:pt x="2232884" y="0"/>
                    <a:pt x="2253642" y="20757"/>
                    <a:pt x="2253642" y="46362"/>
                  </a:cubicBezTo>
                  <a:lnTo>
                    <a:pt x="2253642" y="184481"/>
                  </a:lnTo>
                  <a:cubicBezTo>
                    <a:pt x="2253642" y="210086"/>
                    <a:pt x="2232884" y="230844"/>
                    <a:pt x="2207279" y="230844"/>
                  </a:cubicBezTo>
                  <a:lnTo>
                    <a:pt x="46362" y="230844"/>
                  </a:lnTo>
                  <a:cubicBezTo>
                    <a:pt x="20757" y="230844"/>
                    <a:pt x="0" y="210086"/>
                    <a:pt x="0" y="184481"/>
                  </a:cubicBezTo>
                  <a:lnTo>
                    <a:pt x="0" y="46362"/>
                  </a:lnTo>
                  <a:cubicBezTo>
                    <a:pt x="0" y="20757"/>
                    <a:pt x="20757" y="0"/>
                    <a:pt x="46362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253642" cy="287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944635" y="2423967"/>
            <a:ext cx="495401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 spc="-4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Infección por Escherichia coli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89044" y="3168621"/>
            <a:ext cx="5009601" cy="211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 spc="-3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Transmitida por carne picada/hamburguesas poco cocidas, leche no pasteurizada y vegetales contaminados. </a:t>
            </a:r>
          </a:p>
          <a:p>
            <a:pPr algn="l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 spc="-3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Puede provocar síndrome urémico hemolítico (SUH) en niños.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393688" y="3128784"/>
            <a:ext cx="5270338" cy="2302173"/>
            <a:chOff x="0" y="0"/>
            <a:chExt cx="2370938" cy="10356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0938" cy="1035666"/>
            </a:xfrm>
            <a:custGeom>
              <a:avLst/>
              <a:gdLst/>
              <a:ahLst/>
              <a:cxnLst/>
              <a:rect r="r" b="b" t="t" l="l"/>
              <a:pathLst>
                <a:path h="1035666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992128"/>
                  </a:lnTo>
                  <a:cubicBezTo>
                    <a:pt x="2370938" y="1016174"/>
                    <a:pt x="2351445" y="1035666"/>
                    <a:pt x="2327400" y="1035666"/>
                  </a:cubicBezTo>
                  <a:lnTo>
                    <a:pt x="43538" y="1035666"/>
                  </a:lnTo>
                  <a:cubicBezTo>
                    <a:pt x="31991" y="1035666"/>
                    <a:pt x="20917" y="1031079"/>
                    <a:pt x="12752" y="1022914"/>
                  </a:cubicBezTo>
                  <a:cubicBezTo>
                    <a:pt x="4587" y="1014749"/>
                    <a:pt x="0" y="1003675"/>
                    <a:pt x="0" y="992128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370938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88851" y="2402634"/>
            <a:ext cx="4080011" cy="545586"/>
            <a:chOff x="0" y="0"/>
            <a:chExt cx="1835452" cy="245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35452" cy="245440"/>
            </a:xfrm>
            <a:custGeom>
              <a:avLst/>
              <a:gdLst/>
              <a:ahLst/>
              <a:cxnLst/>
              <a:rect r="r" b="b" t="t" l="l"/>
              <a:pathLst>
                <a:path h="245440" w="1835452">
                  <a:moveTo>
                    <a:pt x="56926" y="0"/>
                  </a:moveTo>
                  <a:lnTo>
                    <a:pt x="1778526" y="0"/>
                  </a:lnTo>
                  <a:cubicBezTo>
                    <a:pt x="1809966" y="0"/>
                    <a:pt x="1835452" y="25487"/>
                    <a:pt x="1835452" y="56926"/>
                  </a:cubicBezTo>
                  <a:lnTo>
                    <a:pt x="1835452" y="188514"/>
                  </a:lnTo>
                  <a:cubicBezTo>
                    <a:pt x="1835452" y="203612"/>
                    <a:pt x="1829455" y="218091"/>
                    <a:pt x="1818779" y="228766"/>
                  </a:cubicBezTo>
                  <a:cubicBezTo>
                    <a:pt x="1808103" y="239442"/>
                    <a:pt x="1793624" y="245440"/>
                    <a:pt x="1778526" y="245440"/>
                  </a:cubicBezTo>
                  <a:lnTo>
                    <a:pt x="56926" y="245440"/>
                  </a:lnTo>
                  <a:cubicBezTo>
                    <a:pt x="25487" y="245440"/>
                    <a:pt x="0" y="219953"/>
                    <a:pt x="0" y="188514"/>
                  </a:cubicBezTo>
                  <a:lnTo>
                    <a:pt x="0" y="56926"/>
                  </a:lnTo>
                  <a:cubicBezTo>
                    <a:pt x="0" y="41828"/>
                    <a:pt x="5998" y="27349"/>
                    <a:pt x="16673" y="16673"/>
                  </a:cubicBezTo>
                  <a:cubicBezTo>
                    <a:pt x="27349" y="5998"/>
                    <a:pt x="41828" y="0"/>
                    <a:pt x="56926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835452" cy="302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884351" y="2377929"/>
            <a:ext cx="428901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Campilobacteriosis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24056" y="3293399"/>
            <a:ext cx="5009601" cy="193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Asociada a aves de corral poco cocidas, leche cruda y agua contaminada. 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Síntomas: diarrea (a menudo con sangre), fiebre y dolor abdominal.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43843" y="6814333"/>
            <a:ext cx="5270338" cy="2302173"/>
            <a:chOff x="0" y="0"/>
            <a:chExt cx="2370938" cy="10356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0938" cy="1035666"/>
            </a:xfrm>
            <a:custGeom>
              <a:avLst/>
              <a:gdLst/>
              <a:ahLst/>
              <a:cxnLst/>
              <a:rect r="r" b="b" t="t" l="l"/>
              <a:pathLst>
                <a:path h="1035666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992128"/>
                  </a:lnTo>
                  <a:cubicBezTo>
                    <a:pt x="2370938" y="1016174"/>
                    <a:pt x="2351445" y="1035666"/>
                    <a:pt x="2327400" y="1035666"/>
                  </a:cubicBezTo>
                  <a:lnTo>
                    <a:pt x="43538" y="1035666"/>
                  </a:lnTo>
                  <a:cubicBezTo>
                    <a:pt x="31991" y="1035666"/>
                    <a:pt x="20917" y="1031079"/>
                    <a:pt x="12752" y="1022914"/>
                  </a:cubicBezTo>
                  <a:cubicBezTo>
                    <a:pt x="4587" y="1014749"/>
                    <a:pt x="0" y="1003675"/>
                    <a:pt x="0" y="992128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370938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313536" y="6092250"/>
            <a:ext cx="2639283" cy="545586"/>
            <a:chOff x="0" y="0"/>
            <a:chExt cx="1187320" cy="245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87320" cy="245440"/>
            </a:xfrm>
            <a:custGeom>
              <a:avLst/>
              <a:gdLst/>
              <a:ahLst/>
              <a:cxnLst/>
              <a:rect r="r" b="b" t="t" l="l"/>
              <a:pathLst>
                <a:path h="245440" w="1187320">
                  <a:moveTo>
                    <a:pt x="88000" y="0"/>
                  </a:moveTo>
                  <a:lnTo>
                    <a:pt x="1099320" y="0"/>
                  </a:lnTo>
                  <a:cubicBezTo>
                    <a:pt x="1122659" y="0"/>
                    <a:pt x="1145042" y="9271"/>
                    <a:pt x="1161545" y="25775"/>
                  </a:cubicBezTo>
                  <a:cubicBezTo>
                    <a:pt x="1178048" y="42278"/>
                    <a:pt x="1187320" y="64661"/>
                    <a:pt x="1187320" y="88000"/>
                  </a:cubicBezTo>
                  <a:lnTo>
                    <a:pt x="1187320" y="157439"/>
                  </a:lnTo>
                  <a:cubicBezTo>
                    <a:pt x="1187320" y="180778"/>
                    <a:pt x="1178048" y="203162"/>
                    <a:pt x="1161545" y="219665"/>
                  </a:cubicBezTo>
                  <a:cubicBezTo>
                    <a:pt x="1145042" y="236168"/>
                    <a:pt x="1122659" y="245440"/>
                    <a:pt x="1099320" y="245440"/>
                  </a:cubicBezTo>
                  <a:lnTo>
                    <a:pt x="88000" y="245440"/>
                  </a:lnTo>
                  <a:cubicBezTo>
                    <a:pt x="64661" y="245440"/>
                    <a:pt x="42278" y="236168"/>
                    <a:pt x="25775" y="219665"/>
                  </a:cubicBezTo>
                  <a:cubicBezTo>
                    <a:pt x="9271" y="203162"/>
                    <a:pt x="0" y="180778"/>
                    <a:pt x="0" y="157439"/>
                  </a:cubicBezTo>
                  <a:lnTo>
                    <a:pt x="0" y="88000"/>
                  </a:lnTo>
                  <a:cubicBezTo>
                    <a:pt x="0" y="64661"/>
                    <a:pt x="9271" y="42278"/>
                    <a:pt x="25775" y="25775"/>
                  </a:cubicBezTo>
                  <a:cubicBezTo>
                    <a:pt x="42278" y="9271"/>
                    <a:pt x="64661" y="0"/>
                    <a:pt x="88000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187320" cy="302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454001" y="6067545"/>
            <a:ext cx="258864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Shigelosis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4212" y="6984028"/>
            <a:ext cx="5009601" cy="185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 spc="-31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Infección caracterizada por diarrea disentérica (con sangre y pus). 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 spc="-31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Transmisión fecal-oral por mala higiene o alimentos contaminados con aguas servidas.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873819" y="6814333"/>
            <a:ext cx="5270338" cy="2302173"/>
            <a:chOff x="0" y="0"/>
            <a:chExt cx="2370938" cy="103566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70938" cy="1035666"/>
            </a:xfrm>
            <a:custGeom>
              <a:avLst/>
              <a:gdLst/>
              <a:ahLst/>
              <a:cxnLst/>
              <a:rect r="r" b="b" t="t" l="l"/>
              <a:pathLst>
                <a:path h="1035666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992128"/>
                  </a:lnTo>
                  <a:cubicBezTo>
                    <a:pt x="2370938" y="1016174"/>
                    <a:pt x="2351445" y="1035666"/>
                    <a:pt x="2327400" y="1035666"/>
                  </a:cubicBezTo>
                  <a:lnTo>
                    <a:pt x="43538" y="1035666"/>
                  </a:lnTo>
                  <a:cubicBezTo>
                    <a:pt x="31991" y="1035666"/>
                    <a:pt x="20917" y="1031079"/>
                    <a:pt x="12752" y="1022914"/>
                  </a:cubicBezTo>
                  <a:cubicBezTo>
                    <a:pt x="4587" y="1014749"/>
                    <a:pt x="0" y="1003675"/>
                    <a:pt x="0" y="992128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370938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137838" y="6124695"/>
            <a:ext cx="2539808" cy="513140"/>
            <a:chOff x="0" y="0"/>
            <a:chExt cx="1142569" cy="2308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42570" cy="230844"/>
            </a:xfrm>
            <a:custGeom>
              <a:avLst/>
              <a:gdLst/>
              <a:ahLst/>
              <a:cxnLst/>
              <a:rect r="r" b="b" t="t" l="l"/>
              <a:pathLst>
                <a:path h="230844" w="1142570">
                  <a:moveTo>
                    <a:pt x="91447" y="0"/>
                  </a:moveTo>
                  <a:lnTo>
                    <a:pt x="1051123" y="0"/>
                  </a:lnTo>
                  <a:cubicBezTo>
                    <a:pt x="1101627" y="0"/>
                    <a:pt x="1142570" y="40942"/>
                    <a:pt x="1142570" y="91447"/>
                  </a:cubicBezTo>
                  <a:lnTo>
                    <a:pt x="1142570" y="139397"/>
                  </a:lnTo>
                  <a:cubicBezTo>
                    <a:pt x="1142570" y="163650"/>
                    <a:pt x="1132935" y="186910"/>
                    <a:pt x="1115785" y="204059"/>
                  </a:cubicBezTo>
                  <a:cubicBezTo>
                    <a:pt x="1098636" y="221209"/>
                    <a:pt x="1075376" y="230844"/>
                    <a:pt x="1051123" y="230844"/>
                  </a:cubicBezTo>
                  <a:lnTo>
                    <a:pt x="91447" y="230844"/>
                  </a:lnTo>
                  <a:cubicBezTo>
                    <a:pt x="40942" y="230844"/>
                    <a:pt x="0" y="189901"/>
                    <a:pt x="0" y="139397"/>
                  </a:cubicBezTo>
                  <a:lnTo>
                    <a:pt x="0" y="91447"/>
                  </a:lnTo>
                  <a:cubicBezTo>
                    <a:pt x="0" y="40942"/>
                    <a:pt x="40942" y="0"/>
                    <a:pt x="9144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142569" cy="287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137838" y="6083768"/>
            <a:ext cx="256760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Brucelosis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004187" y="7026890"/>
            <a:ext cx="5009601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Transmitida principalmente por el consumo de leche cruda y derivados lácteos no pasteurizados. 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508831" y="6814333"/>
            <a:ext cx="5270338" cy="2915422"/>
            <a:chOff x="0" y="0"/>
            <a:chExt cx="2370938" cy="13115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70938" cy="1311545"/>
            </a:xfrm>
            <a:custGeom>
              <a:avLst/>
              <a:gdLst/>
              <a:ahLst/>
              <a:cxnLst/>
              <a:rect r="r" b="b" t="t" l="l"/>
              <a:pathLst>
                <a:path h="1311545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1268007"/>
                  </a:lnTo>
                  <a:cubicBezTo>
                    <a:pt x="2370938" y="1292052"/>
                    <a:pt x="2351445" y="1311545"/>
                    <a:pt x="2327400" y="1311545"/>
                  </a:cubicBezTo>
                  <a:lnTo>
                    <a:pt x="43538" y="1311545"/>
                  </a:lnTo>
                  <a:cubicBezTo>
                    <a:pt x="31991" y="1311545"/>
                    <a:pt x="20917" y="1306958"/>
                    <a:pt x="12752" y="1298793"/>
                  </a:cubicBezTo>
                  <a:cubicBezTo>
                    <a:pt x="4587" y="1290628"/>
                    <a:pt x="0" y="1279554"/>
                    <a:pt x="0" y="1268007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370938" cy="1349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919367" y="6088183"/>
            <a:ext cx="2449265" cy="549653"/>
            <a:chOff x="0" y="0"/>
            <a:chExt cx="1101838" cy="24726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01838" cy="247269"/>
            </a:xfrm>
            <a:custGeom>
              <a:avLst/>
              <a:gdLst/>
              <a:ahLst/>
              <a:cxnLst/>
              <a:rect r="r" b="b" t="t" l="l"/>
              <a:pathLst>
                <a:path h="247269" w="1101838">
                  <a:moveTo>
                    <a:pt x="94827" y="0"/>
                  </a:moveTo>
                  <a:lnTo>
                    <a:pt x="1007010" y="0"/>
                  </a:lnTo>
                  <a:cubicBezTo>
                    <a:pt x="1032160" y="0"/>
                    <a:pt x="1056280" y="9991"/>
                    <a:pt x="1074063" y="27774"/>
                  </a:cubicBezTo>
                  <a:cubicBezTo>
                    <a:pt x="1091847" y="45558"/>
                    <a:pt x="1101838" y="69678"/>
                    <a:pt x="1101838" y="94827"/>
                  </a:cubicBezTo>
                  <a:lnTo>
                    <a:pt x="1101838" y="152442"/>
                  </a:lnTo>
                  <a:cubicBezTo>
                    <a:pt x="1101838" y="177592"/>
                    <a:pt x="1091847" y="201711"/>
                    <a:pt x="1074063" y="219495"/>
                  </a:cubicBezTo>
                  <a:cubicBezTo>
                    <a:pt x="1056280" y="237279"/>
                    <a:pt x="1032160" y="247269"/>
                    <a:pt x="1007010" y="247269"/>
                  </a:cubicBezTo>
                  <a:lnTo>
                    <a:pt x="94827" y="247269"/>
                  </a:lnTo>
                  <a:cubicBezTo>
                    <a:pt x="69678" y="247269"/>
                    <a:pt x="45558" y="237279"/>
                    <a:pt x="27774" y="219495"/>
                  </a:cubicBezTo>
                  <a:cubicBezTo>
                    <a:pt x="9991" y="201711"/>
                    <a:pt x="0" y="177592"/>
                    <a:pt x="0" y="152442"/>
                  </a:cubicBezTo>
                  <a:lnTo>
                    <a:pt x="0" y="94827"/>
                  </a:lnTo>
                  <a:cubicBezTo>
                    <a:pt x="0" y="69678"/>
                    <a:pt x="9991" y="45558"/>
                    <a:pt x="27774" y="27774"/>
                  </a:cubicBezTo>
                  <a:cubicBezTo>
                    <a:pt x="45558" y="9991"/>
                    <a:pt x="69678" y="0"/>
                    <a:pt x="94827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101838" cy="304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7919367" y="6063478"/>
            <a:ext cx="244926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Listeriosis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639200" y="6840120"/>
            <a:ext cx="5009601" cy="281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 spc="-3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Capaz de multiplicarse a temperaturas de refrigeración. </a:t>
            </a:r>
          </a:p>
          <a:p>
            <a:pPr algn="l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 spc="-3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Riesgo crítico en embarazadas (causa abortos o partos prematuros), recién nacidos y personas inmunodeprimidas. </a:t>
            </a:r>
          </a:p>
          <a:p>
            <a:pPr algn="l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 spc="-3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Se encuentra en quesos frescos, leches sin pasteurizar y embutidos.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0112" y="425618"/>
            <a:ext cx="12005614" cy="1316455"/>
            <a:chOff x="0" y="0"/>
            <a:chExt cx="3399708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9708" cy="372789"/>
            </a:xfrm>
            <a:custGeom>
              <a:avLst/>
              <a:gdLst/>
              <a:ahLst/>
              <a:cxnLst/>
              <a:rect r="r" b="b" t="t" l="l"/>
              <a:pathLst>
                <a:path h="372789" w="3399708">
                  <a:moveTo>
                    <a:pt x="32888" y="0"/>
                  </a:moveTo>
                  <a:lnTo>
                    <a:pt x="3366820" y="0"/>
                  </a:lnTo>
                  <a:cubicBezTo>
                    <a:pt x="3384984" y="0"/>
                    <a:pt x="3399708" y="14724"/>
                    <a:pt x="3399708" y="32888"/>
                  </a:cubicBezTo>
                  <a:lnTo>
                    <a:pt x="3399708" y="339901"/>
                  </a:lnTo>
                  <a:cubicBezTo>
                    <a:pt x="3399708" y="358065"/>
                    <a:pt x="3384984" y="372789"/>
                    <a:pt x="3366820" y="372789"/>
                  </a:cubicBezTo>
                  <a:lnTo>
                    <a:pt x="32888" y="372789"/>
                  </a:lnTo>
                  <a:cubicBezTo>
                    <a:pt x="14724" y="372789"/>
                    <a:pt x="0" y="358065"/>
                    <a:pt x="0" y="339901"/>
                  </a:cubicBezTo>
                  <a:lnTo>
                    <a:pt x="0" y="32888"/>
                  </a:lnTo>
                  <a:cubicBezTo>
                    <a:pt x="0" y="14724"/>
                    <a:pt x="14724" y="0"/>
                    <a:pt x="32888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99708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11814581" cy="1087855"/>
            <a:chOff x="0" y="0"/>
            <a:chExt cx="3345612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45612" cy="308055"/>
            </a:xfrm>
            <a:custGeom>
              <a:avLst/>
              <a:gdLst/>
              <a:ahLst/>
              <a:cxnLst/>
              <a:rect r="r" b="b" t="t" l="l"/>
              <a:pathLst>
                <a:path h="308055" w="3345612">
                  <a:moveTo>
                    <a:pt x="33420" y="0"/>
                  </a:moveTo>
                  <a:lnTo>
                    <a:pt x="3312192" y="0"/>
                  </a:lnTo>
                  <a:cubicBezTo>
                    <a:pt x="3321056" y="0"/>
                    <a:pt x="3329556" y="3521"/>
                    <a:pt x="3335824" y="9788"/>
                  </a:cubicBezTo>
                  <a:cubicBezTo>
                    <a:pt x="3342091" y="16056"/>
                    <a:pt x="3345612" y="24556"/>
                    <a:pt x="3345612" y="33420"/>
                  </a:cubicBezTo>
                  <a:lnTo>
                    <a:pt x="3345612" y="274636"/>
                  </a:lnTo>
                  <a:cubicBezTo>
                    <a:pt x="3345612" y="293093"/>
                    <a:pt x="3330650" y="308055"/>
                    <a:pt x="3312192" y="308055"/>
                  </a:cubicBezTo>
                  <a:lnTo>
                    <a:pt x="33420" y="308055"/>
                  </a:lnTo>
                  <a:cubicBezTo>
                    <a:pt x="14962" y="308055"/>
                    <a:pt x="0" y="293093"/>
                    <a:pt x="0" y="274636"/>
                  </a:cubicBezTo>
                  <a:lnTo>
                    <a:pt x="0" y="33420"/>
                  </a:lnTo>
                  <a:cubicBezTo>
                    <a:pt x="0" y="14962"/>
                    <a:pt x="14962" y="0"/>
                    <a:pt x="3342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45612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02710" y="518379"/>
            <a:ext cx="11291135" cy="83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Intoxicaciones y Toxiinfecciones Alimentarias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580" y="721678"/>
            <a:ext cx="19615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10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3300234"/>
            <a:ext cx="5270338" cy="2302173"/>
            <a:chOff x="0" y="0"/>
            <a:chExt cx="2370938" cy="10356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0938" cy="1035666"/>
            </a:xfrm>
            <a:custGeom>
              <a:avLst/>
              <a:gdLst/>
              <a:ahLst/>
              <a:cxnLst/>
              <a:rect r="r" b="b" t="t" l="l"/>
              <a:pathLst>
                <a:path h="1035666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992128"/>
                  </a:lnTo>
                  <a:cubicBezTo>
                    <a:pt x="2370938" y="1016174"/>
                    <a:pt x="2351445" y="1035666"/>
                    <a:pt x="2327400" y="1035666"/>
                  </a:cubicBezTo>
                  <a:lnTo>
                    <a:pt x="43538" y="1035666"/>
                  </a:lnTo>
                  <a:cubicBezTo>
                    <a:pt x="31991" y="1035666"/>
                    <a:pt x="20917" y="1031079"/>
                    <a:pt x="12752" y="1022914"/>
                  </a:cubicBezTo>
                  <a:cubicBezTo>
                    <a:pt x="4587" y="1014749"/>
                    <a:pt x="0" y="1003675"/>
                    <a:pt x="0" y="992128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70938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33068" y="2578151"/>
            <a:ext cx="3200220" cy="545586"/>
            <a:chOff x="0" y="0"/>
            <a:chExt cx="1439665" cy="245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9665" cy="245440"/>
            </a:xfrm>
            <a:custGeom>
              <a:avLst/>
              <a:gdLst/>
              <a:ahLst/>
              <a:cxnLst/>
              <a:rect r="r" b="b" t="t" l="l"/>
              <a:pathLst>
                <a:path h="245440" w="1439665">
                  <a:moveTo>
                    <a:pt x="72576" y="0"/>
                  </a:moveTo>
                  <a:lnTo>
                    <a:pt x="1367090" y="0"/>
                  </a:lnTo>
                  <a:cubicBezTo>
                    <a:pt x="1407172" y="0"/>
                    <a:pt x="1439665" y="32493"/>
                    <a:pt x="1439665" y="72576"/>
                  </a:cubicBezTo>
                  <a:lnTo>
                    <a:pt x="1439665" y="172864"/>
                  </a:lnTo>
                  <a:cubicBezTo>
                    <a:pt x="1439665" y="192112"/>
                    <a:pt x="1432019" y="210572"/>
                    <a:pt x="1418408" y="224183"/>
                  </a:cubicBezTo>
                  <a:cubicBezTo>
                    <a:pt x="1404798" y="237793"/>
                    <a:pt x="1386338" y="245440"/>
                    <a:pt x="1367090" y="245440"/>
                  </a:cubicBezTo>
                  <a:lnTo>
                    <a:pt x="72576" y="245440"/>
                  </a:lnTo>
                  <a:cubicBezTo>
                    <a:pt x="32493" y="245440"/>
                    <a:pt x="0" y="212946"/>
                    <a:pt x="0" y="172864"/>
                  </a:cubicBezTo>
                  <a:lnTo>
                    <a:pt x="0" y="72576"/>
                  </a:lnTo>
                  <a:cubicBezTo>
                    <a:pt x="0" y="32493"/>
                    <a:pt x="32493" y="0"/>
                    <a:pt x="72576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439665" cy="302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19363" y="2585892"/>
            <a:ext cx="428901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Botulismo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9068" y="3349596"/>
            <a:ext cx="5009601" cy="207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 spc="-3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acteria anaerobia formadora de esporas. 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 spc="-36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Produce una neurotoxina potente que causa parálisis flácida y dificultad respiratoria.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758676" y="3300234"/>
            <a:ext cx="5270338" cy="2302173"/>
            <a:chOff x="0" y="0"/>
            <a:chExt cx="2370938" cy="10356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0938" cy="1035666"/>
            </a:xfrm>
            <a:custGeom>
              <a:avLst/>
              <a:gdLst/>
              <a:ahLst/>
              <a:cxnLst/>
              <a:rect r="r" b="b" t="t" l="l"/>
              <a:pathLst>
                <a:path h="1035666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992128"/>
                  </a:lnTo>
                  <a:cubicBezTo>
                    <a:pt x="2370938" y="1016174"/>
                    <a:pt x="2351445" y="1035666"/>
                    <a:pt x="2327400" y="1035666"/>
                  </a:cubicBezTo>
                  <a:lnTo>
                    <a:pt x="43538" y="1035666"/>
                  </a:lnTo>
                  <a:cubicBezTo>
                    <a:pt x="31991" y="1035666"/>
                    <a:pt x="20917" y="1031079"/>
                    <a:pt x="12752" y="1022914"/>
                  </a:cubicBezTo>
                  <a:cubicBezTo>
                    <a:pt x="4587" y="1014749"/>
                    <a:pt x="0" y="1003675"/>
                    <a:pt x="0" y="992128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370938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9044" y="2488648"/>
            <a:ext cx="5009601" cy="635089"/>
            <a:chOff x="0" y="0"/>
            <a:chExt cx="2253642" cy="2857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3642" cy="285704"/>
            </a:xfrm>
            <a:custGeom>
              <a:avLst/>
              <a:gdLst/>
              <a:ahLst/>
              <a:cxnLst/>
              <a:rect r="r" b="b" t="t" l="l"/>
              <a:pathLst>
                <a:path h="285704" w="2253642">
                  <a:moveTo>
                    <a:pt x="46362" y="0"/>
                  </a:moveTo>
                  <a:lnTo>
                    <a:pt x="2207279" y="0"/>
                  </a:lnTo>
                  <a:cubicBezTo>
                    <a:pt x="2232884" y="0"/>
                    <a:pt x="2253642" y="20757"/>
                    <a:pt x="2253642" y="46362"/>
                  </a:cubicBezTo>
                  <a:lnTo>
                    <a:pt x="2253642" y="239342"/>
                  </a:lnTo>
                  <a:cubicBezTo>
                    <a:pt x="2253642" y="264947"/>
                    <a:pt x="2232884" y="285704"/>
                    <a:pt x="2207279" y="285704"/>
                  </a:cubicBezTo>
                  <a:lnTo>
                    <a:pt x="46362" y="285704"/>
                  </a:lnTo>
                  <a:cubicBezTo>
                    <a:pt x="20757" y="285704"/>
                    <a:pt x="0" y="264947"/>
                    <a:pt x="0" y="239342"/>
                  </a:cubicBezTo>
                  <a:lnTo>
                    <a:pt x="0" y="46362"/>
                  </a:lnTo>
                  <a:cubicBezTo>
                    <a:pt x="0" y="20757"/>
                    <a:pt x="20757" y="0"/>
                    <a:pt x="46362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253642" cy="342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944635" y="2604942"/>
            <a:ext cx="4954010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 spc="-36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Intoxicación por Bacillus cereus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16839" y="3493106"/>
            <a:ext cx="5009601" cy="187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b="true" sz="1800" spc="-27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Síndrome emético (vómitos):</a:t>
            </a:r>
            <a:r>
              <a:rPr lang="en-US" sz="1800" spc="-27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Por toxina preformada en alimentos ricos en almidón (ej. arroz cocido mantenido a temperatura ambiente). 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b="true" sz="1800" spc="-27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Síndrome diarreico: </a:t>
            </a:r>
            <a:r>
              <a:rPr lang="en-US" sz="1800" spc="-27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Por toxina producida en el intestino (toxiinfección). 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393688" y="3300234"/>
            <a:ext cx="5270338" cy="2302173"/>
            <a:chOff x="0" y="0"/>
            <a:chExt cx="2370938" cy="10356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0938" cy="1035666"/>
            </a:xfrm>
            <a:custGeom>
              <a:avLst/>
              <a:gdLst/>
              <a:ahLst/>
              <a:cxnLst/>
              <a:rect r="r" b="b" t="t" l="l"/>
              <a:pathLst>
                <a:path h="1035666" w="2370938">
                  <a:moveTo>
                    <a:pt x="43538" y="0"/>
                  </a:moveTo>
                  <a:lnTo>
                    <a:pt x="2327400" y="0"/>
                  </a:lnTo>
                  <a:cubicBezTo>
                    <a:pt x="2338947" y="0"/>
                    <a:pt x="2350021" y="4587"/>
                    <a:pt x="2358186" y="12752"/>
                  </a:cubicBezTo>
                  <a:cubicBezTo>
                    <a:pt x="2366351" y="20917"/>
                    <a:pt x="2370938" y="31991"/>
                    <a:pt x="2370938" y="43538"/>
                  </a:cubicBezTo>
                  <a:lnTo>
                    <a:pt x="2370938" y="992128"/>
                  </a:lnTo>
                  <a:cubicBezTo>
                    <a:pt x="2370938" y="1016174"/>
                    <a:pt x="2351445" y="1035666"/>
                    <a:pt x="2327400" y="1035666"/>
                  </a:cubicBezTo>
                  <a:lnTo>
                    <a:pt x="43538" y="1035666"/>
                  </a:lnTo>
                  <a:cubicBezTo>
                    <a:pt x="31991" y="1035666"/>
                    <a:pt x="20917" y="1031079"/>
                    <a:pt x="12752" y="1022914"/>
                  </a:cubicBezTo>
                  <a:cubicBezTo>
                    <a:pt x="4587" y="1014749"/>
                    <a:pt x="0" y="1003675"/>
                    <a:pt x="0" y="992128"/>
                  </a:cubicBezTo>
                  <a:lnTo>
                    <a:pt x="0" y="43538"/>
                  </a:lnTo>
                  <a:cubicBezTo>
                    <a:pt x="0" y="31991"/>
                    <a:pt x="4587" y="20917"/>
                    <a:pt x="12752" y="12752"/>
                  </a:cubicBezTo>
                  <a:cubicBezTo>
                    <a:pt x="20917" y="4587"/>
                    <a:pt x="31991" y="0"/>
                    <a:pt x="43538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370938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24056" y="2488648"/>
            <a:ext cx="5009601" cy="631022"/>
            <a:chOff x="0" y="0"/>
            <a:chExt cx="2253642" cy="2838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53642" cy="283874"/>
            </a:xfrm>
            <a:custGeom>
              <a:avLst/>
              <a:gdLst/>
              <a:ahLst/>
              <a:cxnLst/>
              <a:rect r="r" b="b" t="t" l="l"/>
              <a:pathLst>
                <a:path h="283874" w="2253642">
                  <a:moveTo>
                    <a:pt x="46362" y="0"/>
                  </a:moveTo>
                  <a:lnTo>
                    <a:pt x="2207279" y="0"/>
                  </a:lnTo>
                  <a:cubicBezTo>
                    <a:pt x="2232884" y="0"/>
                    <a:pt x="2253642" y="20757"/>
                    <a:pt x="2253642" y="46362"/>
                  </a:cubicBezTo>
                  <a:lnTo>
                    <a:pt x="2253642" y="237512"/>
                  </a:lnTo>
                  <a:cubicBezTo>
                    <a:pt x="2253642" y="263117"/>
                    <a:pt x="2232884" y="283874"/>
                    <a:pt x="2207279" y="283874"/>
                  </a:cubicBezTo>
                  <a:lnTo>
                    <a:pt x="46362" y="283874"/>
                  </a:lnTo>
                  <a:cubicBezTo>
                    <a:pt x="20757" y="283874"/>
                    <a:pt x="0" y="263117"/>
                    <a:pt x="0" y="237512"/>
                  </a:cubicBezTo>
                  <a:lnTo>
                    <a:pt x="0" y="46362"/>
                  </a:lnTo>
                  <a:cubicBezTo>
                    <a:pt x="0" y="20757"/>
                    <a:pt x="20757" y="0"/>
                    <a:pt x="46362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253642" cy="341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800726" y="2559190"/>
            <a:ext cx="445626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 spc="-4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Intoxicación Estafilocócica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08831" y="3418494"/>
            <a:ext cx="5009601" cy="193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Produce enterotoxinas resistentes al calor en el alimento. 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Período de incubación corto (1 a 6 horas); provoca vómitos intensos y náuseas.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7419866"/>
            <a:ext cx="7336970" cy="2302173"/>
            <a:chOff x="0" y="0"/>
            <a:chExt cx="3300642" cy="10356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00642" cy="1035666"/>
            </a:xfrm>
            <a:custGeom>
              <a:avLst/>
              <a:gdLst/>
              <a:ahLst/>
              <a:cxnLst/>
              <a:rect r="r" b="b" t="t" l="l"/>
              <a:pathLst>
                <a:path h="1035666" w="3300642">
                  <a:moveTo>
                    <a:pt x="31274" y="0"/>
                  </a:moveTo>
                  <a:lnTo>
                    <a:pt x="3269368" y="0"/>
                  </a:lnTo>
                  <a:cubicBezTo>
                    <a:pt x="3286640" y="0"/>
                    <a:pt x="3300642" y="14002"/>
                    <a:pt x="3300642" y="31274"/>
                  </a:cubicBezTo>
                  <a:lnTo>
                    <a:pt x="3300642" y="1004392"/>
                  </a:lnTo>
                  <a:cubicBezTo>
                    <a:pt x="3300642" y="1012686"/>
                    <a:pt x="3297347" y="1020641"/>
                    <a:pt x="3291482" y="1026506"/>
                  </a:cubicBezTo>
                  <a:cubicBezTo>
                    <a:pt x="3285617" y="1032371"/>
                    <a:pt x="3277662" y="1035666"/>
                    <a:pt x="3269368" y="1035666"/>
                  </a:cubicBezTo>
                  <a:lnTo>
                    <a:pt x="31274" y="1035666"/>
                  </a:lnTo>
                  <a:cubicBezTo>
                    <a:pt x="22980" y="1035666"/>
                    <a:pt x="15025" y="1032371"/>
                    <a:pt x="9160" y="1026506"/>
                  </a:cubicBezTo>
                  <a:cubicBezTo>
                    <a:pt x="3295" y="1020641"/>
                    <a:pt x="0" y="1012686"/>
                    <a:pt x="0" y="1004392"/>
                  </a:cubicBezTo>
                  <a:lnTo>
                    <a:pt x="0" y="31274"/>
                  </a:lnTo>
                  <a:cubicBezTo>
                    <a:pt x="0" y="22980"/>
                    <a:pt x="3295" y="15025"/>
                    <a:pt x="9160" y="9160"/>
                  </a:cubicBezTo>
                  <a:cubicBezTo>
                    <a:pt x="15025" y="3295"/>
                    <a:pt x="22980" y="0"/>
                    <a:pt x="31274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300642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33068" y="6697783"/>
            <a:ext cx="5132593" cy="513140"/>
            <a:chOff x="0" y="0"/>
            <a:chExt cx="2308971" cy="2308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08971" cy="230844"/>
            </a:xfrm>
            <a:custGeom>
              <a:avLst/>
              <a:gdLst/>
              <a:ahLst/>
              <a:cxnLst/>
              <a:rect r="r" b="b" t="t" l="l"/>
              <a:pathLst>
                <a:path h="230844" w="2308971">
                  <a:moveTo>
                    <a:pt x="45252" y="0"/>
                  </a:moveTo>
                  <a:lnTo>
                    <a:pt x="2263720" y="0"/>
                  </a:lnTo>
                  <a:cubicBezTo>
                    <a:pt x="2275721" y="0"/>
                    <a:pt x="2287231" y="4768"/>
                    <a:pt x="2295718" y="13254"/>
                  </a:cubicBezTo>
                  <a:cubicBezTo>
                    <a:pt x="2304204" y="21740"/>
                    <a:pt x="2308971" y="33250"/>
                    <a:pt x="2308971" y="45252"/>
                  </a:cubicBezTo>
                  <a:lnTo>
                    <a:pt x="2308971" y="185592"/>
                  </a:lnTo>
                  <a:cubicBezTo>
                    <a:pt x="2308971" y="197594"/>
                    <a:pt x="2304204" y="209103"/>
                    <a:pt x="2295718" y="217590"/>
                  </a:cubicBezTo>
                  <a:cubicBezTo>
                    <a:pt x="2287231" y="226076"/>
                    <a:pt x="2275721" y="230844"/>
                    <a:pt x="2263720" y="230844"/>
                  </a:cubicBezTo>
                  <a:lnTo>
                    <a:pt x="45252" y="230844"/>
                  </a:lnTo>
                  <a:cubicBezTo>
                    <a:pt x="20260" y="230844"/>
                    <a:pt x="0" y="210584"/>
                    <a:pt x="0" y="185592"/>
                  </a:cubicBezTo>
                  <a:lnTo>
                    <a:pt x="0" y="45252"/>
                  </a:lnTo>
                  <a:cubicBezTo>
                    <a:pt x="0" y="33250"/>
                    <a:pt x="4768" y="21740"/>
                    <a:pt x="13254" y="13254"/>
                  </a:cubicBezTo>
                  <a:cubicBezTo>
                    <a:pt x="21740" y="4768"/>
                    <a:pt x="33250" y="0"/>
                    <a:pt x="45252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308971" cy="287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130888" y="6640633"/>
            <a:ext cx="493695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Clostridium perfringens: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0189" y="7599085"/>
            <a:ext cx="6973992" cy="193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Produce la enterotoxina en el intestino tras ingerir alimentos contaminados con un alto número de bacterias. 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Asociado a grandes cortes de carne, guisos o salsas enfriados o recalentados lentamente.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4212" y="1776890"/>
            <a:ext cx="571464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Intoxicaciones Alimentarias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74212" y="5843421"/>
            <a:ext cx="571464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-48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T</a:t>
            </a:r>
            <a:r>
              <a:rPr lang="en-US" b="true" sz="3200" spc="-48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oxiinfecciones Alimentarias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561675" y="7419866"/>
            <a:ext cx="7336970" cy="2302173"/>
            <a:chOff x="0" y="0"/>
            <a:chExt cx="3300642" cy="10356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00642" cy="1035666"/>
            </a:xfrm>
            <a:custGeom>
              <a:avLst/>
              <a:gdLst/>
              <a:ahLst/>
              <a:cxnLst/>
              <a:rect r="r" b="b" t="t" l="l"/>
              <a:pathLst>
                <a:path h="1035666" w="3300642">
                  <a:moveTo>
                    <a:pt x="31274" y="0"/>
                  </a:moveTo>
                  <a:lnTo>
                    <a:pt x="3269368" y="0"/>
                  </a:lnTo>
                  <a:cubicBezTo>
                    <a:pt x="3286640" y="0"/>
                    <a:pt x="3300642" y="14002"/>
                    <a:pt x="3300642" y="31274"/>
                  </a:cubicBezTo>
                  <a:lnTo>
                    <a:pt x="3300642" y="1004392"/>
                  </a:lnTo>
                  <a:cubicBezTo>
                    <a:pt x="3300642" y="1012686"/>
                    <a:pt x="3297347" y="1020641"/>
                    <a:pt x="3291482" y="1026506"/>
                  </a:cubicBezTo>
                  <a:cubicBezTo>
                    <a:pt x="3285617" y="1032371"/>
                    <a:pt x="3277662" y="1035666"/>
                    <a:pt x="3269368" y="1035666"/>
                  </a:cubicBezTo>
                  <a:lnTo>
                    <a:pt x="31274" y="1035666"/>
                  </a:lnTo>
                  <a:cubicBezTo>
                    <a:pt x="22980" y="1035666"/>
                    <a:pt x="15025" y="1032371"/>
                    <a:pt x="9160" y="1026506"/>
                  </a:cubicBezTo>
                  <a:cubicBezTo>
                    <a:pt x="3295" y="1020641"/>
                    <a:pt x="0" y="1012686"/>
                    <a:pt x="0" y="1004392"/>
                  </a:cubicBezTo>
                  <a:lnTo>
                    <a:pt x="0" y="31274"/>
                  </a:lnTo>
                  <a:cubicBezTo>
                    <a:pt x="0" y="22980"/>
                    <a:pt x="3295" y="15025"/>
                    <a:pt x="9160" y="9160"/>
                  </a:cubicBezTo>
                  <a:cubicBezTo>
                    <a:pt x="15025" y="3295"/>
                    <a:pt x="22980" y="0"/>
                    <a:pt x="31274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300642" cy="1073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190034" y="6697783"/>
            <a:ext cx="3674213" cy="545586"/>
            <a:chOff x="0" y="0"/>
            <a:chExt cx="1652898" cy="245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52898" cy="245440"/>
            </a:xfrm>
            <a:custGeom>
              <a:avLst/>
              <a:gdLst/>
              <a:ahLst/>
              <a:cxnLst/>
              <a:rect r="r" b="b" t="t" l="l"/>
              <a:pathLst>
                <a:path h="245440" w="1652898">
                  <a:moveTo>
                    <a:pt x="63213" y="0"/>
                  </a:moveTo>
                  <a:lnTo>
                    <a:pt x="1589685" y="0"/>
                  </a:lnTo>
                  <a:cubicBezTo>
                    <a:pt x="1624597" y="0"/>
                    <a:pt x="1652898" y="28301"/>
                    <a:pt x="1652898" y="63213"/>
                  </a:cubicBezTo>
                  <a:lnTo>
                    <a:pt x="1652898" y="182227"/>
                  </a:lnTo>
                  <a:cubicBezTo>
                    <a:pt x="1652898" y="198992"/>
                    <a:pt x="1646238" y="215070"/>
                    <a:pt x="1634383" y="226925"/>
                  </a:cubicBezTo>
                  <a:cubicBezTo>
                    <a:pt x="1622529" y="238780"/>
                    <a:pt x="1606450" y="245440"/>
                    <a:pt x="1589685" y="245440"/>
                  </a:cubicBezTo>
                  <a:lnTo>
                    <a:pt x="63213" y="245440"/>
                  </a:lnTo>
                  <a:cubicBezTo>
                    <a:pt x="28301" y="245440"/>
                    <a:pt x="0" y="217138"/>
                    <a:pt x="0" y="182227"/>
                  </a:cubicBezTo>
                  <a:lnTo>
                    <a:pt x="0" y="63213"/>
                  </a:lnTo>
                  <a:cubicBezTo>
                    <a:pt x="0" y="28301"/>
                    <a:pt x="28301" y="0"/>
                    <a:pt x="63213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652898" cy="302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385579" y="6673078"/>
            <a:ext cx="3603711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spc="-5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Cólera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43164" y="7767043"/>
            <a:ext cx="6973992" cy="15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 spc="-34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Infección/toxiinfección grave transmitida por agua o mariscos contaminados. 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 spc="-34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Causa diarrea acuosa profusa ("en agua de arroz"), deshidratación severa y shock. 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0112" y="425618"/>
            <a:ext cx="5445558" cy="1316455"/>
            <a:chOff x="0" y="0"/>
            <a:chExt cx="1542054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2054" cy="372789"/>
            </a:xfrm>
            <a:custGeom>
              <a:avLst/>
              <a:gdLst/>
              <a:ahLst/>
              <a:cxnLst/>
              <a:rect r="r" b="b" t="t" l="l"/>
              <a:pathLst>
                <a:path h="372789" w="1542054">
                  <a:moveTo>
                    <a:pt x="72506" y="0"/>
                  </a:moveTo>
                  <a:lnTo>
                    <a:pt x="1469548" y="0"/>
                  </a:lnTo>
                  <a:cubicBezTo>
                    <a:pt x="1488778" y="0"/>
                    <a:pt x="1507220" y="7639"/>
                    <a:pt x="1520818" y="21237"/>
                  </a:cubicBezTo>
                  <a:cubicBezTo>
                    <a:pt x="1534415" y="34834"/>
                    <a:pt x="1542054" y="53277"/>
                    <a:pt x="1542054" y="72506"/>
                  </a:cubicBezTo>
                  <a:lnTo>
                    <a:pt x="1542054" y="300283"/>
                  </a:lnTo>
                  <a:cubicBezTo>
                    <a:pt x="1542054" y="319513"/>
                    <a:pt x="1534415" y="337955"/>
                    <a:pt x="1520818" y="351553"/>
                  </a:cubicBezTo>
                  <a:cubicBezTo>
                    <a:pt x="1507220" y="365150"/>
                    <a:pt x="1488778" y="372789"/>
                    <a:pt x="1469548" y="372789"/>
                  </a:cubicBezTo>
                  <a:lnTo>
                    <a:pt x="72506" y="372789"/>
                  </a:lnTo>
                  <a:cubicBezTo>
                    <a:pt x="53277" y="372789"/>
                    <a:pt x="34834" y="365150"/>
                    <a:pt x="21237" y="351553"/>
                  </a:cubicBezTo>
                  <a:cubicBezTo>
                    <a:pt x="7639" y="337955"/>
                    <a:pt x="0" y="319513"/>
                    <a:pt x="0" y="300283"/>
                  </a:cubicBezTo>
                  <a:lnTo>
                    <a:pt x="0" y="72506"/>
                  </a:lnTo>
                  <a:cubicBezTo>
                    <a:pt x="0" y="53277"/>
                    <a:pt x="7639" y="34834"/>
                    <a:pt x="21237" y="21237"/>
                  </a:cubicBezTo>
                  <a:cubicBezTo>
                    <a:pt x="34834" y="7639"/>
                    <a:pt x="53277" y="0"/>
                    <a:pt x="72506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2054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5182496" cy="1087855"/>
            <a:chOff x="0" y="0"/>
            <a:chExt cx="1467561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7561" cy="308055"/>
            </a:xfrm>
            <a:custGeom>
              <a:avLst/>
              <a:gdLst/>
              <a:ahLst/>
              <a:cxnLst/>
              <a:rect r="r" b="b" t="t" l="l"/>
              <a:pathLst>
                <a:path h="308055" w="1467561">
                  <a:moveTo>
                    <a:pt x="76187" y="0"/>
                  </a:moveTo>
                  <a:lnTo>
                    <a:pt x="1391374" y="0"/>
                  </a:lnTo>
                  <a:cubicBezTo>
                    <a:pt x="1433451" y="0"/>
                    <a:pt x="1467561" y="34110"/>
                    <a:pt x="1467561" y="76187"/>
                  </a:cubicBezTo>
                  <a:lnTo>
                    <a:pt x="1467561" y="231868"/>
                  </a:lnTo>
                  <a:cubicBezTo>
                    <a:pt x="1467561" y="273945"/>
                    <a:pt x="1433451" y="308055"/>
                    <a:pt x="1391374" y="308055"/>
                  </a:cubicBezTo>
                  <a:lnTo>
                    <a:pt x="76187" y="308055"/>
                  </a:lnTo>
                  <a:cubicBezTo>
                    <a:pt x="34110" y="308055"/>
                    <a:pt x="0" y="273945"/>
                    <a:pt x="0" y="231868"/>
                  </a:cubicBezTo>
                  <a:lnTo>
                    <a:pt x="0" y="76187"/>
                  </a:lnTo>
                  <a:cubicBezTo>
                    <a:pt x="0" y="34110"/>
                    <a:pt x="34110" y="0"/>
                    <a:pt x="7618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7561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02710" y="518379"/>
            <a:ext cx="4892586" cy="88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el sistema HACCP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580" y="721678"/>
            <a:ext cx="19615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11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573519" y="326704"/>
            <a:ext cx="4907242" cy="1988030"/>
            <a:chOff x="0" y="0"/>
            <a:chExt cx="2370938" cy="9605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0938" cy="960518"/>
            </a:xfrm>
            <a:custGeom>
              <a:avLst/>
              <a:gdLst/>
              <a:ahLst/>
              <a:cxnLst/>
              <a:rect r="r" b="b" t="t" l="l"/>
              <a:pathLst>
                <a:path h="960518" w="2370938">
                  <a:moveTo>
                    <a:pt x="46759" y="0"/>
                  </a:moveTo>
                  <a:lnTo>
                    <a:pt x="2324178" y="0"/>
                  </a:lnTo>
                  <a:cubicBezTo>
                    <a:pt x="2336580" y="0"/>
                    <a:pt x="2348473" y="4926"/>
                    <a:pt x="2357242" y="13695"/>
                  </a:cubicBezTo>
                  <a:cubicBezTo>
                    <a:pt x="2366011" y="22465"/>
                    <a:pt x="2370938" y="34358"/>
                    <a:pt x="2370938" y="46759"/>
                  </a:cubicBezTo>
                  <a:lnTo>
                    <a:pt x="2370938" y="913759"/>
                  </a:lnTo>
                  <a:cubicBezTo>
                    <a:pt x="2370938" y="926160"/>
                    <a:pt x="2366011" y="938054"/>
                    <a:pt x="2357242" y="946823"/>
                  </a:cubicBezTo>
                  <a:cubicBezTo>
                    <a:pt x="2348473" y="955592"/>
                    <a:pt x="2336580" y="960518"/>
                    <a:pt x="2324178" y="960518"/>
                  </a:cubicBezTo>
                  <a:lnTo>
                    <a:pt x="46759" y="960518"/>
                  </a:lnTo>
                  <a:cubicBezTo>
                    <a:pt x="20935" y="960518"/>
                    <a:pt x="0" y="939583"/>
                    <a:pt x="0" y="913759"/>
                  </a:cubicBezTo>
                  <a:lnTo>
                    <a:pt x="0" y="46759"/>
                  </a:lnTo>
                  <a:cubicBezTo>
                    <a:pt x="0" y="20935"/>
                    <a:pt x="20935" y="0"/>
                    <a:pt x="46759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70938" cy="998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694906" y="370041"/>
            <a:ext cx="4664469" cy="193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466" indent="-241233" lvl="1">
              <a:lnSpc>
                <a:spcPts val="3128"/>
              </a:lnSpc>
              <a:buFont typeface="Arial"/>
              <a:buChar char="•"/>
            </a:pPr>
            <a:r>
              <a:rPr lang="en-US" sz="2234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H=  Hazzard  = Peligro. </a:t>
            </a:r>
          </a:p>
          <a:p>
            <a:pPr algn="l" marL="482466" indent="-241233" lvl="1">
              <a:lnSpc>
                <a:spcPts val="3128"/>
              </a:lnSpc>
              <a:buFont typeface="Arial"/>
              <a:buChar char="•"/>
            </a:pPr>
            <a:r>
              <a:rPr lang="en-US" sz="2234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A=  Analysis  = Análisis </a:t>
            </a:r>
          </a:p>
          <a:p>
            <a:pPr algn="l" marL="482466" indent="-241233" lvl="1">
              <a:lnSpc>
                <a:spcPts val="3128"/>
              </a:lnSpc>
              <a:buFont typeface="Arial"/>
              <a:buChar char="•"/>
            </a:pPr>
            <a:r>
              <a:rPr lang="en-US" sz="2234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C=  Critical    = Crítico. </a:t>
            </a:r>
          </a:p>
          <a:p>
            <a:pPr algn="l" marL="482466" indent="-241233" lvl="1">
              <a:lnSpc>
                <a:spcPts val="3128"/>
              </a:lnSpc>
              <a:buFont typeface="Arial"/>
              <a:buChar char="•"/>
            </a:pPr>
            <a:r>
              <a:rPr lang="en-US" sz="2234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C=  Control   = Control. </a:t>
            </a:r>
          </a:p>
          <a:p>
            <a:pPr algn="l" marL="482466" indent="-241233" lvl="1">
              <a:lnSpc>
                <a:spcPts val="3128"/>
              </a:lnSpc>
              <a:buFont typeface="Arial"/>
              <a:buChar char="•"/>
            </a:pPr>
            <a:r>
              <a:rPr lang="en-US" sz="2234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P=  Points     = Puntos </a:t>
            </a:r>
            <a:r>
              <a:rPr lang="en-US" sz="2234" spc="-33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8031" y="2413043"/>
            <a:ext cx="16091106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 spc="-43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Es una metodología preventiva y sistemática que garantiza la inocuidad alimentaria mediante la identificación, evaluación y control de riesgos significativos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065833" y="4184688"/>
            <a:ext cx="14155500" cy="2182351"/>
            <a:chOff x="0" y="0"/>
            <a:chExt cx="7669353" cy="11823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69354" cy="1182383"/>
            </a:xfrm>
            <a:custGeom>
              <a:avLst/>
              <a:gdLst/>
              <a:ahLst/>
              <a:cxnLst/>
              <a:rect r="r" b="b" t="t" l="l"/>
              <a:pathLst>
                <a:path h="1182383" w="7669354">
                  <a:moveTo>
                    <a:pt x="16408" y="0"/>
                  </a:moveTo>
                  <a:lnTo>
                    <a:pt x="7652946" y="0"/>
                  </a:lnTo>
                  <a:cubicBezTo>
                    <a:pt x="7657298" y="0"/>
                    <a:pt x="7661471" y="1729"/>
                    <a:pt x="7664548" y="4806"/>
                  </a:cubicBezTo>
                  <a:cubicBezTo>
                    <a:pt x="7667625" y="7883"/>
                    <a:pt x="7669354" y="12056"/>
                    <a:pt x="7669354" y="16408"/>
                  </a:cubicBezTo>
                  <a:lnTo>
                    <a:pt x="7669354" y="1165975"/>
                  </a:lnTo>
                  <a:cubicBezTo>
                    <a:pt x="7669354" y="1175037"/>
                    <a:pt x="7662008" y="1182383"/>
                    <a:pt x="7652946" y="1182383"/>
                  </a:cubicBezTo>
                  <a:lnTo>
                    <a:pt x="16408" y="1182383"/>
                  </a:lnTo>
                  <a:cubicBezTo>
                    <a:pt x="12056" y="1182383"/>
                    <a:pt x="7883" y="1180654"/>
                    <a:pt x="4806" y="1177577"/>
                  </a:cubicBezTo>
                  <a:cubicBezTo>
                    <a:pt x="1729" y="1174500"/>
                    <a:pt x="0" y="1170327"/>
                    <a:pt x="0" y="1165975"/>
                  </a:cubicBezTo>
                  <a:lnTo>
                    <a:pt x="0" y="16408"/>
                  </a:lnTo>
                  <a:cubicBezTo>
                    <a:pt x="0" y="12056"/>
                    <a:pt x="1729" y="7883"/>
                    <a:pt x="4806" y="4806"/>
                  </a:cubicBezTo>
                  <a:cubicBezTo>
                    <a:pt x="7883" y="1729"/>
                    <a:pt x="12056" y="0"/>
                    <a:pt x="16408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669353" cy="1239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89356" y="4209063"/>
            <a:ext cx="13709288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44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Desarrollado en los años 1960 por Pillsbury Company, la NASA y los Laboratorios Natick de EE. UU. para garantizar que los alimentos de los astronautas en vuelos espaciales estuvieran 100% libres de contaminantes y patógenos.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065833" y="7126494"/>
            <a:ext cx="14155500" cy="2131806"/>
            <a:chOff x="0" y="0"/>
            <a:chExt cx="7669353" cy="11549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69354" cy="1154998"/>
            </a:xfrm>
            <a:custGeom>
              <a:avLst/>
              <a:gdLst/>
              <a:ahLst/>
              <a:cxnLst/>
              <a:rect r="r" b="b" t="t" l="l"/>
              <a:pathLst>
                <a:path h="1154998" w="7669354">
                  <a:moveTo>
                    <a:pt x="16408" y="0"/>
                  </a:moveTo>
                  <a:lnTo>
                    <a:pt x="7652946" y="0"/>
                  </a:lnTo>
                  <a:cubicBezTo>
                    <a:pt x="7657298" y="0"/>
                    <a:pt x="7661471" y="1729"/>
                    <a:pt x="7664548" y="4806"/>
                  </a:cubicBezTo>
                  <a:cubicBezTo>
                    <a:pt x="7667625" y="7883"/>
                    <a:pt x="7669354" y="12056"/>
                    <a:pt x="7669354" y="16408"/>
                  </a:cubicBezTo>
                  <a:lnTo>
                    <a:pt x="7669354" y="1138590"/>
                  </a:lnTo>
                  <a:cubicBezTo>
                    <a:pt x="7669354" y="1142942"/>
                    <a:pt x="7667625" y="1147115"/>
                    <a:pt x="7664548" y="1150192"/>
                  </a:cubicBezTo>
                  <a:cubicBezTo>
                    <a:pt x="7661471" y="1153269"/>
                    <a:pt x="7657298" y="1154998"/>
                    <a:pt x="7652946" y="1154998"/>
                  </a:cubicBezTo>
                  <a:lnTo>
                    <a:pt x="16408" y="1154998"/>
                  </a:lnTo>
                  <a:cubicBezTo>
                    <a:pt x="12056" y="1154998"/>
                    <a:pt x="7883" y="1153269"/>
                    <a:pt x="4806" y="1150192"/>
                  </a:cubicBezTo>
                  <a:cubicBezTo>
                    <a:pt x="1729" y="1147115"/>
                    <a:pt x="0" y="1142942"/>
                    <a:pt x="0" y="1138590"/>
                  </a:cubicBezTo>
                  <a:lnTo>
                    <a:pt x="0" y="16408"/>
                  </a:lnTo>
                  <a:cubicBezTo>
                    <a:pt x="0" y="12056"/>
                    <a:pt x="1729" y="7883"/>
                    <a:pt x="4806" y="4806"/>
                  </a:cubicBezTo>
                  <a:cubicBezTo>
                    <a:pt x="7883" y="1729"/>
                    <a:pt x="12056" y="0"/>
                    <a:pt x="16408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669353" cy="1212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288939" y="7134487"/>
            <a:ext cx="13709288" cy="205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 spc="-44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Prer</a:t>
            </a:r>
            <a:r>
              <a:rPr lang="en-US" b="true" sz="2999" spc="-44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requisitos Esenciales 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 spc="-44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BPM (Buenas Prácticas de Manufactura)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-43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POES / PHS (Procedimientos Operativos Estandarizados de Saneamiento):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0112" y="425618"/>
            <a:ext cx="10114769" cy="1316455"/>
            <a:chOff x="0" y="0"/>
            <a:chExt cx="2864265" cy="372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265" cy="372789"/>
            </a:xfrm>
            <a:custGeom>
              <a:avLst/>
              <a:gdLst/>
              <a:ahLst/>
              <a:cxnLst/>
              <a:rect r="r" b="b" t="t" l="l"/>
              <a:pathLst>
                <a:path h="372789" w="2864265">
                  <a:moveTo>
                    <a:pt x="39036" y="0"/>
                  </a:moveTo>
                  <a:lnTo>
                    <a:pt x="2825229" y="0"/>
                  </a:lnTo>
                  <a:cubicBezTo>
                    <a:pt x="2835582" y="0"/>
                    <a:pt x="2845511" y="4113"/>
                    <a:pt x="2852832" y="11433"/>
                  </a:cubicBezTo>
                  <a:cubicBezTo>
                    <a:pt x="2860152" y="18754"/>
                    <a:pt x="2864265" y="28683"/>
                    <a:pt x="2864265" y="39036"/>
                  </a:cubicBezTo>
                  <a:lnTo>
                    <a:pt x="2864265" y="333753"/>
                  </a:lnTo>
                  <a:cubicBezTo>
                    <a:pt x="2864265" y="344106"/>
                    <a:pt x="2860152" y="354035"/>
                    <a:pt x="2852832" y="361356"/>
                  </a:cubicBezTo>
                  <a:cubicBezTo>
                    <a:pt x="2845511" y="368677"/>
                    <a:pt x="2835582" y="372789"/>
                    <a:pt x="2825229" y="372789"/>
                  </a:cubicBezTo>
                  <a:lnTo>
                    <a:pt x="39036" y="372789"/>
                  </a:lnTo>
                  <a:cubicBezTo>
                    <a:pt x="28683" y="372789"/>
                    <a:pt x="18754" y="368677"/>
                    <a:pt x="11433" y="361356"/>
                  </a:cubicBezTo>
                  <a:cubicBezTo>
                    <a:pt x="4113" y="354035"/>
                    <a:pt x="0" y="344106"/>
                    <a:pt x="0" y="333753"/>
                  </a:cubicBezTo>
                  <a:lnTo>
                    <a:pt x="0" y="39036"/>
                  </a:lnTo>
                  <a:cubicBezTo>
                    <a:pt x="0" y="28683"/>
                    <a:pt x="4113" y="18754"/>
                    <a:pt x="11433" y="11433"/>
                  </a:cubicBezTo>
                  <a:cubicBezTo>
                    <a:pt x="18754" y="4113"/>
                    <a:pt x="28683" y="0"/>
                    <a:pt x="39036" y="0"/>
                  </a:cubicBezTo>
                  <a:close/>
                </a:path>
              </a:pathLst>
            </a:custGeom>
            <a:solidFill>
              <a:srgbClr val="457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64265" cy="41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801" y="425618"/>
            <a:ext cx="10049345" cy="1087855"/>
            <a:chOff x="0" y="0"/>
            <a:chExt cx="2845739" cy="308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5739" cy="308055"/>
            </a:xfrm>
            <a:custGeom>
              <a:avLst/>
              <a:gdLst/>
              <a:ahLst/>
              <a:cxnLst/>
              <a:rect r="r" b="b" t="t" l="l"/>
              <a:pathLst>
                <a:path h="308055" w="2845739">
                  <a:moveTo>
                    <a:pt x="39290" y="0"/>
                  </a:moveTo>
                  <a:lnTo>
                    <a:pt x="2806449" y="0"/>
                  </a:lnTo>
                  <a:cubicBezTo>
                    <a:pt x="2828148" y="0"/>
                    <a:pt x="2845739" y="17591"/>
                    <a:pt x="2845739" y="39290"/>
                  </a:cubicBezTo>
                  <a:lnTo>
                    <a:pt x="2845739" y="268765"/>
                  </a:lnTo>
                  <a:cubicBezTo>
                    <a:pt x="2845739" y="279185"/>
                    <a:pt x="2841599" y="289179"/>
                    <a:pt x="2834231" y="296547"/>
                  </a:cubicBezTo>
                  <a:cubicBezTo>
                    <a:pt x="2826863" y="303916"/>
                    <a:pt x="2816869" y="308055"/>
                    <a:pt x="2806449" y="308055"/>
                  </a:cubicBezTo>
                  <a:lnTo>
                    <a:pt x="39290" y="308055"/>
                  </a:lnTo>
                  <a:cubicBezTo>
                    <a:pt x="17591" y="308055"/>
                    <a:pt x="0" y="290464"/>
                    <a:pt x="0" y="268765"/>
                  </a:cubicBezTo>
                  <a:lnTo>
                    <a:pt x="0" y="39290"/>
                  </a:lnTo>
                  <a:cubicBezTo>
                    <a:pt x="0" y="17591"/>
                    <a:pt x="17591" y="0"/>
                    <a:pt x="3929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5739" cy="34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18337" y="524510"/>
            <a:ext cx="9438273" cy="88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>
                <a:solidFill>
                  <a:srgbClr val="F6F6E9"/>
                </a:solidFill>
                <a:latin typeface="TC October"/>
                <a:ea typeface="TC October"/>
                <a:cs typeface="TC October"/>
                <a:sym typeface="TC October"/>
              </a:rPr>
              <a:t>Los 12 Pasos para la Implementación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580" y="721678"/>
            <a:ext cx="19615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12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74311" y="2959583"/>
            <a:ext cx="5845747" cy="632705"/>
            <a:chOff x="0" y="0"/>
            <a:chExt cx="3167186" cy="342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7186" cy="342795"/>
            </a:xfrm>
            <a:custGeom>
              <a:avLst/>
              <a:gdLst/>
              <a:ahLst/>
              <a:cxnLst/>
              <a:rect r="r" b="b" t="t" l="l"/>
              <a:pathLst>
                <a:path h="342795" w="3167186">
                  <a:moveTo>
                    <a:pt x="39731" y="0"/>
                  </a:moveTo>
                  <a:lnTo>
                    <a:pt x="3127455" y="0"/>
                  </a:lnTo>
                  <a:cubicBezTo>
                    <a:pt x="3149398" y="0"/>
                    <a:pt x="3167186" y="17788"/>
                    <a:pt x="3167186" y="39731"/>
                  </a:cubicBezTo>
                  <a:lnTo>
                    <a:pt x="3167186" y="303064"/>
                  </a:lnTo>
                  <a:cubicBezTo>
                    <a:pt x="3167186" y="325007"/>
                    <a:pt x="3149398" y="342795"/>
                    <a:pt x="3127455" y="342795"/>
                  </a:cubicBezTo>
                  <a:lnTo>
                    <a:pt x="39731" y="342795"/>
                  </a:lnTo>
                  <a:cubicBezTo>
                    <a:pt x="17788" y="342795"/>
                    <a:pt x="0" y="325007"/>
                    <a:pt x="0" y="303064"/>
                  </a:cubicBezTo>
                  <a:lnTo>
                    <a:pt x="0" y="39731"/>
                  </a:lnTo>
                  <a:cubicBezTo>
                    <a:pt x="0" y="17788"/>
                    <a:pt x="17788" y="0"/>
                    <a:pt x="39731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167186" cy="399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74311" y="2994948"/>
            <a:ext cx="584574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44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PASOS 1 AL 5 - Tareas Previas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457951" y="2990448"/>
            <a:ext cx="6265729" cy="632705"/>
            <a:chOff x="0" y="0"/>
            <a:chExt cx="3394729" cy="3427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94729" cy="342795"/>
            </a:xfrm>
            <a:custGeom>
              <a:avLst/>
              <a:gdLst/>
              <a:ahLst/>
              <a:cxnLst/>
              <a:rect r="r" b="b" t="t" l="l"/>
              <a:pathLst>
                <a:path h="342795" w="3394729">
                  <a:moveTo>
                    <a:pt x="37068" y="0"/>
                  </a:moveTo>
                  <a:lnTo>
                    <a:pt x="3357661" y="0"/>
                  </a:lnTo>
                  <a:cubicBezTo>
                    <a:pt x="3378133" y="0"/>
                    <a:pt x="3394729" y="16596"/>
                    <a:pt x="3394729" y="37068"/>
                  </a:cubicBezTo>
                  <a:lnTo>
                    <a:pt x="3394729" y="305727"/>
                  </a:lnTo>
                  <a:cubicBezTo>
                    <a:pt x="3394729" y="315558"/>
                    <a:pt x="3390824" y="324987"/>
                    <a:pt x="3383872" y="331938"/>
                  </a:cubicBezTo>
                  <a:cubicBezTo>
                    <a:pt x="3376921" y="338890"/>
                    <a:pt x="3367493" y="342795"/>
                    <a:pt x="3357661" y="342795"/>
                  </a:cubicBezTo>
                  <a:lnTo>
                    <a:pt x="37068" y="342795"/>
                  </a:lnTo>
                  <a:cubicBezTo>
                    <a:pt x="27237" y="342795"/>
                    <a:pt x="17809" y="338890"/>
                    <a:pt x="10857" y="331938"/>
                  </a:cubicBezTo>
                  <a:cubicBezTo>
                    <a:pt x="3905" y="324987"/>
                    <a:pt x="0" y="315558"/>
                    <a:pt x="0" y="305727"/>
                  </a:cubicBezTo>
                  <a:lnTo>
                    <a:pt x="0" y="37068"/>
                  </a:lnTo>
                  <a:cubicBezTo>
                    <a:pt x="0" y="27237"/>
                    <a:pt x="3905" y="17809"/>
                    <a:pt x="10857" y="10857"/>
                  </a:cubicBezTo>
                  <a:cubicBezTo>
                    <a:pt x="17809" y="3905"/>
                    <a:pt x="27237" y="0"/>
                    <a:pt x="37068" y="0"/>
                  </a:cubicBezTo>
                  <a:close/>
                </a:path>
              </a:pathLst>
            </a:custGeom>
            <a:solidFill>
              <a:srgbClr val="7D9B7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394729" cy="399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57951" y="3055340"/>
            <a:ext cx="626572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699" spc="-4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PRINCI</a:t>
            </a:r>
            <a:r>
              <a:rPr lang="en-US" b="true" sz="2699" spc="-40">
                <a:solidFill>
                  <a:srgbClr val="F6F6E9"/>
                </a:solidFill>
                <a:latin typeface="Prompt Bold"/>
                <a:ea typeface="Prompt Bold"/>
                <a:cs typeface="Prompt Bold"/>
                <a:sym typeface="Prompt Bold"/>
              </a:rPr>
              <a:t>PIOS 1 AL 7 - Principios HACCP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3992413"/>
            <a:ext cx="7336970" cy="3993664"/>
            <a:chOff x="0" y="0"/>
            <a:chExt cx="3300642" cy="17966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00642" cy="1796608"/>
            </a:xfrm>
            <a:custGeom>
              <a:avLst/>
              <a:gdLst/>
              <a:ahLst/>
              <a:cxnLst/>
              <a:rect r="r" b="b" t="t" l="l"/>
              <a:pathLst>
                <a:path h="1796608" w="3300642">
                  <a:moveTo>
                    <a:pt x="31274" y="0"/>
                  </a:moveTo>
                  <a:lnTo>
                    <a:pt x="3269368" y="0"/>
                  </a:lnTo>
                  <a:cubicBezTo>
                    <a:pt x="3286640" y="0"/>
                    <a:pt x="3300642" y="14002"/>
                    <a:pt x="3300642" y="31274"/>
                  </a:cubicBezTo>
                  <a:lnTo>
                    <a:pt x="3300642" y="1765333"/>
                  </a:lnTo>
                  <a:cubicBezTo>
                    <a:pt x="3300642" y="1773628"/>
                    <a:pt x="3297347" y="1781583"/>
                    <a:pt x="3291482" y="1787447"/>
                  </a:cubicBezTo>
                  <a:cubicBezTo>
                    <a:pt x="3285617" y="1793313"/>
                    <a:pt x="3277662" y="1796608"/>
                    <a:pt x="3269368" y="1796608"/>
                  </a:cubicBezTo>
                  <a:lnTo>
                    <a:pt x="31274" y="1796608"/>
                  </a:lnTo>
                  <a:cubicBezTo>
                    <a:pt x="22980" y="1796608"/>
                    <a:pt x="15025" y="1793313"/>
                    <a:pt x="9160" y="1787447"/>
                  </a:cubicBezTo>
                  <a:cubicBezTo>
                    <a:pt x="3295" y="1781583"/>
                    <a:pt x="0" y="1773628"/>
                    <a:pt x="0" y="1765333"/>
                  </a:cubicBezTo>
                  <a:lnTo>
                    <a:pt x="0" y="31274"/>
                  </a:lnTo>
                  <a:cubicBezTo>
                    <a:pt x="0" y="22980"/>
                    <a:pt x="3295" y="15025"/>
                    <a:pt x="9160" y="9160"/>
                  </a:cubicBezTo>
                  <a:cubicBezTo>
                    <a:pt x="15025" y="3295"/>
                    <a:pt x="22980" y="0"/>
                    <a:pt x="31274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300642" cy="1834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10189" y="4152583"/>
            <a:ext cx="6973992" cy="383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1. Formar equipo multidisciplinario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2. Describir el producto (Ficha Técnica)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3. Determinar uso previsto y consumidor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4. Elaborar diagrama de flujo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pc="-42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5. Verificar diagrama in situ</a:t>
            </a: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30" y="3992413"/>
            <a:ext cx="7336970" cy="5265887"/>
            <a:chOff x="0" y="0"/>
            <a:chExt cx="3300642" cy="23689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00642" cy="2368936"/>
            </a:xfrm>
            <a:custGeom>
              <a:avLst/>
              <a:gdLst/>
              <a:ahLst/>
              <a:cxnLst/>
              <a:rect r="r" b="b" t="t" l="l"/>
              <a:pathLst>
                <a:path h="2368936" w="3300642">
                  <a:moveTo>
                    <a:pt x="31274" y="0"/>
                  </a:moveTo>
                  <a:lnTo>
                    <a:pt x="3269368" y="0"/>
                  </a:lnTo>
                  <a:cubicBezTo>
                    <a:pt x="3286640" y="0"/>
                    <a:pt x="3300642" y="14002"/>
                    <a:pt x="3300642" y="31274"/>
                  </a:cubicBezTo>
                  <a:lnTo>
                    <a:pt x="3300642" y="2337661"/>
                  </a:lnTo>
                  <a:cubicBezTo>
                    <a:pt x="3300642" y="2345956"/>
                    <a:pt x="3297347" y="2353911"/>
                    <a:pt x="3291482" y="2359776"/>
                  </a:cubicBezTo>
                  <a:cubicBezTo>
                    <a:pt x="3285617" y="2365641"/>
                    <a:pt x="3277662" y="2368936"/>
                    <a:pt x="3269368" y="2368936"/>
                  </a:cubicBezTo>
                  <a:lnTo>
                    <a:pt x="31274" y="2368936"/>
                  </a:lnTo>
                  <a:cubicBezTo>
                    <a:pt x="22980" y="2368936"/>
                    <a:pt x="15025" y="2365641"/>
                    <a:pt x="9160" y="2359776"/>
                  </a:cubicBezTo>
                  <a:cubicBezTo>
                    <a:pt x="3295" y="2353911"/>
                    <a:pt x="0" y="2345956"/>
                    <a:pt x="0" y="2337661"/>
                  </a:cubicBezTo>
                  <a:lnTo>
                    <a:pt x="0" y="31274"/>
                  </a:lnTo>
                  <a:cubicBezTo>
                    <a:pt x="0" y="22980"/>
                    <a:pt x="3295" y="15025"/>
                    <a:pt x="9160" y="9160"/>
                  </a:cubicBezTo>
                  <a:cubicBezTo>
                    <a:pt x="15025" y="3295"/>
                    <a:pt x="22980" y="0"/>
                    <a:pt x="31274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7D9B76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00642" cy="2407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103819" y="4152583"/>
            <a:ext cx="6973992" cy="536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P1. Analizar peligros e identificar medidas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P2. Determinar Puntos Críticos de Control (PCC)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P3. Establecer límites críticos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P4. Establecer sistema de monitoreo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P5. Establecer acciones correctivas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P6. Establecer procedimientos de verificación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 spc="-3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P7. Sistema de documentación y registros</a:t>
            </a:r>
          </a:p>
          <a:p>
            <a:pPr algn="l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7D9B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979" y="505885"/>
            <a:ext cx="9416042" cy="1276046"/>
            <a:chOff x="0" y="0"/>
            <a:chExt cx="3284012" cy="445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4012" cy="445044"/>
            </a:xfrm>
            <a:custGeom>
              <a:avLst/>
              <a:gdLst/>
              <a:ahLst/>
              <a:cxnLst/>
              <a:rect r="r" b="b" t="t" l="l"/>
              <a:pathLst>
                <a:path h="445044" w="3284012">
                  <a:moveTo>
                    <a:pt x="41932" y="0"/>
                  </a:moveTo>
                  <a:lnTo>
                    <a:pt x="3242080" y="0"/>
                  </a:lnTo>
                  <a:cubicBezTo>
                    <a:pt x="3265239" y="0"/>
                    <a:pt x="3284012" y="18774"/>
                    <a:pt x="3284012" y="41932"/>
                  </a:cubicBezTo>
                  <a:lnTo>
                    <a:pt x="3284012" y="403111"/>
                  </a:lnTo>
                  <a:cubicBezTo>
                    <a:pt x="3284012" y="414232"/>
                    <a:pt x="3279594" y="424898"/>
                    <a:pt x="3271731" y="432762"/>
                  </a:cubicBezTo>
                  <a:cubicBezTo>
                    <a:pt x="3263867" y="440626"/>
                    <a:pt x="3253201" y="445044"/>
                    <a:pt x="3242080" y="445044"/>
                  </a:cubicBezTo>
                  <a:lnTo>
                    <a:pt x="41932" y="445044"/>
                  </a:lnTo>
                  <a:cubicBezTo>
                    <a:pt x="18774" y="445044"/>
                    <a:pt x="0" y="426270"/>
                    <a:pt x="0" y="403111"/>
                  </a:cubicBezTo>
                  <a:lnTo>
                    <a:pt x="0" y="41932"/>
                  </a:lnTo>
                  <a:cubicBezTo>
                    <a:pt x="0" y="18774"/>
                    <a:pt x="18774" y="0"/>
                    <a:pt x="41932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84012" cy="483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35979" y="329777"/>
            <a:ext cx="9219894" cy="1333087"/>
            <a:chOff x="0" y="0"/>
            <a:chExt cx="3215602" cy="464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5602" cy="464938"/>
            </a:xfrm>
            <a:custGeom>
              <a:avLst/>
              <a:gdLst/>
              <a:ahLst/>
              <a:cxnLst/>
              <a:rect r="r" b="b" t="t" l="l"/>
              <a:pathLst>
                <a:path h="464938" w="3215602">
                  <a:moveTo>
                    <a:pt x="42825" y="0"/>
                  </a:moveTo>
                  <a:lnTo>
                    <a:pt x="3172778" y="0"/>
                  </a:lnTo>
                  <a:cubicBezTo>
                    <a:pt x="3196429" y="0"/>
                    <a:pt x="3215602" y="19173"/>
                    <a:pt x="3215602" y="42825"/>
                  </a:cubicBezTo>
                  <a:lnTo>
                    <a:pt x="3215602" y="422113"/>
                  </a:lnTo>
                  <a:cubicBezTo>
                    <a:pt x="3215602" y="433471"/>
                    <a:pt x="3211090" y="444364"/>
                    <a:pt x="3203059" y="452395"/>
                  </a:cubicBezTo>
                  <a:cubicBezTo>
                    <a:pt x="3195028" y="460426"/>
                    <a:pt x="3184136" y="464938"/>
                    <a:pt x="3172778" y="464938"/>
                  </a:cubicBezTo>
                  <a:lnTo>
                    <a:pt x="42825" y="464938"/>
                  </a:lnTo>
                  <a:cubicBezTo>
                    <a:pt x="19173" y="464938"/>
                    <a:pt x="0" y="445765"/>
                    <a:pt x="0" y="422113"/>
                  </a:cubicBezTo>
                  <a:lnTo>
                    <a:pt x="0" y="42825"/>
                  </a:lnTo>
                  <a:cubicBezTo>
                    <a:pt x="0" y="31467"/>
                    <a:pt x="4512" y="20574"/>
                    <a:pt x="12543" y="12543"/>
                  </a:cubicBezTo>
                  <a:cubicBezTo>
                    <a:pt x="20574" y="4512"/>
                    <a:pt x="31467" y="0"/>
                    <a:pt x="42825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15602" cy="503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0" y="2349970"/>
            <a:ext cx="5269261" cy="7937030"/>
            <a:chOff x="0" y="0"/>
            <a:chExt cx="539604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9604" cy="812800"/>
            </a:xfrm>
            <a:custGeom>
              <a:avLst/>
              <a:gdLst/>
              <a:ahLst/>
              <a:cxnLst/>
              <a:rect r="r" b="b" t="t" l="l"/>
              <a:pathLst>
                <a:path h="812800" w="539604">
                  <a:moveTo>
                    <a:pt x="179965" y="793731"/>
                  </a:moveTo>
                  <a:cubicBezTo>
                    <a:pt x="207629" y="805245"/>
                    <a:pt x="239080" y="812800"/>
                    <a:pt x="269947" y="812800"/>
                  </a:cubicBezTo>
                  <a:cubicBezTo>
                    <a:pt x="300816" y="812800"/>
                    <a:pt x="330519" y="806323"/>
                    <a:pt x="357891" y="794809"/>
                  </a:cubicBezTo>
                  <a:cubicBezTo>
                    <a:pt x="358475" y="794450"/>
                    <a:pt x="359057" y="794450"/>
                    <a:pt x="359639" y="794090"/>
                  </a:cubicBezTo>
                  <a:cubicBezTo>
                    <a:pt x="462435" y="748035"/>
                    <a:pt x="538148" y="626421"/>
                    <a:pt x="539604" y="484298"/>
                  </a:cubicBezTo>
                  <a:lnTo>
                    <a:pt x="539604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456" y="627140"/>
                    <a:pt x="76005" y="748755"/>
                    <a:pt x="179965" y="793731"/>
                  </a:cubicBezTo>
                  <a:close/>
                </a:path>
              </a:pathLst>
            </a:custGeom>
            <a:solidFill>
              <a:srgbClr val="CBDDD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9604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567256" y="2853525"/>
            <a:ext cx="11950268" cy="1343448"/>
            <a:chOff x="0" y="0"/>
            <a:chExt cx="5177711" cy="5820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77711" cy="582078"/>
            </a:xfrm>
            <a:custGeom>
              <a:avLst/>
              <a:gdLst/>
              <a:ahLst/>
              <a:cxnLst/>
              <a:rect r="r" b="b" t="t" l="l"/>
              <a:pathLst>
                <a:path h="582078" w="5177711">
                  <a:moveTo>
                    <a:pt x="20083" y="0"/>
                  </a:moveTo>
                  <a:lnTo>
                    <a:pt x="5157627" y="0"/>
                  </a:lnTo>
                  <a:cubicBezTo>
                    <a:pt x="5162954" y="0"/>
                    <a:pt x="5168062" y="2116"/>
                    <a:pt x="5171829" y="5882"/>
                  </a:cubicBezTo>
                  <a:cubicBezTo>
                    <a:pt x="5175595" y="9649"/>
                    <a:pt x="5177711" y="14757"/>
                    <a:pt x="5177711" y="20083"/>
                  </a:cubicBezTo>
                  <a:lnTo>
                    <a:pt x="5177711" y="561995"/>
                  </a:lnTo>
                  <a:cubicBezTo>
                    <a:pt x="5177711" y="567321"/>
                    <a:pt x="5175595" y="572429"/>
                    <a:pt x="5171829" y="576195"/>
                  </a:cubicBezTo>
                  <a:cubicBezTo>
                    <a:pt x="5168062" y="579962"/>
                    <a:pt x="5162954" y="582078"/>
                    <a:pt x="5157627" y="582078"/>
                  </a:cubicBezTo>
                  <a:lnTo>
                    <a:pt x="20083" y="582078"/>
                  </a:lnTo>
                  <a:cubicBezTo>
                    <a:pt x="14757" y="582078"/>
                    <a:pt x="9649" y="579962"/>
                    <a:pt x="5882" y="576195"/>
                  </a:cubicBezTo>
                  <a:cubicBezTo>
                    <a:pt x="2116" y="572429"/>
                    <a:pt x="0" y="567321"/>
                    <a:pt x="0" y="561995"/>
                  </a:cubicBezTo>
                  <a:lnTo>
                    <a:pt x="0" y="20083"/>
                  </a:lnTo>
                  <a:cubicBezTo>
                    <a:pt x="0" y="14757"/>
                    <a:pt x="2116" y="9649"/>
                    <a:pt x="5882" y="5882"/>
                  </a:cubicBezTo>
                  <a:cubicBezTo>
                    <a:pt x="9649" y="2116"/>
                    <a:pt x="14757" y="0"/>
                    <a:pt x="20083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77711" cy="620178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13137" y="2076200"/>
            <a:ext cx="5752147" cy="547540"/>
            <a:chOff x="0" y="0"/>
            <a:chExt cx="2492241" cy="2372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2241" cy="237233"/>
            </a:xfrm>
            <a:custGeom>
              <a:avLst/>
              <a:gdLst/>
              <a:ahLst/>
              <a:cxnLst/>
              <a:rect r="r" b="b" t="t" l="l"/>
              <a:pathLst>
                <a:path h="237233" w="2492241">
                  <a:moveTo>
                    <a:pt x="41723" y="0"/>
                  </a:moveTo>
                  <a:lnTo>
                    <a:pt x="2450518" y="0"/>
                  </a:lnTo>
                  <a:cubicBezTo>
                    <a:pt x="2473561" y="0"/>
                    <a:pt x="2492241" y="18680"/>
                    <a:pt x="2492241" y="41723"/>
                  </a:cubicBezTo>
                  <a:lnTo>
                    <a:pt x="2492241" y="195510"/>
                  </a:lnTo>
                  <a:cubicBezTo>
                    <a:pt x="2492241" y="206576"/>
                    <a:pt x="2487846" y="217188"/>
                    <a:pt x="2480021" y="225013"/>
                  </a:cubicBezTo>
                  <a:cubicBezTo>
                    <a:pt x="2472196" y="232837"/>
                    <a:pt x="2461584" y="237233"/>
                    <a:pt x="2450518" y="237233"/>
                  </a:cubicBezTo>
                  <a:lnTo>
                    <a:pt x="41723" y="237233"/>
                  </a:lnTo>
                  <a:cubicBezTo>
                    <a:pt x="18680" y="237233"/>
                    <a:pt x="0" y="218553"/>
                    <a:pt x="0" y="195510"/>
                  </a:cubicBezTo>
                  <a:lnTo>
                    <a:pt x="0" y="41723"/>
                  </a:lnTo>
                  <a:cubicBezTo>
                    <a:pt x="0" y="18680"/>
                    <a:pt x="18680" y="0"/>
                    <a:pt x="41723" y="0"/>
                  </a:cubicBezTo>
                  <a:close/>
                </a:path>
              </a:pathLst>
            </a:custGeom>
            <a:solidFill>
              <a:srgbClr val="CBDDD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92241" cy="275333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2727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PRINCIPIO 1: Análisis de Peligros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790234" y="232275"/>
            <a:ext cx="8707532" cy="140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4"/>
              </a:lnSpc>
            </a:pPr>
            <a:r>
              <a:rPr lang="en-US" sz="8231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Principios HACCP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6504" y="3134099"/>
            <a:ext cx="4416254" cy="432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Es un sistema preventivo enfocado exclusivamente en la inocuidad alimentaria, abarcando toda la cadena desde la producción primaria hasta el consumo final.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580" y="721678"/>
            <a:ext cx="19615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13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172" y="8100805"/>
            <a:ext cx="5156918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Existen 7 principios basicos: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13137" y="2907923"/>
            <a:ext cx="11858506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Enumerar e identificar todos los posibles peligros (biológicos, químicos y físicos) en cada etapa del proceso mediante un diagrama de flujo y definir sus medidas preventivas de control.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613137" y="5183847"/>
            <a:ext cx="11950268" cy="1288838"/>
            <a:chOff x="0" y="0"/>
            <a:chExt cx="5177711" cy="5584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77711" cy="558417"/>
            </a:xfrm>
            <a:custGeom>
              <a:avLst/>
              <a:gdLst/>
              <a:ahLst/>
              <a:cxnLst/>
              <a:rect r="r" b="b" t="t" l="l"/>
              <a:pathLst>
                <a:path h="558417" w="5177711">
                  <a:moveTo>
                    <a:pt x="20083" y="0"/>
                  </a:moveTo>
                  <a:lnTo>
                    <a:pt x="5157627" y="0"/>
                  </a:lnTo>
                  <a:cubicBezTo>
                    <a:pt x="5162954" y="0"/>
                    <a:pt x="5168062" y="2116"/>
                    <a:pt x="5171829" y="5882"/>
                  </a:cubicBezTo>
                  <a:cubicBezTo>
                    <a:pt x="5175595" y="9649"/>
                    <a:pt x="5177711" y="14757"/>
                    <a:pt x="5177711" y="20083"/>
                  </a:cubicBezTo>
                  <a:lnTo>
                    <a:pt x="5177711" y="538334"/>
                  </a:lnTo>
                  <a:cubicBezTo>
                    <a:pt x="5177711" y="543660"/>
                    <a:pt x="5175595" y="548768"/>
                    <a:pt x="5171829" y="552535"/>
                  </a:cubicBezTo>
                  <a:cubicBezTo>
                    <a:pt x="5168062" y="556301"/>
                    <a:pt x="5162954" y="558417"/>
                    <a:pt x="5157627" y="558417"/>
                  </a:cubicBezTo>
                  <a:lnTo>
                    <a:pt x="20083" y="558417"/>
                  </a:lnTo>
                  <a:cubicBezTo>
                    <a:pt x="14757" y="558417"/>
                    <a:pt x="9649" y="556301"/>
                    <a:pt x="5882" y="552535"/>
                  </a:cubicBezTo>
                  <a:cubicBezTo>
                    <a:pt x="2116" y="548768"/>
                    <a:pt x="0" y="543660"/>
                    <a:pt x="0" y="538334"/>
                  </a:cubicBezTo>
                  <a:lnTo>
                    <a:pt x="0" y="20083"/>
                  </a:lnTo>
                  <a:cubicBezTo>
                    <a:pt x="0" y="14757"/>
                    <a:pt x="2116" y="9649"/>
                    <a:pt x="5882" y="5882"/>
                  </a:cubicBezTo>
                  <a:cubicBezTo>
                    <a:pt x="9649" y="2116"/>
                    <a:pt x="14757" y="0"/>
                    <a:pt x="20083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177711" cy="596517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659017" y="4520823"/>
            <a:ext cx="10601629" cy="547540"/>
            <a:chOff x="0" y="0"/>
            <a:chExt cx="4593384" cy="2372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93384" cy="237233"/>
            </a:xfrm>
            <a:custGeom>
              <a:avLst/>
              <a:gdLst/>
              <a:ahLst/>
              <a:cxnLst/>
              <a:rect r="r" b="b" t="t" l="l"/>
              <a:pathLst>
                <a:path h="237233" w="4593384">
                  <a:moveTo>
                    <a:pt x="22638" y="0"/>
                  </a:moveTo>
                  <a:lnTo>
                    <a:pt x="4570746" y="0"/>
                  </a:lnTo>
                  <a:cubicBezTo>
                    <a:pt x="4576750" y="0"/>
                    <a:pt x="4582508" y="2385"/>
                    <a:pt x="4586753" y="6631"/>
                  </a:cubicBezTo>
                  <a:cubicBezTo>
                    <a:pt x="4590999" y="10876"/>
                    <a:pt x="4593384" y="16634"/>
                    <a:pt x="4593384" y="22638"/>
                  </a:cubicBezTo>
                  <a:lnTo>
                    <a:pt x="4593384" y="214595"/>
                  </a:lnTo>
                  <a:cubicBezTo>
                    <a:pt x="4593384" y="220599"/>
                    <a:pt x="4590999" y="226357"/>
                    <a:pt x="4586753" y="230603"/>
                  </a:cubicBezTo>
                  <a:cubicBezTo>
                    <a:pt x="4582508" y="234848"/>
                    <a:pt x="4576750" y="237233"/>
                    <a:pt x="4570746" y="237233"/>
                  </a:cubicBezTo>
                  <a:lnTo>
                    <a:pt x="22638" y="237233"/>
                  </a:lnTo>
                  <a:cubicBezTo>
                    <a:pt x="16634" y="237233"/>
                    <a:pt x="10876" y="234848"/>
                    <a:pt x="6631" y="230603"/>
                  </a:cubicBezTo>
                  <a:cubicBezTo>
                    <a:pt x="2385" y="226357"/>
                    <a:pt x="0" y="220599"/>
                    <a:pt x="0" y="214595"/>
                  </a:cubicBezTo>
                  <a:lnTo>
                    <a:pt x="0" y="22638"/>
                  </a:lnTo>
                  <a:cubicBezTo>
                    <a:pt x="0" y="16634"/>
                    <a:pt x="2385" y="10876"/>
                    <a:pt x="6631" y="6631"/>
                  </a:cubicBezTo>
                  <a:cubicBezTo>
                    <a:pt x="10876" y="2385"/>
                    <a:pt x="16634" y="0"/>
                    <a:pt x="22638" y="0"/>
                  </a:cubicBezTo>
                  <a:close/>
                </a:path>
              </a:pathLst>
            </a:custGeom>
            <a:solidFill>
              <a:srgbClr val="CBDDD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593384" cy="275333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2727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PRINCIPIO 2: Identificación de los Puntos Críticos de Control - PCC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659017" y="5238246"/>
            <a:ext cx="11858506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Es la fase o etapa del proceso en la que se aplica un control esencial para prevenir, eliminar o reducir un peligro significativo para la inocuidad hasta un nivel aceptable.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659017" y="7596053"/>
            <a:ext cx="11950268" cy="2220506"/>
            <a:chOff x="0" y="0"/>
            <a:chExt cx="5177711" cy="9620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77711" cy="962082"/>
            </a:xfrm>
            <a:custGeom>
              <a:avLst/>
              <a:gdLst/>
              <a:ahLst/>
              <a:cxnLst/>
              <a:rect r="r" b="b" t="t" l="l"/>
              <a:pathLst>
                <a:path h="962082" w="5177711">
                  <a:moveTo>
                    <a:pt x="20083" y="0"/>
                  </a:moveTo>
                  <a:lnTo>
                    <a:pt x="5157627" y="0"/>
                  </a:lnTo>
                  <a:cubicBezTo>
                    <a:pt x="5162954" y="0"/>
                    <a:pt x="5168062" y="2116"/>
                    <a:pt x="5171829" y="5882"/>
                  </a:cubicBezTo>
                  <a:cubicBezTo>
                    <a:pt x="5175595" y="9649"/>
                    <a:pt x="5177711" y="14757"/>
                    <a:pt x="5177711" y="20083"/>
                  </a:cubicBezTo>
                  <a:lnTo>
                    <a:pt x="5177711" y="941999"/>
                  </a:lnTo>
                  <a:cubicBezTo>
                    <a:pt x="5177711" y="947326"/>
                    <a:pt x="5175595" y="952434"/>
                    <a:pt x="5171829" y="956200"/>
                  </a:cubicBezTo>
                  <a:cubicBezTo>
                    <a:pt x="5168062" y="959966"/>
                    <a:pt x="5162954" y="962082"/>
                    <a:pt x="5157627" y="962082"/>
                  </a:cubicBezTo>
                  <a:lnTo>
                    <a:pt x="20083" y="962082"/>
                  </a:lnTo>
                  <a:cubicBezTo>
                    <a:pt x="14757" y="962082"/>
                    <a:pt x="9649" y="959966"/>
                    <a:pt x="5882" y="956200"/>
                  </a:cubicBezTo>
                  <a:cubicBezTo>
                    <a:pt x="2116" y="952434"/>
                    <a:pt x="0" y="947326"/>
                    <a:pt x="0" y="941999"/>
                  </a:cubicBezTo>
                  <a:lnTo>
                    <a:pt x="0" y="20083"/>
                  </a:lnTo>
                  <a:cubicBezTo>
                    <a:pt x="0" y="14757"/>
                    <a:pt x="2116" y="9649"/>
                    <a:pt x="5882" y="5882"/>
                  </a:cubicBezTo>
                  <a:cubicBezTo>
                    <a:pt x="9649" y="2116"/>
                    <a:pt x="14757" y="0"/>
                    <a:pt x="20083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177711" cy="1000182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704898" y="6853685"/>
            <a:ext cx="8359213" cy="547540"/>
            <a:chOff x="0" y="0"/>
            <a:chExt cx="3621809" cy="2372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21809" cy="237233"/>
            </a:xfrm>
            <a:custGeom>
              <a:avLst/>
              <a:gdLst/>
              <a:ahLst/>
              <a:cxnLst/>
              <a:rect r="r" b="b" t="t" l="l"/>
              <a:pathLst>
                <a:path h="237233" w="3621809">
                  <a:moveTo>
                    <a:pt x="28711" y="0"/>
                  </a:moveTo>
                  <a:lnTo>
                    <a:pt x="3593099" y="0"/>
                  </a:lnTo>
                  <a:cubicBezTo>
                    <a:pt x="3608955" y="0"/>
                    <a:pt x="3621809" y="12854"/>
                    <a:pt x="3621809" y="28711"/>
                  </a:cubicBezTo>
                  <a:lnTo>
                    <a:pt x="3621809" y="208523"/>
                  </a:lnTo>
                  <a:cubicBezTo>
                    <a:pt x="3621809" y="224379"/>
                    <a:pt x="3608955" y="237233"/>
                    <a:pt x="3593099" y="237233"/>
                  </a:cubicBezTo>
                  <a:lnTo>
                    <a:pt x="28711" y="237233"/>
                  </a:lnTo>
                  <a:cubicBezTo>
                    <a:pt x="12854" y="237233"/>
                    <a:pt x="0" y="224379"/>
                    <a:pt x="0" y="208523"/>
                  </a:cubicBezTo>
                  <a:lnTo>
                    <a:pt x="0" y="28711"/>
                  </a:lnTo>
                  <a:cubicBezTo>
                    <a:pt x="0" y="12854"/>
                    <a:pt x="12854" y="0"/>
                    <a:pt x="28711" y="0"/>
                  </a:cubicBezTo>
                  <a:close/>
                </a:path>
              </a:pathLst>
            </a:custGeom>
            <a:solidFill>
              <a:srgbClr val="CBDDD1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621809" cy="275333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2727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PRINCIPIO 3: Determinación de Limites Críticos - LC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704898" y="7650451"/>
            <a:ext cx="11858506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Es un criterio o valor medible que separa lo aceptable (producto inocuo) de lo inaceptable (producto potencialmente peligroso). Establece una frontera clara. Si el parámetro se mantiene dentro del límite, el producto es seguro; si se sobrepasa o cae por debajo, ocurre una desviación y el producto se vuelve riesgoso.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7D9B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5979" y="505885"/>
            <a:ext cx="9416042" cy="1276046"/>
            <a:chOff x="0" y="0"/>
            <a:chExt cx="3284012" cy="445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4012" cy="445044"/>
            </a:xfrm>
            <a:custGeom>
              <a:avLst/>
              <a:gdLst/>
              <a:ahLst/>
              <a:cxnLst/>
              <a:rect r="r" b="b" t="t" l="l"/>
              <a:pathLst>
                <a:path h="445044" w="3284012">
                  <a:moveTo>
                    <a:pt x="41932" y="0"/>
                  </a:moveTo>
                  <a:lnTo>
                    <a:pt x="3242080" y="0"/>
                  </a:lnTo>
                  <a:cubicBezTo>
                    <a:pt x="3265239" y="0"/>
                    <a:pt x="3284012" y="18774"/>
                    <a:pt x="3284012" y="41932"/>
                  </a:cubicBezTo>
                  <a:lnTo>
                    <a:pt x="3284012" y="403111"/>
                  </a:lnTo>
                  <a:cubicBezTo>
                    <a:pt x="3284012" y="414232"/>
                    <a:pt x="3279594" y="424898"/>
                    <a:pt x="3271731" y="432762"/>
                  </a:cubicBezTo>
                  <a:cubicBezTo>
                    <a:pt x="3263867" y="440626"/>
                    <a:pt x="3253201" y="445044"/>
                    <a:pt x="3242080" y="445044"/>
                  </a:cubicBezTo>
                  <a:lnTo>
                    <a:pt x="41932" y="445044"/>
                  </a:lnTo>
                  <a:cubicBezTo>
                    <a:pt x="18774" y="445044"/>
                    <a:pt x="0" y="426270"/>
                    <a:pt x="0" y="403111"/>
                  </a:cubicBezTo>
                  <a:lnTo>
                    <a:pt x="0" y="41932"/>
                  </a:lnTo>
                  <a:cubicBezTo>
                    <a:pt x="0" y="18774"/>
                    <a:pt x="18774" y="0"/>
                    <a:pt x="41932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84012" cy="483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35979" y="329777"/>
            <a:ext cx="9219894" cy="1333087"/>
            <a:chOff x="0" y="0"/>
            <a:chExt cx="3215602" cy="464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5602" cy="464938"/>
            </a:xfrm>
            <a:custGeom>
              <a:avLst/>
              <a:gdLst/>
              <a:ahLst/>
              <a:cxnLst/>
              <a:rect r="r" b="b" t="t" l="l"/>
              <a:pathLst>
                <a:path h="464938" w="3215602">
                  <a:moveTo>
                    <a:pt x="42825" y="0"/>
                  </a:moveTo>
                  <a:lnTo>
                    <a:pt x="3172778" y="0"/>
                  </a:lnTo>
                  <a:cubicBezTo>
                    <a:pt x="3196429" y="0"/>
                    <a:pt x="3215602" y="19173"/>
                    <a:pt x="3215602" y="42825"/>
                  </a:cubicBezTo>
                  <a:lnTo>
                    <a:pt x="3215602" y="422113"/>
                  </a:lnTo>
                  <a:cubicBezTo>
                    <a:pt x="3215602" y="433471"/>
                    <a:pt x="3211090" y="444364"/>
                    <a:pt x="3203059" y="452395"/>
                  </a:cubicBezTo>
                  <a:cubicBezTo>
                    <a:pt x="3195028" y="460426"/>
                    <a:pt x="3184136" y="464938"/>
                    <a:pt x="3172778" y="464938"/>
                  </a:cubicBezTo>
                  <a:lnTo>
                    <a:pt x="42825" y="464938"/>
                  </a:lnTo>
                  <a:cubicBezTo>
                    <a:pt x="19173" y="464938"/>
                    <a:pt x="0" y="445765"/>
                    <a:pt x="0" y="422113"/>
                  </a:cubicBezTo>
                  <a:lnTo>
                    <a:pt x="0" y="42825"/>
                  </a:lnTo>
                  <a:cubicBezTo>
                    <a:pt x="0" y="31467"/>
                    <a:pt x="4512" y="20574"/>
                    <a:pt x="12543" y="12543"/>
                  </a:cubicBezTo>
                  <a:cubicBezTo>
                    <a:pt x="20574" y="4512"/>
                    <a:pt x="31467" y="0"/>
                    <a:pt x="42825" y="0"/>
                  </a:cubicBez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15602" cy="503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7580" y="3281565"/>
            <a:ext cx="7987478" cy="2946294"/>
            <a:chOff x="0" y="0"/>
            <a:chExt cx="3460747" cy="12765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0747" cy="1276545"/>
            </a:xfrm>
            <a:custGeom>
              <a:avLst/>
              <a:gdLst/>
              <a:ahLst/>
              <a:cxnLst/>
              <a:rect r="r" b="b" t="t" l="l"/>
              <a:pathLst>
                <a:path h="1276545" w="3460747">
                  <a:moveTo>
                    <a:pt x="30047" y="0"/>
                  </a:moveTo>
                  <a:lnTo>
                    <a:pt x="3430700" y="0"/>
                  </a:lnTo>
                  <a:cubicBezTo>
                    <a:pt x="3447294" y="0"/>
                    <a:pt x="3460747" y="13452"/>
                    <a:pt x="3460747" y="30047"/>
                  </a:cubicBezTo>
                  <a:lnTo>
                    <a:pt x="3460747" y="1246498"/>
                  </a:lnTo>
                  <a:cubicBezTo>
                    <a:pt x="3460747" y="1263093"/>
                    <a:pt x="3447294" y="1276545"/>
                    <a:pt x="3430700" y="1276545"/>
                  </a:cubicBezTo>
                  <a:lnTo>
                    <a:pt x="30047" y="1276545"/>
                  </a:lnTo>
                  <a:cubicBezTo>
                    <a:pt x="13452" y="1276545"/>
                    <a:pt x="0" y="1263093"/>
                    <a:pt x="0" y="1246498"/>
                  </a:cubicBezTo>
                  <a:lnTo>
                    <a:pt x="0" y="30047"/>
                  </a:lnTo>
                  <a:cubicBezTo>
                    <a:pt x="0" y="13452"/>
                    <a:pt x="13452" y="0"/>
                    <a:pt x="30047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60747" cy="1314645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6788" y="2086326"/>
            <a:ext cx="6707731" cy="966640"/>
            <a:chOff x="0" y="0"/>
            <a:chExt cx="2906269" cy="4188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06269" cy="418817"/>
            </a:xfrm>
            <a:custGeom>
              <a:avLst/>
              <a:gdLst/>
              <a:ahLst/>
              <a:cxnLst/>
              <a:rect r="r" b="b" t="t" l="l"/>
              <a:pathLst>
                <a:path h="418817" w="2906269">
                  <a:moveTo>
                    <a:pt x="35780" y="0"/>
                  </a:moveTo>
                  <a:lnTo>
                    <a:pt x="2870489" y="0"/>
                  </a:lnTo>
                  <a:cubicBezTo>
                    <a:pt x="2890250" y="0"/>
                    <a:pt x="2906269" y="16019"/>
                    <a:pt x="2906269" y="35780"/>
                  </a:cubicBezTo>
                  <a:lnTo>
                    <a:pt x="2906269" y="383038"/>
                  </a:lnTo>
                  <a:cubicBezTo>
                    <a:pt x="2906269" y="392527"/>
                    <a:pt x="2902499" y="401628"/>
                    <a:pt x="2895789" y="408338"/>
                  </a:cubicBezTo>
                  <a:cubicBezTo>
                    <a:pt x="2889079" y="415048"/>
                    <a:pt x="2879978" y="418817"/>
                    <a:pt x="2870489" y="418817"/>
                  </a:cubicBezTo>
                  <a:lnTo>
                    <a:pt x="35780" y="418817"/>
                  </a:lnTo>
                  <a:cubicBezTo>
                    <a:pt x="26290" y="418817"/>
                    <a:pt x="17190" y="415048"/>
                    <a:pt x="10480" y="408338"/>
                  </a:cubicBezTo>
                  <a:cubicBezTo>
                    <a:pt x="3770" y="401628"/>
                    <a:pt x="0" y="392527"/>
                    <a:pt x="0" y="383038"/>
                  </a:cubicBezTo>
                  <a:lnTo>
                    <a:pt x="0" y="35780"/>
                  </a:lnTo>
                  <a:cubicBezTo>
                    <a:pt x="0" y="26290"/>
                    <a:pt x="3770" y="17190"/>
                    <a:pt x="10480" y="10480"/>
                  </a:cubicBezTo>
                  <a:cubicBezTo>
                    <a:pt x="17190" y="3770"/>
                    <a:pt x="26290" y="0"/>
                    <a:pt x="35780" y="0"/>
                  </a:cubicBezTo>
                  <a:close/>
                </a:path>
              </a:pathLst>
            </a:custGeom>
            <a:solidFill>
              <a:srgbClr val="CBDDD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06269" cy="456917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2727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PRINCIPIO 4: Criterios y Procedimientos de Vigilancia / Monitoreo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790234" y="232275"/>
            <a:ext cx="8707532" cy="140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4"/>
              </a:lnSpc>
            </a:pPr>
            <a:r>
              <a:rPr lang="en-US" sz="8231">
                <a:solidFill>
                  <a:srgbClr val="272727"/>
                </a:solidFill>
                <a:latin typeface="Anton"/>
                <a:ea typeface="Anton"/>
                <a:cs typeface="Anton"/>
                <a:sym typeface="Anton"/>
              </a:rPr>
              <a:t>Principios HACCP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7580" y="721678"/>
            <a:ext cx="19615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SESIÓN: 14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7580" y="3317020"/>
            <a:ext cx="7926146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Medición u observación planificada en un PCC para demostrar que el proceso se mantiene dentro de sus límites críticos. Las 4 Preguntas del Monitoreo: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¿Que?</a:t>
            </a: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Medir parametro. / </a:t>
            </a:r>
            <a:r>
              <a:rPr lang="en-US" b="true" sz="24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¿Cómo?</a:t>
            </a: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Método o instrumento de medición /</a:t>
            </a:r>
            <a:r>
              <a:rPr lang="en-US" b="true" sz="24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 ¿Cuando / frecuencia?</a:t>
            </a: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Monitoreo continuo o por muestreo programado. / </a:t>
            </a:r>
            <a:r>
              <a:rPr lang="en-US" b="true" sz="24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¿Quien?</a:t>
            </a: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Persona designada y capacitada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206253" y="7780255"/>
            <a:ext cx="13875494" cy="1454371"/>
            <a:chOff x="0" y="0"/>
            <a:chExt cx="6011857" cy="6301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11857" cy="630138"/>
            </a:xfrm>
            <a:custGeom>
              <a:avLst/>
              <a:gdLst/>
              <a:ahLst/>
              <a:cxnLst/>
              <a:rect r="r" b="b" t="t" l="l"/>
              <a:pathLst>
                <a:path h="630138" w="6011857">
                  <a:moveTo>
                    <a:pt x="17297" y="0"/>
                  </a:moveTo>
                  <a:lnTo>
                    <a:pt x="5994560" y="0"/>
                  </a:lnTo>
                  <a:cubicBezTo>
                    <a:pt x="5999147" y="0"/>
                    <a:pt x="6003547" y="1822"/>
                    <a:pt x="6006791" y="5066"/>
                  </a:cubicBezTo>
                  <a:cubicBezTo>
                    <a:pt x="6010034" y="8310"/>
                    <a:pt x="6011857" y="12709"/>
                    <a:pt x="6011857" y="17297"/>
                  </a:cubicBezTo>
                  <a:lnTo>
                    <a:pt x="6011857" y="612841"/>
                  </a:lnTo>
                  <a:cubicBezTo>
                    <a:pt x="6011857" y="622394"/>
                    <a:pt x="6004113" y="630138"/>
                    <a:pt x="5994560" y="630138"/>
                  </a:cubicBezTo>
                  <a:lnTo>
                    <a:pt x="17297" y="630138"/>
                  </a:lnTo>
                  <a:cubicBezTo>
                    <a:pt x="12709" y="630138"/>
                    <a:pt x="8310" y="628315"/>
                    <a:pt x="5066" y="625072"/>
                  </a:cubicBezTo>
                  <a:cubicBezTo>
                    <a:pt x="1822" y="621828"/>
                    <a:pt x="0" y="617428"/>
                    <a:pt x="0" y="612841"/>
                  </a:cubicBezTo>
                  <a:lnTo>
                    <a:pt x="0" y="17297"/>
                  </a:lnTo>
                  <a:cubicBezTo>
                    <a:pt x="0" y="12709"/>
                    <a:pt x="1822" y="8310"/>
                    <a:pt x="5066" y="5066"/>
                  </a:cubicBezTo>
                  <a:cubicBezTo>
                    <a:pt x="8310" y="1822"/>
                    <a:pt x="12709" y="0"/>
                    <a:pt x="17297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011857" cy="668238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07236" y="7066059"/>
            <a:ext cx="8473528" cy="547540"/>
            <a:chOff x="0" y="0"/>
            <a:chExt cx="3671339" cy="2372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71339" cy="237233"/>
            </a:xfrm>
            <a:custGeom>
              <a:avLst/>
              <a:gdLst/>
              <a:ahLst/>
              <a:cxnLst/>
              <a:rect r="r" b="b" t="t" l="l"/>
              <a:pathLst>
                <a:path h="237233" w="3671339">
                  <a:moveTo>
                    <a:pt x="28323" y="0"/>
                  </a:moveTo>
                  <a:lnTo>
                    <a:pt x="3643015" y="0"/>
                  </a:lnTo>
                  <a:cubicBezTo>
                    <a:pt x="3650527" y="0"/>
                    <a:pt x="3657731" y="2984"/>
                    <a:pt x="3663043" y="8296"/>
                  </a:cubicBezTo>
                  <a:cubicBezTo>
                    <a:pt x="3668355" y="13607"/>
                    <a:pt x="3671339" y="20812"/>
                    <a:pt x="3671339" y="28323"/>
                  </a:cubicBezTo>
                  <a:lnTo>
                    <a:pt x="3671339" y="208910"/>
                  </a:lnTo>
                  <a:cubicBezTo>
                    <a:pt x="3671339" y="216422"/>
                    <a:pt x="3668355" y="223626"/>
                    <a:pt x="3663043" y="228938"/>
                  </a:cubicBezTo>
                  <a:cubicBezTo>
                    <a:pt x="3657731" y="234249"/>
                    <a:pt x="3650527" y="237233"/>
                    <a:pt x="3643015" y="237233"/>
                  </a:cubicBezTo>
                  <a:lnTo>
                    <a:pt x="28323" y="237233"/>
                  </a:lnTo>
                  <a:cubicBezTo>
                    <a:pt x="20812" y="237233"/>
                    <a:pt x="13607" y="234249"/>
                    <a:pt x="8296" y="228938"/>
                  </a:cubicBezTo>
                  <a:cubicBezTo>
                    <a:pt x="2984" y="223626"/>
                    <a:pt x="0" y="216422"/>
                    <a:pt x="0" y="208910"/>
                  </a:cubicBezTo>
                  <a:lnTo>
                    <a:pt x="0" y="28323"/>
                  </a:lnTo>
                  <a:cubicBezTo>
                    <a:pt x="0" y="20812"/>
                    <a:pt x="2984" y="13607"/>
                    <a:pt x="8296" y="8296"/>
                  </a:cubicBezTo>
                  <a:cubicBezTo>
                    <a:pt x="13607" y="2984"/>
                    <a:pt x="20812" y="0"/>
                    <a:pt x="28323" y="0"/>
                  </a:cubicBezTo>
                  <a:close/>
                </a:path>
              </a:pathLst>
            </a:custGeom>
            <a:solidFill>
              <a:srgbClr val="CBDDD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671339" cy="275333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2727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PRINCIPIO 6: Verificación del Sistema HACCP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259525" y="7834653"/>
            <a:ext cx="13768950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Procedimientos y pruebas (adicionales al monitoreo) para confirmar que el Plan HACCP funciona eficazmente y se cumple en la práctica. Existen 3 niveles de verificación: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Calibración</a:t>
            </a:r>
            <a:r>
              <a:rPr lang="en-US" sz="249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/ </a:t>
            </a:r>
            <a:r>
              <a:rPr lang="en-US" b="true" sz="2499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Revisión de Registros</a:t>
            </a:r>
            <a:r>
              <a:rPr lang="en-US" sz="2499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/ </a:t>
            </a:r>
            <a:r>
              <a:rPr lang="en-US" b="true" sz="2499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Análisis de Laboratorio / Pruebas Específicas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73361" y="3281565"/>
            <a:ext cx="7987478" cy="2946294"/>
            <a:chOff x="0" y="0"/>
            <a:chExt cx="3460747" cy="12765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60747" cy="1276545"/>
            </a:xfrm>
            <a:custGeom>
              <a:avLst/>
              <a:gdLst/>
              <a:ahLst/>
              <a:cxnLst/>
              <a:rect r="r" b="b" t="t" l="l"/>
              <a:pathLst>
                <a:path h="1276545" w="3460747">
                  <a:moveTo>
                    <a:pt x="30047" y="0"/>
                  </a:moveTo>
                  <a:lnTo>
                    <a:pt x="3430700" y="0"/>
                  </a:lnTo>
                  <a:cubicBezTo>
                    <a:pt x="3447294" y="0"/>
                    <a:pt x="3460747" y="13452"/>
                    <a:pt x="3460747" y="30047"/>
                  </a:cubicBezTo>
                  <a:lnTo>
                    <a:pt x="3460747" y="1246498"/>
                  </a:lnTo>
                  <a:cubicBezTo>
                    <a:pt x="3460747" y="1263093"/>
                    <a:pt x="3447294" y="1276545"/>
                    <a:pt x="3430700" y="1276545"/>
                  </a:cubicBezTo>
                  <a:lnTo>
                    <a:pt x="30047" y="1276545"/>
                  </a:lnTo>
                  <a:cubicBezTo>
                    <a:pt x="13452" y="1276545"/>
                    <a:pt x="0" y="1263093"/>
                    <a:pt x="0" y="1246498"/>
                  </a:cubicBezTo>
                  <a:lnTo>
                    <a:pt x="0" y="30047"/>
                  </a:lnTo>
                  <a:cubicBezTo>
                    <a:pt x="0" y="13452"/>
                    <a:pt x="13452" y="0"/>
                    <a:pt x="30047" y="0"/>
                  </a:cubicBezTo>
                  <a:close/>
                </a:path>
              </a:pathLst>
            </a:custGeom>
            <a:solidFill>
              <a:srgbClr val="F6F6E9"/>
            </a:solidFill>
            <a:ln w="38100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460747" cy="1314645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13235" y="2048428"/>
            <a:ext cx="6707731" cy="966640"/>
            <a:chOff x="0" y="0"/>
            <a:chExt cx="2906269" cy="4188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06269" cy="418817"/>
            </a:xfrm>
            <a:custGeom>
              <a:avLst/>
              <a:gdLst/>
              <a:ahLst/>
              <a:cxnLst/>
              <a:rect r="r" b="b" t="t" l="l"/>
              <a:pathLst>
                <a:path h="418817" w="2906269">
                  <a:moveTo>
                    <a:pt x="35780" y="0"/>
                  </a:moveTo>
                  <a:lnTo>
                    <a:pt x="2870489" y="0"/>
                  </a:lnTo>
                  <a:cubicBezTo>
                    <a:pt x="2890250" y="0"/>
                    <a:pt x="2906269" y="16019"/>
                    <a:pt x="2906269" y="35780"/>
                  </a:cubicBezTo>
                  <a:lnTo>
                    <a:pt x="2906269" y="383038"/>
                  </a:lnTo>
                  <a:cubicBezTo>
                    <a:pt x="2906269" y="392527"/>
                    <a:pt x="2902499" y="401628"/>
                    <a:pt x="2895789" y="408338"/>
                  </a:cubicBezTo>
                  <a:cubicBezTo>
                    <a:pt x="2889079" y="415048"/>
                    <a:pt x="2879978" y="418817"/>
                    <a:pt x="2870489" y="418817"/>
                  </a:cubicBezTo>
                  <a:lnTo>
                    <a:pt x="35780" y="418817"/>
                  </a:lnTo>
                  <a:cubicBezTo>
                    <a:pt x="26290" y="418817"/>
                    <a:pt x="17190" y="415048"/>
                    <a:pt x="10480" y="408338"/>
                  </a:cubicBezTo>
                  <a:cubicBezTo>
                    <a:pt x="3770" y="401628"/>
                    <a:pt x="0" y="392527"/>
                    <a:pt x="0" y="383038"/>
                  </a:cubicBezTo>
                  <a:lnTo>
                    <a:pt x="0" y="35780"/>
                  </a:lnTo>
                  <a:cubicBezTo>
                    <a:pt x="0" y="26290"/>
                    <a:pt x="3770" y="17190"/>
                    <a:pt x="10480" y="10480"/>
                  </a:cubicBezTo>
                  <a:cubicBezTo>
                    <a:pt x="17190" y="3770"/>
                    <a:pt x="26290" y="0"/>
                    <a:pt x="35780" y="0"/>
                  </a:cubicBezTo>
                  <a:close/>
                </a:path>
              </a:pathLst>
            </a:custGeom>
            <a:solidFill>
              <a:srgbClr val="CBDDD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906269" cy="456917"/>
            </a:xfrm>
            <a:prstGeom prst="rect">
              <a:avLst/>
            </a:prstGeom>
          </p:spPr>
          <p:txBody>
            <a:bodyPr anchor="ctr" rtlCol="false" tIns="52745" lIns="52745" bIns="52745" rIns="52745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2727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PRINCIPIO 5: Establecimiento de Acciones Correctivas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473361" y="3317020"/>
            <a:ext cx="7926146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Acciones inmediatas que se ejecutan cuando se detecta una desviación respecto a un Límite Crítico en un PCC. Conprende 2 componentes:</a:t>
            </a:r>
          </a:p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Acción sobre el proceso:</a:t>
            </a: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 (corregir la causa de la falla)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272727"/>
                </a:solidFill>
                <a:latin typeface="Prompt Bold"/>
                <a:ea typeface="Prompt Bold"/>
                <a:cs typeface="Prompt Bold"/>
                <a:sym typeface="Prompt Bold"/>
              </a:rPr>
              <a:t>Acción sobre el producto desviado: </a:t>
            </a:r>
            <a:r>
              <a:rPr lang="en-US" sz="2400">
                <a:solidFill>
                  <a:srgbClr val="272727"/>
                </a:solidFill>
                <a:latin typeface="Prompt"/>
                <a:ea typeface="Prompt"/>
                <a:cs typeface="Prompt"/>
                <a:sym typeface="Prompt"/>
              </a:rPr>
              <a:t>(islar, retener, evaluar, reprocesar o rechazar)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DAHWickQqtk</dc:identifier>
  <dcterms:modified xsi:type="dcterms:W3CDTF">2011-08-01T06:04:30Z</dcterms:modified>
  <cp:revision>1</cp:revision>
  <dc:title>BROMATOLOGIA</dc:title>
</cp:coreProperties>
</file>